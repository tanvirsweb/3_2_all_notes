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38" r:id="rId11"/>
    <p:sldId id="265" r:id="rId12"/>
    <p:sldId id="266" r:id="rId13"/>
    <p:sldId id="267" r:id="rId14"/>
    <p:sldId id="268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270" r:id="rId23"/>
    <p:sldId id="271" r:id="rId24"/>
    <p:sldId id="331" r:id="rId25"/>
    <p:sldId id="274" r:id="rId26"/>
    <p:sldId id="275" r:id="rId27"/>
    <p:sldId id="332" r:id="rId28"/>
    <p:sldId id="336" r:id="rId29"/>
    <p:sldId id="337" r:id="rId30"/>
    <p:sldId id="287" r:id="rId31"/>
    <p:sldId id="288" r:id="rId32"/>
    <p:sldId id="289" r:id="rId33"/>
    <p:sldId id="333" r:id="rId34"/>
    <p:sldId id="334" r:id="rId35"/>
    <p:sldId id="290" r:id="rId36"/>
    <p:sldId id="292" r:id="rId37"/>
    <p:sldId id="293" r:id="rId38"/>
    <p:sldId id="335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smia Jannat" initials="TJ" lastIdx="1" clrIdx="0">
    <p:extLst>
      <p:ext uri="{19B8F6BF-5375-455C-9EA6-DF929625EA0E}">
        <p15:presenceInfo xmlns:p15="http://schemas.microsoft.com/office/powerpoint/2012/main" userId="8d7201eaaa12f15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55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267D9-87E2-450C-9E7C-78E31F8AAD4A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C1634-A149-4600-9252-78D7A1733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6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 receiving a frame, the receiver counts the number of 1s in it. In case of even parity check, if the count of 1s is even, the frame is accepted, otherwise, it is rejected. A similar rule is adopted for odd parity check.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C1634-A149-4600-9252-78D7A173301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EBAE-5816-CC0A-CC19-6A6C8A8D2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8F54B-B502-A665-73E6-E70783EB6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D76E2-C3B7-19A9-D7A5-B96DD699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F269-CCCD-E898-72A3-280BE095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256A5-A2F8-BCBA-AE7F-446574873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400302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125C-437D-127E-005D-225E6823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291F-0452-65C1-CD8E-9FED4714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547CC-1A3B-9139-96D4-EBFBF6E2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A839B-3C7A-8AA8-74AB-5792894DC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37063-DDBD-2D81-4C09-DF4B8EAF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35084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52BE-D92F-A9F2-4265-D6349DD5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4FEFB-494A-E29B-D01D-0F3B2A01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78FFE-A613-AD30-17FB-B2CD6C7C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44AB4-CA8A-E308-2BB7-C2753E26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7DDC5-0C42-6413-C238-3133DAC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205926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A119-83BD-E03F-806E-025F16BC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4398D-8B23-FA22-78F3-BF9659B5F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B4CEC-378F-29E7-74D5-B222C8ECB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A1B4F-9C26-E4C9-130A-293D4B0A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B46B4-4496-0270-9019-8D27A3C16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F77CF-EEB9-223D-C8D1-3C16F631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93620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1DC7-A3FB-7F9E-D505-412F5D02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6F348-EC4C-9895-D711-057B6EFE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E6C2F-5522-1885-741E-560F02835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FA205-B05D-231D-EE90-BFA062DE3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DF5B5-2B31-2877-696E-1FD0EF801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0E2D9-FF2B-0AF6-588A-55DE89ED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B27EF-051B-52B6-F12B-58428865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00C33-A5BB-51A8-D760-7FC63FBD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353955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3C7B-5DAE-70F7-991E-797FA7AD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EA81B-B3E4-EE24-BC68-11C2BA73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647C9-7763-92F9-78D5-45889933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29645-5AF6-7905-AA44-3B16BFF7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26248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BFAE55-12E3-77FC-5D8F-BD2DBE4A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C1888-8AAA-A562-C86B-27C4D1F6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26D60-1425-227E-AF35-81099D7A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421072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42E9-CBDB-35B2-2E44-6EED2771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8E02B-F626-2DA2-3125-734522F0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3991D-59E3-F6B6-97EC-79082DC22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D80F5-1DD6-F8A2-8FE5-0A8A198C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88D1A-91B6-01F2-B966-8209F94F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1DB96-DA7E-0EAF-6C60-DDB27592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413121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E03DE-EEA4-097E-777B-2507A8B0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5B577-E745-1891-6A5D-A1F940FA6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81BBB-FA97-974F-2DB3-7F77E4D98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5594-3951-EF68-7E30-ED14EDFA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8D008-87A9-58A4-FD3B-E943455C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E96A1-98EC-B933-E6D3-D796C865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157648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A3EC3-407D-AC4D-F1A6-D20FF438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3A6A7-7187-D8BE-E20C-608B931F1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0477C-203C-574B-3700-B76ACAEE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3DB01-C5CA-B2A4-44B6-56C769CBB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03B23-AE44-09D5-4923-29BEE259F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355650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0C669-1271-309C-5704-0005A92B2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EBDCA-E4B9-4996-CB20-5CC774BA1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0E949-89DF-5792-82F6-E237D878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DF7DF-4CD9-EDF6-158F-466EED93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1DD27-D587-252D-585B-B1AFAAD7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3839070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00669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92072" y="1927646"/>
            <a:ext cx="3788410" cy="4965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9B070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32068" y="1927655"/>
            <a:ext cx="3693795" cy="4516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9B070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99C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‹#›</a:t>
            </a:fld>
            <a:r>
              <a:rPr spc="10" dirty="0"/>
              <a:t>/69</a:t>
            </a:r>
          </a:p>
        </p:txBody>
      </p:sp>
    </p:spTree>
    <p:extLst>
      <p:ext uri="{BB962C8B-B14F-4D97-AF65-F5344CB8AC3E}">
        <p14:creationId xmlns:p14="http://schemas.microsoft.com/office/powerpoint/2010/main" val="219493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D2331-28E2-6F41-F9C9-F9EAC171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A16D8-D577-8D51-107D-611D2B391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6BC34-51FE-28ED-3E7A-87FE4A3E3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F99B2-0FFB-B2C3-4F12-2C6BCA26E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E76B4-2D13-76D6-338A-91502DB0E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5"/>
              <a:t>Chapter</a:t>
            </a:r>
            <a:r>
              <a:rPr lang="en-US" spc="10"/>
              <a:t> </a:t>
            </a:r>
            <a:r>
              <a:rPr lang="en-US" spc="15"/>
              <a:t>3</a:t>
            </a:r>
            <a:r>
              <a:rPr lang="en-US" spc="-15"/>
              <a:t> </a:t>
            </a:r>
            <a:r>
              <a:rPr lang="en-US" spc="15"/>
              <a:t>–</a:t>
            </a:r>
            <a:r>
              <a:rPr lang="en-US" spc="-10"/>
              <a:t> </a:t>
            </a:r>
            <a:r>
              <a:rPr lang="en-US" spc="10"/>
              <a:t>p.</a:t>
            </a:r>
            <a:fld id="{81D60167-4931-47E6-BA6A-407CBD079E47}" type="slidenum">
              <a:rPr spc="10" smtClean="0"/>
              <a:t>‹#›</a:t>
            </a:fld>
            <a:r>
              <a:rPr spc="10"/>
              <a:t>/69</a:t>
            </a:r>
            <a:endParaRPr spc="10" dirty="0"/>
          </a:p>
        </p:txBody>
      </p:sp>
    </p:spTree>
    <p:extLst>
      <p:ext uri="{BB962C8B-B14F-4D97-AF65-F5344CB8AC3E}">
        <p14:creationId xmlns:p14="http://schemas.microsoft.com/office/powerpoint/2010/main" val="181897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media.geeksforgeeks.org/wp-content/uploads/detect13.jp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media.geeksforgeeks.org/wp-content/uploads/detect14.jp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media.geeksforgeeks.org/wp-content/uploads/detect15.jp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7872" y="2239157"/>
            <a:ext cx="685800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Chapter</a:t>
            </a:r>
            <a:r>
              <a:rPr spc="-10" dirty="0"/>
              <a:t> </a:t>
            </a:r>
            <a:r>
              <a:rPr dirty="0"/>
              <a:t>3:</a:t>
            </a:r>
            <a:r>
              <a:rPr spc="250" dirty="0"/>
              <a:t> </a:t>
            </a:r>
            <a:r>
              <a:rPr spc="-5" dirty="0"/>
              <a:t>The Data</a:t>
            </a:r>
            <a:r>
              <a:rPr spc="-10" dirty="0"/>
              <a:t> </a:t>
            </a:r>
            <a:r>
              <a:rPr spc="-5" dirty="0"/>
              <a:t>Link</a:t>
            </a:r>
            <a:r>
              <a:rPr spc="-15" dirty="0"/>
              <a:t> </a:t>
            </a:r>
            <a:r>
              <a:rPr spc="-40" dirty="0"/>
              <a:t>Layer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140464" y="5476646"/>
            <a:ext cx="1143000" cy="727075"/>
            <a:chOff x="5140464" y="5476646"/>
            <a:chExt cx="1143000" cy="727075"/>
          </a:xfrm>
        </p:grpSpPr>
        <p:sp>
          <p:nvSpPr>
            <p:cNvPr id="5" name="object 5"/>
            <p:cNvSpPr/>
            <p:nvPr/>
          </p:nvSpPr>
          <p:spPr>
            <a:xfrm>
              <a:off x="5383390" y="5734748"/>
              <a:ext cx="397510" cy="365760"/>
            </a:xfrm>
            <a:custGeom>
              <a:avLst/>
              <a:gdLst/>
              <a:ahLst/>
              <a:cxnLst/>
              <a:rect l="l" t="t" r="r" b="b"/>
              <a:pathLst>
                <a:path w="397510" h="365760">
                  <a:moveTo>
                    <a:pt x="397129" y="365645"/>
                  </a:moveTo>
                  <a:lnTo>
                    <a:pt x="396367" y="0"/>
                  </a:lnTo>
                  <a:lnTo>
                    <a:pt x="113055" y="50647"/>
                  </a:lnTo>
                  <a:lnTo>
                    <a:pt x="0" y="195148"/>
                  </a:lnTo>
                  <a:lnTo>
                    <a:pt x="2667" y="291871"/>
                  </a:lnTo>
                  <a:lnTo>
                    <a:pt x="243141" y="355409"/>
                  </a:lnTo>
                  <a:lnTo>
                    <a:pt x="397129" y="365645"/>
                  </a:lnTo>
                  <a:close/>
                </a:path>
              </a:pathLst>
            </a:custGeom>
            <a:solidFill>
              <a:srgbClr val="CCC5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23115" y="5829388"/>
              <a:ext cx="328930" cy="322580"/>
            </a:xfrm>
            <a:custGeom>
              <a:avLst/>
              <a:gdLst/>
              <a:ahLst/>
              <a:cxnLst/>
              <a:rect l="l" t="t" r="r" b="b"/>
              <a:pathLst>
                <a:path w="328929" h="322579">
                  <a:moveTo>
                    <a:pt x="90258" y="82308"/>
                  </a:moveTo>
                  <a:lnTo>
                    <a:pt x="88569" y="0"/>
                  </a:lnTo>
                  <a:lnTo>
                    <a:pt x="59182" y="6057"/>
                  </a:lnTo>
                  <a:lnTo>
                    <a:pt x="58597" y="116446"/>
                  </a:lnTo>
                  <a:lnTo>
                    <a:pt x="69786" y="89128"/>
                  </a:lnTo>
                  <a:lnTo>
                    <a:pt x="90258" y="82308"/>
                  </a:lnTo>
                  <a:close/>
                </a:path>
                <a:path w="328929" h="322579">
                  <a:moveTo>
                    <a:pt x="215633" y="322402"/>
                  </a:moveTo>
                  <a:lnTo>
                    <a:pt x="208051" y="234213"/>
                  </a:lnTo>
                  <a:lnTo>
                    <a:pt x="0" y="260769"/>
                  </a:lnTo>
                  <a:lnTo>
                    <a:pt x="215633" y="322402"/>
                  </a:lnTo>
                  <a:close/>
                </a:path>
                <a:path w="328929" h="322579">
                  <a:moveTo>
                    <a:pt x="250723" y="29578"/>
                  </a:moveTo>
                  <a:lnTo>
                    <a:pt x="230225" y="21056"/>
                  </a:lnTo>
                  <a:lnTo>
                    <a:pt x="230225" y="90271"/>
                  </a:lnTo>
                  <a:lnTo>
                    <a:pt x="237998" y="98031"/>
                  </a:lnTo>
                  <a:lnTo>
                    <a:pt x="250723" y="139204"/>
                  </a:lnTo>
                  <a:lnTo>
                    <a:pt x="250723" y="29578"/>
                  </a:lnTo>
                  <a:close/>
                </a:path>
                <a:path w="328929" h="322579">
                  <a:moveTo>
                    <a:pt x="328650" y="62014"/>
                  </a:moveTo>
                  <a:lnTo>
                    <a:pt x="307987" y="53467"/>
                  </a:lnTo>
                  <a:lnTo>
                    <a:pt x="307987" y="120611"/>
                  </a:lnTo>
                  <a:lnTo>
                    <a:pt x="315760" y="128384"/>
                  </a:lnTo>
                  <a:lnTo>
                    <a:pt x="328650" y="169367"/>
                  </a:lnTo>
                  <a:lnTo>
                    <a:pt x="328650" y="62014"/>
                  </a:lnTo>
                  <a:close/>
                </a:path>
              </a:pathLst>
            </a:custGeom>
            <a:solidFill>
              <a:srgbClr val="735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40464" y="5476646"/>
              <a:ext cx="1143000" cy="727075"/>
            </a:xfrm>
            <a:custGeom>
              <a:avLst/>
              <a:gdLst/>
              <a:ahLst/>
              <a:cxnLst/>
              <a:rect l="l" t="t" r="r" b="b"/>
              <a:pathLst>
                <a:path w="1143000" h="727075">
                  <a:moveTo>
                    <a:pt x="1142796" y="593775"/>
                  </a:moveTo>
                  <a:lnTo>
                    <a:pt x="1142556" y="546650"/>
                  </a:lnTo>
                  <a:lnTo>
                    <a:pt x="1138570" y="500443"/>
                  </a:lnTo>
                  <a:lnTo>
                    <a:pt x="1130980" y="455306"/>
                  </a:lnTo>
                  <a:lnTo>
                    <a:pt x="1119931" y="411394"/>
                  </a:lnTo>
                  <a:lnTo>
                    <a:pt x="1105563" y="368858"/>
                  </a:lnTo>
                  <a:lnTo>
                    <a:pt x="1088021" y="327852"/>
                  </a:lnTo>
                  <a:lnTo>
                    <a:pt x="1067447" y="288529"/>
                  </a:lnTo>
                  <a:lnTo>
                    <a:pt x="1043983" y="251041"/>
                  </a:lnTo>
                  <a:lnTo>
                    <a:pt x="1017773" y="215541"/>
                  </a:lnTo>
                  <a:lnTo>
                    <a:pt x="988960" y="182183"/>
                  </a:lnTo>
                  <a:lnTo>
                    <a:pt x="957685" y="151118"/>
                  </a:lnTo>
                  <a:lnTo>
                    <a:pt x="924092" y="122501"/>
                  </a:lnTo>
                  <a:lnTo>
                    <a:pt x="888324" y="96483"/>
                  </a:lnTo>
                  <a:lnTo>
                    <a:pt x="850523" y="73219"/>
                  </a:lnTo>
                  <a:lnTo>
                    <a:pt x="810832" y="52859"/>
                  </a:lnTo>
                  <a:lnTo>
                    <a:pt x="769394" y="35559"/>
                  </a:lnTo>
                  <a:lnTo>
                    <a:pt x="726351" y="21470"/>
                  </a:lnTo>
                  <a:lnTo>
                    <a:pt x="681847" y="10745"/>
                  </a:lnTo>
                  <a:lnTo>
                    <a:pt x="636024" y="3537"/>
                  </a:lnTo>
                  <a:lnTo>
                    <a:pt x="589026" y="0"/>
                  </a:lnTo>
                  <a:lnTo>
                    <a:pt x="540575" y="325"/>
                  </a:lnTo>
                  <a:lnTo>
                    <a:pt x="493065" y="4614"/>
                  </a:lnTo>
                  <a:lnTo>
                    <a:pt x="446665" y="12711"/>
                  </a:lnTo>
                  <a:lnTo>
                    <a:pt x="401546" y="24458"/>
                  </a:lnTo>
                  <a:lnTo>
                    <a:pt x="357879" y="39699"/>
                  </a:lnTo>
                  <a:lnTo>
                    <a:pt x="315834" y="58279"/>
                  </a:lnTo>
                  <a:lnTo>
                    <a:pt x="275583" y="80041"/>
                  </a:lnTo>
                  <a:lnTo>
                    <a:pt x="237296" y="104829"/>
                  </a:lnTo>
                  <a:lnTo>
                    <a:pt x="201144" y="132486"/>
                  </a:lnTo>
                  <a:lnTo>
                    <a:pt x="167297" y="162856"/>
                  </a:lnTo>
                  <a:lnTo>
                    <a:pt x="135926" y="195783"/>
                  </a:lnTo>
                  <a:lnTo>
                    <a:pt x="107202" y="231110"/>
                  </a:lnTo>
                  <a:lnTo>
                    <a:pt x="81295" y="268682"/>
                  </a:lnTo>
                  <a:lnTo>
                    <a:pt x="58377" y="308342"/>
                  </a:lnTo>
                  <a:lnTo>
                    <a:pt x="38617" y="349933"/>
                  </a:lnTo>
                  <a:lnTo>
                    <a:pt x="22187" y="393299"/>
                  </a:lnTo>
                  <a:lnTo>
                    <a:pt x="9258" y="438285"/>
                  </a:lnTo>
                  <a:lnTo>
                    <a:pt x="0" y="484733"/>
                  </a:lnTo>
                  <a:lnTo>
                    <a:pt x="242925" y="453250"/>
                  </a:lnTo>
                  <a:lnTo>
                    <a:pt x="344779" y="479806"/>
                  </a:lnTo>
                  <a:lnTo>
                    <a:pt x="355981" y="308749"/>
                  </a:lnTo>
                  <a:lnTo>
                    <a:pt x="639292" y="258102"/>
                  </a:lnTo>
                  <a:lnTo>
                    <a:pt x="861936" y="354825"/>
                  </a:lnTo>
                  <a:lnTo>
                    <a:pt x="883196" y="644220"/>
                  </a:lnTo>
                  <a:lnTo>
                    <a:pt x="1122514" y="726922"/>
                  </a:lnTo>
                  <a:lnTo>
                    <a:pt x="1130429" y="694679"/>
                  </a:lnTo>
                  <a:lnTo>
                    <a:pt x="1136499" y="661706"/>
                  </a:lnTo>
                  <a:lnTo>
                    <a:pt x="1140647" y="628054"/>
                  </a:lnTo>
                  <a:lnTo>
                    <a:pt x="1142796" y="593775"/>
                  </a:lnTo>
                  <a:close/>
                </a:path>
              </a:pathLst>
            </a:custGeom>
            <a:solidFill>
              <a:srgbClr val="00D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41404" y="5840945"/>
              <a:ext cx="507365" cy="188595"/>
            </a:xfrm>
            <a:custGeom>
              <a:avLst/>
              <a:gdLst/>
              <a:ahLst/>
              <a:cxnLst/>
              <a:rect l="l" t="t" r="r" b="b"/>
              <a:pathLst>
                <a:path w="507364" h="188595">
                  <a:moveTo>
                    <a:pt x="245414" y="188328"/>
                  </a:moveTo>
                  <a:lnTo>
                    <a:pt x="241985" y="88950"/>
                  </a:lnTo>
                  <a:lnTo>
                    <a:pt x="0" y="120256"/>
                  </a:lnTo>
                  <a:lnTo>
                    <a:pt x="0" y="120434"/>
                  </a:lnTo>
                  <a:lnTo>
                    <a:pt x="245414" y="188328"/>
                  </a:lnTo>
                  <a:close/>
                </a:path>
                <a:path w="507364" h="188595">
                  <a:moveTo>
                    <a:pt x="447382" y="83083"/>
                  </a:moveTo>
                  <a:lnTo>
                    <a:pt x="445668" y="8547"/>
                  </a:lnTo>
                  <a:lnTo>
                    <a:pt x="415328" y="14046"/>
                  </a:lnTo>
                  <a:lnTo>
                    <a:pt x="415709" y="118935"/>
                  </a:lnTo>
                  <a:lnTo>
                    <a:pt x="425945" y="89903"/>
                  </a:lnTo>
                  <a:lnTo>
                    <a:pt x="447382" y="83083"/>
                  </a:lnTo>
                  <a:close/>
                </a:path>
                <a:path w="507364" h="188595">
                  <a:moveTo>
                    <a:pt x="507123" y="78346"/>
                  </a:moveTo>
                  <a:lnTo>
                    <a:pt x="504863" y="0"/>
                  </a:lnTo>
                  <a:lnTo>
                    <a:pt x="475653" y="5143"/>
                  </a:lnTo>
                  <a:lnTo>
                    <a:pt x="475246" y="112661"/>
                  </a:lnTo>
                  <a:lnTo>
                    <a:pt x="487197" y="84391"/>
                  </a:lnTo>
                  <a:lnTo>
                    <a:pt x="507123" y="78346"/>
                  </a:lnTo>
                  <a:close/>
                </a:path>
              </a:pathLst>
            </a:custGeom>
            <a:solidFill>
              <a:srgbClr val="735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5244" y="5785396"/>
              <a:ext cx="11430" cy="171450"/>
            </a:xfrm>
            <a:custGeom>
              <a:avLst/>
              <a:gdLst/>
              <a:ahLst/>
              <a:cxnLst/>
              <a:rect l="l" t="t" r="r" b="b"/>
              <a:pathLst>
                <a:path w="11429" h="171450">
                  <a:moveTo>
                    <a:pt x="11201" y="0"/>
                  </a:moveTo>
                  <a:lnTo>
                    <a:pt x="0" y="171056"/>
                  </a:lnTo>
                  <a:lnTo>
                    <a:pt x="11201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2800" y="5866942"/>
              <a:ext cx="20955" cy="116839"/>
            </a:xfrm>
            <a:custGeom>
              <a:avLst/>
              <a:gdLst/>
              <a:ahLst/>
              <a:cxnLst/>
              <a:rect l="l" t="t" r="r" b="b"/>
              <a:pathLst>
                <a:path w="20954" h="116839">
                  <a:moveTo>
                    <a:pt x="20472" y="116243"/>
                  </a:moveTo>
                  <a:lnTo>
                    <a:pt x="20472" y="8534"/>
                  </a:lnTo>
                  <a:lnTo>
                    <a:pt x="0" y="0"/>
                  </a:lnTo>
                  <a:lnTo>
                    <a:pt x="0" y="67513"/>
                  </a:lnTo>
                  <a:lnTo>
                    <a:pt x="7594" y="75285"/>
                  </a:lnTo>
                  <a:lnTo>
                    <a:pt x="20472" y="116243"/>
                  </a:lnTo>
                  <a:close/>
                </a:path>
              </a:pathLst>
            </a:custGeom>
            <a:solidFill>
              <a:srgbClr val="7351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Link Layer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>
          <a:xfrm>
            <a:off x="691515" y="2069042"/>
            <a:ext cx="8985885" cy="4484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Reliable bitstream between adjacent computers</a:t>
            </a:r>
          </a:p>
          <a:p>
            <a:pPr lvl="1"/>
            <a:r>
              <a:rPr lang="en-US" sz="3200" dirty="0">
                <a:highlight>
                  <a:srgbClr val="FFFF00"/>
                </a:highlight>
              </a:rPr>
              <a:t>Design Issues</a:t>
            </a:r>
          </a:p>
          <a:p>
            <a:pPr lvl="1"/>
            <a:r>
              <a:rPr lang="en-US" sz="3200" dirty="0"/>
              <a:t>Error Detection and Correction  </a:t>
            </a:r>
          </a:p>
          <a:p>
            <a:pPr lvl="1"/>
            <a:r>
              <a:rPr lang="en-US" sz="3200" dirty="0"/>
              <a:t>Elementary Protocols</a:t>
            </a:r>
          </a:p>
          <a:p>
            <a:pPr lvl="1"/>
            <a:r>
              <a:rPr lang="en-US" sz="3200" dirty="0"/>
              <a:t>Sliding Window Protocols  Protocol Verification</a:t>
            </a:r>
          </a:p>
          <a:p>
            <a:pPr lvl="1"/>
            <a:r>
              <a:rPr lang="en-US" sz="3200" dirty="0"/>
              <a:t>Example Data Link Protocols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Chapter 3 – p.</a:t>
            </a:r>
            <a:fld id="{81D60167-4931-47E6-BA6A-407CBD079E47}" type="slidenum">
              <a:rPr dirty="0"/>
              <a:pPr/>
              <a:t>2</a:t>
            </a:fld>
            <a:r>
              <a:rPr dirty="0"/>
              <a:t>/69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309308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Design</a:t>
            </a:r>
            <a:r>
              <a:rPr spc="-65" dirty="0"/>
              <a:t> </a:t>
            </a:r>
            <a:r>
              <a:rPr spc="-10" dirty="0"/>
              <a:t>Issues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930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6049" y="264476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6049" y="319645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16049" y="419771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55901" y="472045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5901" y="524470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55901" y="576743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55901" y="629169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70023" y="1772865"/>
            <a:ext cx="7217409" cy="4764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44955">
              <a:lnSpc>
                <a:spcPct val="136600"/>
              </a:lnSpc>
              <a:spcBef>
                <a:spcPts val="9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Provides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an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interface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network 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layer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Deals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with transmission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errors</a:t>
            </a:r>
            <a:endParaRPr sz="2650">
              <a:latin typeface="Arial MT"/>
              <a:cs typeface="Arial MT"/>
            </a:endParaRPr>
          </a:p>
          <a:p>
            <a:pPr marL="12700" marR="5080" indent="-635">
              <a:lnSpc>
                <a:spcPts val="3170"/>
              </a:lnSpc>
              <a:spcBef>
                <a:spcPts val="127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Regulates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flow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of data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so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slow receivers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are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not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swamped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650" spc="-50" dirty="0">
                <a:solidFill>
                  <a:srgbClr val="9B0707"/>
                </a:solidFill>
                <a:latin typeface="Arial MT"/>
                <a:cs typeface="Arial MT"/>
              </a:rPr>
              <a:t>Topics</a:t>
            </a:r>
            <a:endParaRPr sz="265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1385"/>
              </a:spcBef>
            </a:pP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Services</a:t>
            </a:r>
            <a:endParaRPr sz="2200">
              <a:latin typeface="Arial MT"/>
              <a:cs typeface="Arial MT"/>
            </a:endParaRPr>
          </a:p>
          <a:p>
            <a:pPr marL="352425" marR="5298440">
              <a:lnSpc>
                <a:spcPct val="156100"/>
              </a:lnSpc>
              <a:spcBef>
                <a:spcPts val="10"/>
              </a:spcBef>
            </a:pP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Framing 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Error</a:t>
            </a:r>
            <a:r>
              <a:rPr sz="2200" spc="-6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control </a:t>
            </a:r>
            <a:r>
              <a:rPr sz="2200" spc="-59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Flow</a:t>
            </a:r>
            <a:r>
              <a:rPr sz="2200" spc="-4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control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7392034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Terminology:</a:t>
            </a:r>
            <a:r>
              <a:rPr spc="195" dirty="0"/>
              <a:t> </a:t>
            </a:r>
            <a:r>
              <a:rPr spc="-45" dirty="0"/>
              <a:t>Packets </a:t>
            </a:r>
            <a:r>
              <a:rPr dirty="0"/>
              <a:t>and</a:t>
            </a:r>
            <a:r>
              <a:rPr spc="-35" dirty="0"/>
              <a:t> </a:t>
            </a:r>
            <a:r>
              <a:rPr spc="-40" dirty="0"/>
              <a:t>Frames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</a:t>
            </a:fld>
            <a:r>
              <a:rPr spc="10" dirty="0"/>
              <a:t>/69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77829" y="4072089"/>
            <a:ext cx="62230" cy="514984"/>
            <a:chOff x="4377829" y="4072089"/>
            <a:chExt cx="62230" cy="514984"/>
          </a:xfrm>
        </p:grpSpPr>
        <p:sp>
          <p:nvSpPr>
            <p:cNvPr id="4" name="object 4"/>
            <p:cNvSpPr/>
            <p:nvPr/>
          </p:nvSpPr>
          <p:spPr>
            <a:xfrm>
              <a:off x="4406963" y="4072089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960"/>
                  </a:moveTo>
                  <a:lnTo>
                    <a:pt x="0" y="0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77829" y="4471212"/>
              <a:ext cx="62230" cy="115570"/>
            </a:xfrm>
            <a:custGeom>
              <a:avLst/>
              <a:gdLst/>
              <a:ahLst/>
              <a:cxnLst/>
              <a:rect l="l" t="t" r="r" b="b"/>
              <a:pathLst>
                <a:path w="62229" h="115570">
                  <a:moveTo>
                    <a:pt x="61823" y="0"/>
                  </a:moveTo>
                  <a:lnTo>
                    <a:pt x="0" y="0"/>
                  </a:lnTo>
                  <a:lnTo>
                    <a:pt x="30797" y="115354"/>
                  </a:lnTo>
                  <a:lnTo>
                    <a:pt x="61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08627" y="4478185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29">
                  <a:moveTo>
                    <a:pt x="0" y="0"/>
                  </a:moveTo>
                  <a:lnTo>
                    <a:pt x="0" y="61798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01080" y="4372599"/>
            <a:ext cx="225425" cy="222250"/>
            <a:chOff x="5801080" y="4372599"/>
            <a:chExt cx="225425" cy="222250"/>
          </a:xfrm>
        </p:grpSpPr>
        <p:sp>
          <p:nvSpPr>
            <p:cNvPr id="8" name="object 8"/>
            <p:cNvSpPr/>
            <p:nvPr/>
          </p:nvSpPr>
          <p:spPr>
            <a:xfrm>
              <a:off x="5827509" y="4377867"/>
              <a:ext cx="193675" cy="191135"/>
            </a:xfrm>
            <a:custGeom>
              <a:avLst/>
              <a:gdLst/>
              <a:ahLst/>
              <a:cxnLst/>
              <a:rect l="l" t="t" r="r" b="b"/>
              <a:pathLst>
                <a:path w="193675" h="191135">
                  <a:moveTo>
                    <a:pt x="0" y="191084"/>
                  </a:moveTo>
                  <a:lnTo>
                    <a:pt x="193459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01080" y="4504689"/>
              <a:ext cx="90805" cy="90170"/>
            </a:xfrm>
            <a:custGeom>
              <a:avLst/>
              <a:gdLst/>
              <a:ahLst/>
              <a:cxnLst/>
              <a:rect l="l" t="t" r="r" b="b"/>
              <a:pathLst>
                <a:path w="90804" h="90170">
                  <a:moveTo>
                    <a:pt x="90728" y="38417"/>
                  </a:moveTo>
                  <a:lnTo>
                    <a:pt x="52781" y="0"/>
                  </a:lnTo>
                  <a:lnTo>
                    <a:pt x="0" y="89979"/>
                  </a:lnTo>
                  <a:lnTo>
                    <a:pt x="90728" y="38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27814" y="4528413"/>
              <a:ext cx="40640" cy="40005"/>
            </a:xfrm>
            <a:custGeom>
              <a:avLst/>
              <a:gdLst/>
              <a:ahLst/>
              <a:cxnLst/>
              <a:rect l="l" t="t" r="r" b="b"/>
              <a:pathLst>
                <a:path w="40639" h="40004">
                  <a:moveTo>
                    <a:pt x="40436" y="0"/>
                  </a:moveTo>
                  <a:lnTo>
                    <a:pt x="0" y="39941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993887" y="4607207"/>
          <a:ext cx="2813049" cy="505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72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5" dirty="0">
                          <a:latin typeface="Arial MT"/>
                          <a:cs typeface="Arial MT"/>
                        </a:rPr>
                        <a:t>Header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0" dirty="0">
                          <a:latin typeface="Arial MT"/>
                          <a:cs typeface="Arial MT"/>
                        </a:rPr>
                        <a:t>Payload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10" dirty="0">
                          <a:latin typeface="Arial MT"/>
                          <a:cs typeface="Arial MT"/>
                        </a:rPr>
                        <a:t>field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0" dirty="0">
                          <a:latin typeface="Arial MT"/>
                          <a:cs typeface="Arial MT"/>
                        </a:rPr>
                        <a:t>Trailer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005144" y="4169567"/>
            <a:ext cx="51244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Frame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1944" y="3275764"/>
            <a:ext cx="132842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Sending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machine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36560" y="4076471"/>
            <a:ext cx="62230" cy="514984"/>
            <a:chOff x="8236560" y="4076471"/>
            <a:chExt cx="62230" cy="514984"/>
          </a:xfrm>
        </p:grpSpPr>
        <p:sp>
          <p:nvSpPr>
            <p:cNvPr id="15" name="object 15"/>
            <p:cNvSpPr/>
            <p:nvPr/>
          </p:nvSpPr>
          <p:spPr>
            <a:xfrm>
              <a:off x="8269224" y="4121988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0"/>
                  </a:moveTo>
                  <a:lnTo>
                    <a:pt x="0" y="468972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36560" y="4076471"/>
              <a:ext cx="62230" cy="115570"/>
            </a:xfrm>
            <a:custGeom>
              <a:avLst/>
              <a:gdLst/>
              <a:ahLst/>
              <a:cxnLst/>
              <a:rect l="l" t="t" r="r" b="b"/>
              <a:pathLst>
                <a:path w="62229" h="115570">
                  <a:moveTo>
                    <a:pt x="61810" y="115354"/>
                  </a:moveTo>
                  <a:lnTo>
                    <a:pt x="31000" y="0"/>
                  </a:lnTo>
                  <a:lnTo>
                    <a:pt x="0" y="115354"/>
                  </a:lnTo>
                  <a:lnTo>
                    <a:pt x="61810" y="1153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67560" y="4123067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29">
                  <a:moveTo>
                    <a:pt x="0" y="61772"/>
                  </a:moveTo>
                  <a:lnTo>
                    <a:pt x="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399061" y="5124345"/>
            <a:ext cx="3902710" cy="395605"/>
            <a:chOff x="4399061" y="5124345"/>
            <a:chExt cx="3902710" cy="395605"/>
          </a:xfrm>
        </p:grpSpPr>
        <p:sp>
          <p:nvSpPr>
            <p:cNvPr id="19" name="object 19"/>
            <p:cNvSpPr/>
            <p:nvPr/>
          </p:nvSpPr>
          <p:spPr>
            <a:xfrm>
              <a:off x="8239595" y="5129186"/>
              <a:ext cx="62230" cy="115570"/>
            </a:xfrm>
            <a:custGeom>
              <a:avLst/>
              <a:gdLst/>
              <a:ahLst/>
              <a:cxnLst/>
              <a:rect l="l" t="t" r="r" b="b"/>
              <a:pathLst>
                <a:path w="62229" h="115570">
                  <a:moveTo>
                    <a:pt x="61810" y="115366"/>
                  </a:moveTo>
                  <a:lnTo>
                    <a:pt x="31000" y="0"/>
                  </a:lnTo>
                  <a:lnTo>
                    <a:pt x="0" y="115366"/>
                  </a:lnTo>
                  <a:lnTo>
                    <a:pt x="61810" y="115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70595" y="5175783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29">
                  <a:moveTo>
                    <a:pt x="0" y="61798"/>
                  </a:moveTo>
                  <a:lnTo>
                    <a:pt x="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06963" y="5132247"/>
              <a:ext cx="3862704" cy="379730"/>
            </a:xfrm>
            <a:custGeom>
              <a:avLst/>
              <a:gdLst/>
              <a:ahLst/>
              <a:cxnLst/>
              <a:rect l="l" t="t" r="r" b="b"/>
              <a:pathLst>
                <a:path w="3862704" h="379729">
                  <a:moveTo>
                    <a:pt x="3862260" y="106235"/>
                  </a:moveTo>
                  <a:lnTo>
                    <a:pt x="3862260" y="149656"/>
                  </a:lnTo>
                  <a:lnTo>
                    <a:pt x="3862260" y="179143"/>
                  </a:lnTo>
                  <a:lnTo>
                    <a:pt x="3862260" y="208205"/>
                  </a:lnTo>
                  <a:lnTo>
                    <a:pt x="3862260" y="250355"/>
                  </a:lnTo>
                  <a:lnTo>
                    <a:pt x="3854700" y="284530"/>
                  </a:lnTo>
                  <a:lnTo>
                    <a:pt x="3800363" y="341420"/>
                  </a:lnTo>
                  <a:lnTo>
                    <a:pt x="3757684" y="361627"/>
                  </a:lnTo>
                  <a:lnTo>
                    <a:pt x="3707394" y="374671"/>
                  </a:lnTo>
                  <a:lnTo>
                    <a:pt x="3651542" y="379298"/>
                  </a:lnTo>
                  <a:lnTo>
                    <a:pt x="210718" y="379298"/>
                  </a:lnTo>
                  <a:lnTo>
                    <a:pt x="154870" y="374671"/>
                  </a:lnTo>
                  <a:lnTo>
                    <a:pt x="104582" y="361627"/>
                  </a:lnTo>
                  <a:lnTo>
                    <a:pt x="61901" y="341420"/>
                  </a:lnTo>
                  <a:lnTo>
                    <a:pt x="28877" y="315303"/>
                  </a:lnTo>
                  <a:lnTo>
                    <a:pt x="0" y="250355"/>
                  </a:lnTo>
                  <a:lnTo>
                    <a:pt x="0" y="181313"/>
                  </a:lnTo>
                  <a:lnTo>
                    <a:pt x="0" y="98578"/>
                  </a:lnTo>
                  <a:lnTo>
                    <a:pt x="0" y="29143"/>
                  </a:lnTo>
                  <a:lnTo>
                    <a:pt x="0" y="0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25943" y="3544849"/>
            <a:ext cx="1310640" cy="50609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1105"/>
              </a:spcBef>
            </a:pPr>
            <a:r>
              <a:rPr sz="1300" spc="10" dirty="0">
                <a:latin typeface="Arial MT"/>
                <a:cs typeface="Arial MT"/>
              </a:rPr>
              <a:t>Packet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0055" y="3544849"/>
            <a:ext cx="1310640" cy="50609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1105"/>
              </a:spcBef>
            </a:pPr>
            <a:r>
              <a:rPr sz="1300" spc="10" dirty="0">
                <a:latin typeface="Arial MT"/>
                <a:cs typeface="Arial MT"/>
              </a:rPr>
              <a:t>Packet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57067" y="3275775"/>
            <a:ext cx="144970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Receiving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machine</a:t>
            </a:r>
            <a:endParaRPr sz="1300">
              <a:latin typeface="Arial MT"/>
              <a:cs typeface="Arial MT"/>
            </a:endParaRP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869508" y="4607207"/>
          <a:ext cx="2811144" cy="505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72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5" dirty="0">
                          <a:latin typeface="Arial MT"/>
                          <a:cs typeface="Arial MT"/>
                        </a:rPr>
                        <a:t>Header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0" dirty="0">
                          <a:latin typeface="Arial MT"/>
                          <a:cs typeface="Arial MT"/>
                        </a:rPr>
                        <a:t>Payload</a:t>
                      </a:r>
                      <a:r>
                        <a:rPr sz="13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10" dirty="0">
                          <a:latin typeface="Arial MT"/>
                          <a:cs typeface="Arial MT"/>
                        </a:rPr>
                        <a:t>field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300" spc="10" dirty="0">
                          <a:latin typeface="Arial MT"/>
                          <a:cs typeface="Arial MT"/>
                        </a:rPr>
                        <a:t>Trailer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1716252" y="3572250"/>
            <a:ext cx="95313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latin typeface="Arial MT"/>
                <a:cs typeface="Arial MT"/>
              </a:rPr>
              <a:t>Network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16252" y="4655006"/>
            <a:ext cx="1094105" cy="328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Link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530034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Layered</a:t>
            </a:r>
            <a:r>
              <a:rPr spc="-95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5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2120099" y="2265718"/>
            <a:ext cx="3049270" cy="3821429"/>
          </a:xfrm>
          <a:custGeom>
            <a:avLst/>
            <a:gdLst/>
            <a:ahLst/>
            <a:cxnLst/>
            <a:rect l="l" t="t" r="r" b="b"/>
            <a:pathLst>
              <a:path w="3049270" h="3821429">
                <a:moveTo>
                  <a:pt x="444" y="0"/>
                </a:moveTo>
                <a:lnTo>
                  <a:pt x="444" y="3821023"/>
                </a:lnTo>
                <a:lnTo>
                  <a:pt x="983795" y="3821023"/>
                </a:lnTo>
                <a:lnTo>
                  <a:pt x="983795" y="0"/>
                </a:lnTo>
                <a:lnTo>
                  <a:pt x="444" y="0"/>
                </a:lnTo>
                <a:close/>
              </a:path>
              <a:path w="3049270" h="3821429">
                <a:moveTo>
                  <a:pt x="0" y="1467993"/>
                </a:moveTo>
                <a:lnTo>
                  <a:pt x="979843" y="1467993"/>
                </a:lnTo>
              </a:path>
              <a:path w="3049270" h="3821429">
                <a:moveTo>
                  <a:pt x="0" y="2055368"/>
                </a:moveTo>
                <a:lnTo>
                  <a:pt x="979843" y="2055368"/>
                </a:lnTo>
              </a:path>
              <a:path w="3049270" h="3821429">
                <a:moveTo>
                  <a:pt x="0" y="2642755"/>
                </a:moveTo>
                <a:lnTo>
                  <a:pt x="979843" y="2642755"/>
                </a:lnTo>
              </a:path>
              <a:path w="3049270" h="3821429">
                <a:moveTo>
                  <a:pt x="0" y="3230130"/>
                </a:moveTo>
                <a:lnTo>
                  <a:pt x="979843" y="3230130"/>
                </a:lnTo>
              </a:path>
              <a:path w="3049270" h="3821429">
                <a:moveTo>
                  <a:pt x="2065921" y="1467993"/>
                </a:moveTo>
                <a:lnTo>
                  <a:pt x="3045764" y="1467993"/>
                </a:lnTo>
              </a:path>
              <a:path w="3049270" h="3821429">
                <a:moveTo>
                  <a:pt x="2065921" y="2055368"/>
                </a:moveTo>
                <a:lnTo>
                  <a:pt x="3045764" y="2055368"/>
                </a:lnTo>
              </a:path>
              <a:path w="3049270" h="3821429">
                <a:moveTo>
                  <a:pt x="2065921" y="2642755"/>
                </a:moveTo>
                <a:lnTo>
                  <a:pt x="3045764" y="2642755"/>
                </a:lnTo>
              </a:path>
              <a:path w="3049270" h="3821429">
                <a:moveTo>
                  <a:pt x="2065921" y="3230130"/>
                </a:moveTo>
                <a:lnTo>
                  <a:pt x="3045764" y="3230130"/>
                </a:lnTo>
              </a:path>
              <a:path w="3049270" h="3821429">
                <a:moveTo>
                  <a:pt x="2065731" y="0"/>
                </a:moveTo>
                <a:lnTo>
                  <a:pt x="2065731" y="3821023"/>
                </a:lnTo>
                <a:lnTo>
                  <a:pt x="3049090" y="3821023"/>
                </a:lnTo>
                <a:lnTo>
                  <a:pt x="3049090" y="0"/>
                </a:lnTo>
                <a:lnTo>
                  <a:pt x="2065731" y="0"/>
                </a:lnTo>
                <a:close/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51232" y="2265718"/>
            <a:ext cx="3049270" cy="3821429"/>
          </a:xfrm>
          <a:custGeom>
            <a:avLst/>
            <a:gdLst/>
            <a:ahLst/>
            <a:cxnLst/>
            <a:rect l="l" t="t" r="r" b="b"/>
            <a:pathLst>
              <a:path w="3049270" h="3821429">
                <a:moveTo>
                  <a:pt x="711" y="1467993"/>
                </a:moveTo>
                <a:lnTo>
                  <a:pt x="980554" y="1467993"/>
                </a:lnTo>
              </a:path>
              <a:path w="3049270" h="3821429">
                <a:moveTo>
                  <a:pt x="711" y="2055368"/>
                </a:moveTo>
                <a:lnTo>
                  <a:pt x="980554" y="2055368"/>
                </a:lnTo>
              </a:path>
              <a:path w="3049270" h="3821429">
                <a:moveTo>
                  <a:pt x="711" y="2642755"/>
                </a:moveTo>
                <a:lnTo>
                  <a:pt x="980554" y="2642755"/>
                </a:lnTo>
              </a:path>
              <a:path w="3049270" h="3821429">
                <a:moveTo>
                  <a:pt x="711" y="3230130"/>
                </a:moveTo>
                <a:lnTo>
                  <a:pt x="980554" y="3230130"/>
                </a:lnTo>
              </a:path>
              <a:path w="3049270" h="3821429">
                <a:moveTo>
                  <a:pt x="0" y="0"/>
                </a:moveTo>
                <a:lnTo>
                  <a:pt x="0" y="3821023"/>
                </a:lnTo>
                <a:lnTo>
                  <a:pt x="983359" y="3821023"/>
                </a:lnTo>
                <a:lnTo>
                  <a:pt x="983359" y="0"/>
                </a:lnTo>
                <a:lnTo>
                  <a:pt x="0" y="0"/>
                </a:lnTo>
                <a:close/>
              </a:path>
              <a:path w="3049270" h="3821429">
                <a:moveTo>
                  <a:pt x="2065312" y="0"/>
                </a:moveTo>
                <a:lnTo>
                  <a:pt x="2065312" y="3821023"/>
                </a:lnTo>
                <a:lnTo>
                  <a:pt x="3048650" y="3821023"/>
                </a:lnTo>
                <a:lnTo>
                  <a:pt x="3048650" y="0"/>
                </a:lnTo>
                <a:lnTo>
                  <a:pt x="2065312" y="0"/>
                </a:lnTo>
                <a:close/>
              </a:path>
              <a:path w="3049270" h="3821429">
                <a:moveTo>
                  <a:pt x="2064867" y="1467993"/>
                </a:moveTo>
                <a:lnTo>
                  <a:pt x="3044710" y="1467993"/>
                </a:lnTo>
              </a:path>
              <a:path w="3049270" h="3821429">
                <a:moveTo>
                  <a:pt x="2064867" y="2055368"/>
                </a:moveTo>
                <a:lnTo>
                  <a:pt x="3044710" y="2055368"/>
                </a:lnTo>
              </a:path>
              <a:path w="3049270" h="3821429">
                <a:moveTo>
                  <a:pt x="2064867" y="2642755"/>
                </a:moveTo>
                <a:lnTo>
                  <a:pt x="3044710" y="2642755"/>
                </a:lnTo>
              </a:path>
              <a:path w="3049270" h="3821429">
                <a:moveTo>
                  <a:pt x="2064867" y="3230130"/>
                </a:moveTo>
                <a:lnTo>
                  <a:pt x="3044710" y="3230130"/>
                </a:lnTo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45855" y="390364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5855" y="448663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855" y="506961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5855" y="563855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4151" y="3903638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4151" y="448662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4151" y="506961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54151" y="563855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5302" y="390363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55302" y="4486624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55302" y="5069613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55302" y="563855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91675" y="390364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91675" y="448663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91675" y="506961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91675" y="563855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55922" y="2003649"/>
            <a:ext cx="5130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Host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1499" y="2003649"/>
            <a:ext cx="5130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Host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6003" y="2003649"/>
            <a:ext cx="5130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Host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1579" y="2003649"/>
            <a:ext cx="5130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Host</a:t>
            </a:r>
            <a:r>
              <a:rPr sz="1300" spc="-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49004" y="4566056"/>
            <a:ext cx="2174240" cy="790575"/>
            <a:chOff x="2549004" y="4566056"/>
            <a:chExt cx="2174240" cy="790575"/>
          </a:xfrm>
        </p:grpSpPr>
        <p:sp>
          <p:nvSpPr>
            <p:cNvPr id="26" name="object 26"/>
            <p:cNvSpPr/>
            <p:nvPr/>
          </p:nvSpPr>
          <p:spPr>
            <a:xfrm>
              <a:off x="4182059" y="4608207"/>
              <a:ext cx="497840" cy="737870"/>
            </a:xfrm>
            <a:custGeom>
              <a:avLst/>
              <a:gdLst/>
              <a:ahLst/>
              <a:cxnLst/>
              <a:rect l="l" t="t" r="r" b="b"/>
              <a:pathLst>
                <a:path w="497839" h="737870">
                  <a:moveTo>
                    <a:pt x="497827" y="0"/>
                  </a:moveTo>
                  <a:lnTo>
                    <a:pt x="497827" y="484644"/>
                  </a:lnTo>
                  <a:lnTo>
                    <a:pt x="496429" y="630835"/>
                  </a:lnTo>
                  <a:lnTo>
                    <a:pt x="466878" y="705905"/>
                  </a:lnTo>
                  <a:lnTo>
                    <a:pt x="383000" y="733563"/>
                  </a:lnTo>
                  <a:lnTo>
                    <a:pt x="218617" y="737514"/>
                  </a:lnTo>
                  <a:lnTo>
                    <a:pt x="0" y="737514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02140" y="5345722"/>
              <a:ext cx="1080135" cy="0"/>
            </a:xfrm>
            <a:custGeom>
              <a:avLst/>
              <a:gdLst/>
              <a:ahLst/>
              <a:cxnLst/>
              <a:rect l="l" t="t" r="r" b="b"/>
              <a:pathLst>
                <a:path w="1080135">
                  <a:moveTo>
                    <a:pt x="1079919" y="0"/>
                  </a:moveTo>
                  <a:lnTo>
                    <a:pt x="0" y="0"/>
                  </a:lnTo>
                </a:path>
              </a:pathLst>
            </a:custGeom>
            <a:ln w="21071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91142" y="4608207"/>
              <a:ext cx="511175" cy="737870"/>
            </a:xfrm>
            <a:custGeom>
              <a:avLst/>
              <a:gdLst/>
              <a:ahLst/>
              <a:cxnLst/>
              <a:rect l="l" t="t" r="r" b="b"/>
              <a:pathLst>
                <a:path w="511175" h="737870">
                  <a:moveTo>
                    <a:pt x="510997" y="737514"/>
                  </a:moveTo>
                  <a:lnTo>
                    <a:pt x="279209" y="737514"/>
                  </a:lnTo>
                  <a:lnTo>
                    <a:pt x="115568" y="698003"/>
                  </a:lnTo>
                  <a:lnTo>
                    <a:pt x="32924" y="611079"/>
                  </a:lnTo>
                  <a:lnTo>
                    <a:pt x="3621" y="524155"/>
                  </a:lnTo>
                  <a:lnTo>
                    <a:pt x="0" y="484644"/>
                  </a:lnTo>
                  <a:lnTo>
                    <a:pt x="0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9004" y="4566056"/>
              <a:ext cx="84289" cy="8428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8624" y="4566056"/>
              <a:ext cx="84289" cy="84289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6683032" y="4566056"/>
            <a:ext cx="2174240" cy="1760220"/>
            <a:chOff x="6683032" y="4566056"/>
            <a:chExt cx="2174240" cy="1760220"/>
          </a:xfrm>
        </p:grpSpPr>
        <p:sp>
          <p:nvSpPr>
            <p:cNvPr id="32" name="object 32"/>
            <p:cNvSpPr/>
            <p:nvPr/>
          </p:nvSpPr>
          <p:spPr>
            <a:xfrm>
              <a:off x="6725183" y="4608207"/>
              <a:ext cx="2089150" cy="1706880"/>
            </a:xfrm>
            <a:custGeom>
              <a:avLst/>
              <a:gdLst/>
              <a:ahLst/>
              <a:cxnLst/>
              <a:rect l="l" t="t" r="r" b="b"/>
              <a:pathLst>
                <a:path w="2089150" h="1706879">
                  <a:moveTo>
                    <a:pt x="0" y="0"/>
                  </a:moveTo>
                  <a:lnTo>
                    <a:pt x="0" y="1453946"/>
                  </a:lnTo>
                  <a:lnTo>
                    <a:pt x="1397" y="1600137"/>
                  </a:lnTo>
                  <a:lnTo>
                    <a:pt x="30946" y="1675207"/>
                  </a:lnTo>
                  <a:lnTo>
                    <a:pt x="114821" y="1702865"/>
                  </a:lnTo>
                  <a:lnTo>
                    <a:pt x="279196" y="1706816"/>
                  </a:lnTo>
                  <a:lnTo>
                    <a:pt x="1809534" y="1706816"/>
                  </a:lnTo>
                  <a:lnTo>
                    <a:pt x="1973175" y="1667305"/>
                  </a:lnTo>
                  <a:lnTo>
                    <a:pt x="2055818" y="1580381"/>
                  </a:lnTo>
                  <a:lnTo>
                    <a:pt x="2085122" y="1493457"/>
                  </a:lnTo>
                  <a:lnTo>
                    <a:pt x="2088743" y="1453946"/>
                  </a:lnTo>
                  <a:lnTo>
                    <a:pt x="2088743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3032" y="4566056"/>
              <a:ext cx="84289" cy="842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2665" y="4566056"/>
              <a:ext cx="84289" cy="8428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048711" y="4753538"/>
            <a:ext cx="50355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Virtual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85831" y="4321086"/>
            <a:ext cx="983615" cy="58801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ts val="1095"/>
              </a:lnSpc>
            </a:pPr>
            <a:r>
              <a:rPr sz="1300" spc="10" dirty="0">
                <a:latin typeface="Arial MT"/>
                <a:cs typeface="Arial MT"/>
              </a:rPr>
              <a:t>ath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5106" y="4753538"/>
            <a:ext cx="49466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data</a:t>
            </a:r>
            <a:r>
              <a:rPr sz="1300" spc="-6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p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51232" y="5495849"/>
            <a:ext cx="1148715" cy="59118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R="149225"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300" spc="15" dirty="0">
                <a:latin typeface="Arial MT"/>
                <a:cs typeface="Arial MT"/>
              </a:rPr>
              <a:t>Ac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73123" y="5796595"/>
            <a:ext cx="29781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tual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16544" y="5495849"/>
            <a:ext cx="983615" cy="59118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sz="1300" spc="10" dirty="0">
                <a:latin typeface="Arial MT"/>
                <a:cs typeface="Arial MT"/>
              </a:rPr>
              <a:t>th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13492" y="5796595"/>
            <a:ext cx="58801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data</a:t>
            </a:r>
            <a:r>
              <a:rPr sz="1300" spc="-6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pa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019566" y="2425306"/>
            <a:ext cx="3249295" cy="368935"/>
            <a:chOff x="2019566" y="2425306"/>
            <a:chExt cx="3249295" cy="368935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9566" y="2425306"/>
              <a:ext cx="200182" cy="3684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03359" y="2425306"/>
              <a:ext cx="200182" cy="36841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4599" y="2425306"/>
              <a:ext cx="200182" cy="36841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68404" y="2425306"/>
              <a:ext cx="200182" cy="368414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6150965" y="2425306"/>
            <a:ext cx="3248025" cy="368935"/>
            <a:chOff x="6150965" y="2425306"/>
            <a:chExt cx="3248025" cy="368935"/>
          </a:xfrm>
        </p:grpSpPr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0965" y="2425306"/>
              <a:ext cx="200182" cy="36841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33450" y="2425306"/>
              <a:ext cx="200182" cy="36841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16011" y="2425306"/>
              <a:ext cx="200182" cy="36841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98483" y="2425306"/>
              <a:ext cx="200182" cy="368414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381952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Kinds</a:t>
            </a:r>
            <a:r>
              <a:rPr spc="-4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15" dirty="0"/>
              <a:t>Services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6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854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55901" y="252589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5901" y="296785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5901" y="340828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6049" y="384262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5901" y="428306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55901" y="472502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55901" y="516545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16049" y="559979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55901" y="604023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5901" y="648219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70023" y="1802012"/>
            <a:ext cx="6772909" cy="492633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Unacknowledged</a:t>
            </a:r>
            <a:r>
              <a:rPr sz="26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connectionless</a:t>
            </a:r>
            <a:r>
              <a:rPr sz="2650" spc="-6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service</a:t>
            </a:r>
            <a:endParaRPr sz="2650" dirty="0">
              <a:latin typeface="Arial MT"/>
              <a:cs typeface="Arial MT"/>
            </a:endParaRPr>
          </a:p>
          <a:p>
            <a:pPr marL="352425" marR="1586865">
              <a:lnSpc>
                <a:spcPts val="3479"/>
              </a:lnSpc>
              <a:spcBef>
                <a:spcPts val="155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no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error</a:t>
            </a:r>
            <a:r>
              <a:rPr sz="2200" spc="3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detection</a:t>
            </a:r>
            <a:r>
              <a:rPr sz="2200" spc="4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or recovery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appropriate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when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error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rate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very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low</a:t>
            </a:r>
            <a:endParaRPr sz="220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575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real-time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–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late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data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are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worse</a:t>
            </a:r>
            <a:r>
              <a:rPr sz="2200" spc="3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than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bad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data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Acknowledged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connectionless</a:t>
            </a:r>
            <a:r>
              <a:rPr sz="2650" spc="-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service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735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each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packet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acknowledged</a:t>
            </a:r>
            <a:endParaRPr sz="2200" dirty="0">
              <a:latin typeface="Arial MT"/>
              <a:cs typeface="Arial MT"/>
            </a:endParaRPr>
          </a:p>
          <a:p>
            <a:pPr marL="352425" marR="1721485">
              <a:lnSpc>
                <a:spcPct val="131400"/>
              </a:lnSpc>
              <a:spcBef>
                <a:spcPts val="10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retransmit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after</a:t>
            </a:r>
            <a:r>
              <a:rPr sz="2200" spc="3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timeout</a:t>
            </a:r>
            <a:r>
              <a:rPr sz="2200" spc="-1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expires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optimization</a:t>
            </a:r>
            <a:r>
              <a:rPr sz="2200" spc="6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when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errors</a:t>
            </a:r>
            <a:r>
              <a:rPr sz="2200" spc="3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are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frequent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Acknowledged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connection-oriented</a:t>
            </a:r>
            <a:r>
              <a:rPr sz="26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service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740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number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frames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to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detect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duplicates</a:t>
            </a:r>
            <a:endParaRPr sz="220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840"/>
              </a:spcBef>
            </a:pP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connection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setup,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transmission,</a:t>
            </a:r>
            <a:r>
              <a:rPr sz="2200" spc="6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connection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release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4867" y="68981"/>
            <a:ext cx="540385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11250" algn="l"/>
                <a:tab pos="2402205" algn="l"/>
                <a:tab pos="3555365" algn="l"/>
                <a:tab pos="5011420" algn="l"/>
              </a:tabLst>
            </a:pPr>
            <a:r>
              <a:rPr spc="-10" dirty="0"/>
              <a:t>Th</a:t>
            </a:r>
            <a:r>
              <a:rPr dirty="0"/>
              <a:t>e	</a:t>
            </a:r>
            <a:r>
              <a:rPr spc="-5" dirty="0"/>
              <a:t>Dat</a:t>
            </a:r>
            <a:r>
              <a:rPr dirty="0"/>
              <a:t>a	</a:t>
            </a:r>
            <a:r>
              <a:rPr spc="-5" dirty="0"/>
              <a:t>Lin</a:t>
            </a:r>
            <a:r>
              <a:rPr dirty="0"/>
              <a:t>k	</a:t>
            </a:r>
            <a:r>
              <a:rPr spc="-5" dirty="0"/>
              <a:t>L</a:t>
            </a:r>
            <a:r>
              <a:rPr spc="-125" dirty="0"/>
              <a:t>a</a:t>
            </a:r>
            <a:r>
              <a:rPr spc="-75" dirty="0"/>
              <a:t>y</a:t>
            </a:r>
            <a:r>
              <a:rPr spc="-5" dirty="0"/>
              <a:t>e</a:t>
            </a:r>
            <a:r>
              <a:rPr dirty="0"/>
              <a:t>r	</a:t>
            </a:r>
            <a:r>
              <a:rPr spc="-10" dirty="0"/>
              <a:t>in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7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876" y="68981"/>
            <a:ext cx="2951351" cy="1158651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-635">
              <a:lnSpc>
                <a:spcPts val="4150"/>
              </a:lnSpc>
              <a:spcBef>
                <a:spcPts val="635"/>
              </a:spcBef>
            </a:pPr>
            <a:r>
              <a:rPr sz="3850" spc="-10" dirty="0">
                <a:solidFill>
                  <a:srgbClr val="006699"/>
                </a:solidFill>
                <a:latin typeface="Arial MT"/>
                <a:cs typeface="Arial MT"/>
              </a:rPr>
              <a:t>Example:  </a:t>
            </a:r>
            <a:r>
              <a:rPr sz="3850" spc="-20" dirty="0">
                <a:solidFill>
                  <a:srgbClr val="006699"/>
                </a:solidFill>
                <a:latin typeface="Arial MT"/>
                <a:cs typeface="Arial MT"/>
              </a:rPr>
              <a:t>Context</a:t>
            </a:r>
            <a:endParaRPr sz="385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99970" y="4092161"/>
            <a:ext cx="7599045" cy="25400"/>
            <a:chOff x="1899970" y="4092161"/>
            <a:chExt cx="7599045" cy="25400"/>
          </a:xfrm>
        </p:grpSpPr>
        <p:sp>
          <p:nvSpPr>
            <p:cNvPr id="5" name="object 5"/>
            <p:cNvSpPr/>
            <p:nvPr/>
          </p:nvSpPr>
          <p:spPr>
            <a:xfrm>
              <a:off x="1910765" y="4104601"/>
              <a:ext cx="3077845" cy="0"/>
            </a:xfrm>
            <a:custGeom>
              <a:avLst/>
              <a:gdLst/>
              <a:ahLst/>
              <a:cxnLst/>
              <a:rect l="l" t="t" r="r" b="b"/>
              <a:pathLst>
                <a:path w="3077845">
                  <a:moveTo>
                    <a:pt x="0" y="0"/>
                  </a:moveTo>
                  <a:lnTo>
                    <a:pt x="3077362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40990" y="4104601"/>
              <a:ext cx="2814320" cy="0"/>
            </a:xfrm>
            <a:custGeom>
              <a:avLst/>
              <a:gdLst/>
              <a:ahLst/>
              <a:cxnLst/>
              <a:rect l="l" t="t" r="r" b="b"/>
              <a:pathLst>
                <a:path w="2814320">
                  <a:moveTo>
                    <a:pt x="0" y="0"/>
                  </a:moveTo>
                  <a:lnTo>
                    <a:pt x="899066" y="0"/>
                  </a:lnTo>
                </a:path>
                <a:path w="2814320">
                  <a:moveTo>
                    <a:pt x="1151928" y="0"/>
                  </a:moveTo>
                  <a:lnTo>
                    <a:pt x="2813972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78519" y="4094066"/>
              <a:ext cx="618490" cy="21590"/>
            </a:xfrm>
            <a:custGeom>
              <a:avLst/>
              <a:gdLst/>
              <a:ahLst/>
              <a:cxnLst/>
              <a:rect l="l" t="t" r="r" b="b"/>
              <a:pathLst>
                <a:path w="618490" h="21589">
                  <a:moveTo>
                    <a:pt x="0" y="0"/>
                  </a:moveTo>
                  <a:lnTo>
                    <a:pt x="0" y="21071"/>
                  </a:lnTo>
                </a:path>
                <a:path w="618490" h="21589">
                  <a:moveTo>
                    <a:pt x="254614" y="10535"/>
                  </a:moveTo>
                  <a:lnTo>
                    <a:pt x="618109" y="10535"/>
                  </a:lnTo>
                </a:path>
              </a:pathLst>
            </a:custGeom>
            <a:ln w="35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12232" y="3035241"/>
            <a:ext cx="615950" cy="427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4445">
              <a:lnSpc>
                <a:spcPct val="101000"/>
              </a:lnSpc>
              <a:spcBef>
                <a:spcPts val="110"/>
              </a:spcBef>
            </a:pPr>
            <a:r>
              <a:rPr sz="1300" spc="5" dirty="0">
                <a:latin typeface="Arial MT"/>
                <a:cs typeface="Arial MT"/>
              </a:rPr>
              <a:t>Routing  process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42515" y="2737446"/>
            <a:ext cx="3004185" cy="2581275"/>
            <a:chOff x="2242515" y="2737446"/>
            <a:chExt cx="3004185" cy="2581275"/>
          </a:xfrm>
        </p:grpSpPr>
        <p:sp>
          <p:nvSpPr>
            <p:cNvPr id="10" name="object 10"/>
            <p:cNvSpPr/>
            <p:nvPr/>
          </p:nvSpPr>
          <p:spPr>
            <a:xfrm>
              <a:off x="2247912" y="3978617"/>
              <a:ext cx="2993390" cy="253365"/>
            </a:xfrm>
            <a:custGeom>
              <a:avLst/>
              <a:gdLst/>
              <a:ahLst/>
              <a:cxnLst/>
              <a:rect l="l" t="t" r="r" b="b"/>
              <a:pathLst>
                <a:path w="2993390" h="253364">
                  <a:moveTo>
                    <a:pt x="0" y="0"/>
                  </a:moveTo>
                  <a:lnTo>
                    <a:pt x="0" y="252862"/>
                  </a:lnTo>
                  <a:lnTo>
                    <a:pt x="252862" y="252862"/>
                  </a:lnTo>
                  <a:lnTo>
                    <a:pt x="252862" y="0"/>
                  </a:lnTo>
                  <a:lnTo>
                    <a:pt x="0" y="0"/>
                  </a:lnTo>
                  <a:close/>
                </a:path>
                <a:path w="2993390" h="253364">
                  <a:moveTo>
                    <a:pt x="2740215" y="0"/>
                  </a:moveTo>
                  <a:lnTo>
                    <a:pt x="2740215" y="252862"/>
                  </a:lnTo>
                  <a:lnTo>
                    <a:pt x="2993077" y="252862"/>
                  </a:lnTo>
                  <a:lnTo>
                    <a:pt x="2993077" y="0"/>
                  </a:lnTo>
                  <a:lnTo>
                    <a:pt x="2740215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9836" y="3978617"/>
              <a:ext cx="252857" cy="2528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09836" y="3978617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126428" y="252857"/>
                  </a:moveTo>
                  <a:lnTo>
                    <a:pt x="175640" y="242921"/>
                  </a:lnTo>
                  <a:lnTo>
                    <a:pt x="215826" y="215826"/>
                  </a:lnTo>
                  <a:lnTo>
                    <a:pt x="242921" y="175640"/>
                  </a:lnTo>
                  <a:lnTo>
                    <a:pt x="252857" y="126428"/>
                  </a:lnTo>
                  <a:lnTo>
                    <a:pt x="242921" y="77216"/>
                  </a:lnTo>
                  <a:lnTo>
                    <a:pt x="215826" y="37030"/>
                  </a:lnTo>
                  <a:lnTo>
                    <a:pt x="175640" y="9935"/>
                  </a:lnTo>
                  <a:lnTo>
                    <a:pt x="126428" y="0"/>
                  </a:lnTo>
                  <a:lnTo>
                    <a:pt x="77216" y="9935"/>
                  </a:lnTo>
                  <a:lnTo>
                    <a:pt x="37030" y="37030"/>
                  </a:lnTo>
                  <a:lnTo>
                    <a:pt x="9935" y="77216"/>
                  </a:lnTo>
                  <a:lnTo>
                    <a:pt x="0" y="126428"/>
                  </a:lnTo>
                  <a:lnTo>
                    <a:pt x="9935" y="175640"/>
                  </a:lnTo>
                  <a:lnTo>
                    <a:pt x="37030" y="215826"/>
                  </a:lnTo>
                  <a:lnTo>
                    <a:pt x="77216" y="242921"/>
                  </a:lnTo>
                  <a:lnTo>
                    <a:pt x="126428" y="252857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46409" y="3978617"/>
              <a:ext cx="252869" cy="25285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446409" y="3978617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126428" y="252857"/>
                  </a:moveTo>
                  <a:lnTo>
                    <a:pt x="175642" y="242921"/>
                  </a:lnTo>
                  <a:lnTo>
                    <a:pt x="215833" y="215826"/>
                  </a:lnTo>
                  <a:lnTo>
                    <a:pt x="242932" y="175640"/>
                  </a:lnTo>
                  <a:lnTo>
                    <a:pt x="252869" y="126428"/>
                  </a:lnTo>
                  <a:lnTo>
                    <a:pt x="242932" y="77216"/>
                  </a:lnTo>
                  <a:lnTo>
                    <a:pt x="215833" y="37030"/>
                  </a:lnTo>
                  <a:lnTo>
                    <a:pt x="175642" y="9935"/>
                  </a:lnTo>
                  <a:lnTo>
                    <a:pt x="126428" y="0"/>
                  </a:lnTo>
                  <a:lnTo>
                    <a:pt x="77216" y="9935"/>
                  </a:lnTo>
                  <a:lnTo>
                    <a:pt x="37030" y="37030"/>
                  </a:lnTo>
                  <a:lnTo>
                    <a:pt x="9935" y="77216"/>
                  </a:lnTo>
                  <a:lnTo>
                    <a:pt x="0" y="126428"/>
                  </a:lnTo>
                  <a:lnTo>
                    <a:pt x="9935" y="175640"/>
                  </a:lnTo>
                  <a:lnTo>
                    <a:pt x="37030" y="215826"/>
                  </a:lnTo>
                  <a:lnTo>
                    <a:pt x="77216" y="242921"/>
                  </a:lnTo>
                  <a:lnTo>
                    <a:pt x="126428" y="252857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32962" y="3673792"/>
              <a:ext cx="835025" cy="835025"/>
            </a:xfrm>
            <a:custGeom>
              <a:avLst/>
              <a:gdLst/>
              <a:ahLst/>
              <a:cxnLst/>
              <a:rect l="l" t="t" r="r" b="b"/>
              <a:pathLst>
                <a:path w="835025" h="835025">
                  <a:moveTo>
                    <a:pt x="834402" y="417207"/>
                  </a:moveTo>
                  <a:lnTo>
                    <a:pt x="831595" y="368552"/>
                  </a:lnTo>
                  <a:lnTo>
                    <a:pt x="823383" y="321546"/>
                  </a:lnTo>
                  <a:lnTo>
                    <a:pt x="810079" y="276501"/>
                  </a:lnTo>
                  <a:lnTo>
                    <a:pt x="791997" y="233730"/>
                  </a:lnTo>
                  <a:lnTo>
                    <a:pt x="769448" y="193548"/>
                  </a:lnTo>
                  <a:lnTo>
                    <a:pt x="742746" y="156266"/>
                  </a:lnTo>
                  <a:lnTo>
                    <a:pt x="712204" y="122197"/>
                  </a:lnTo>
                  <a:lnTo>
                    <a:pt x="678136" y="91656"/>
                  </a:lnTo>
                  <a:lnTo>
                    <a:pt x="640854" y="64954"/>
                  </a:lnTo>
                  <a:lnTo>
                    <a:pt x="600671" y="42405"/>
                  </a:lnTo>
                  <a:lnTo>
                    <a:pt x="557901" y="24322"/>
                  </a:lnTo>
                  <a:lnTo>
                    <a:pt x="512856" y="11018"/>
                  </a:lnTo>
                  <a:lnTo>
                    <a:pt x="465849" y="2806"/>
                  </a:lnTo>
                  <a:lnTo>
                    <a:pt x="417195" y="0"/>
                  </a:lnTo>
                  <a:lnTo>
                    <a:pt x="368542" y="2806"/>
                  </a:lnTo>
                  <a:lnTo>
                    <a:pt x="321538" y="11018"/>
                  </a:lnTo>
                  <a:lnTo>
                    <a:pt x="276495" y="24322"/>
                  </a:lnTo>
                  <a:lnTo>
                    <a:pt x="233726" y="42405"/>
                  </a:lnTo>
                  <a:lnTo>
                    <a:pt x="193544" y="64954"/>
                  </a:lnTo>
                  <a:lnTo>
                    <a:pt x="156263" y="91656"/>
                  </a:lnTo>
                  <a:lnTo>
                    <a:pt x="122196" y="122197"/>
                  </a:lnTo>
                  <a:lnTo>
                    <a:pt x="91655" y="156266"/>
                  </a:lnTo>
                  <a:lnTo>
                    <a:pt x="64953" y="193548"/>
                  </a:lnTo>
                  <a:lnTo>
                    <a:pt x="42405" y="233730"/>
                  </a:lnTo>
                  <a:lnTo>
                    <a:pt x="24322" y="276501"/>
                  </a:lnTo>
                  <a:lnTo>
                    <a:pt x="11018" y="321546"/>
                  </a:lnTo>
                  <a:lnTo>
                    <a:pt x="2806" y="368552"/>
                  </a:lnTo>
                  <a:lnTo>
                    <a:pt x="0" y="417207"/>
                  </a:lnTo>
                  <a:lnTo>
                    <a:pt x="2806" y="465862"/>
                  </a:lnTo>
                  <a:lnTo>
                    <a:pt x="11018" y="512868"/>
                  </a:lnTo>
                  <a:lnTo>
                    <a:pt x="24322" y="557912"/>
                  </a:lnTo>
                  <a:lnTo>
                    <a:pt x="42405" y="600681"/>
                  </a:lnTo>
                  <a:lnTo>
                    <a:pt x="64953" y="640863"/>
                  </a:lnTo>
                  <a:lnTo>
                    <a:pt x="91655" y="678144"/>
                  </a:lnTo>
                  <a:lnTo>
                    <a:pt x="122196" y="712211"/>
                  </a:lnTo>
                  <a:lnTo>
                    <a:pt x="156263" y="742751"/>
                  </a:lnTo>
                  <a:lnTo>
                    <a:pt x="193544" y="769451"/>
                  </a:lnTo>
                  <a:lnTo>
                    <a:pt x="233726" y="791999"/>
                  </a:lnTo>
                  <a:lnTo>
                    <a:pt x="276495" y="810081"/>
                  </a:lnTo>
                  <a:lnTo>
                    <a:pt x="321538" y="823384"/>
                  </a:lnTo>
                  <a:lnTo>
                    <a:pt x="368542" y="831596"/>
                  </a:lnTo>
                  <a:lnTo>
                    <a:pt x="417195" y="834402"/>
                  </a:lnTo>
                  <a:lnTo>
                    <a:pt x="465849" y="831596"/>
                  </a:lnTo>
                  <a:lnTo>
                    <a:pt x="512856" y="823384"/>
                  </a:lnTo>
                  <a:lnTo>
                    <a:pt x="557901" y="810081"/>
                  </a:lnTo>
                  <a:lnTo>
                    <a:pt x="600671" y="791999"/>
                  </a:lnTo>
                  <a:lnTo>
                    <a:pt x="640854" y="769451"/>
                  </a:lnTo>
                  <a:lnTo>
                    <a:pt x="678136" y="742751"/>
                  </a:lnTo>
                  <a:lnTo>
                    <a:pt x="712204" y="712211"/>
                  </a:lnTo>
                  <a:lnTo>
                    <a:pt x="742746" y="678144"/>
                  </a:lnTo>
                  <a:lnTo>
                    <a:pt x="769448" y="640863"/>
                  </a:lnTo>
                  <a:lnTo>
                    <a:pt x="791997" y="600681"/>
                  </a:lnTo>
                  <a:lnTo>
                    <a:pt x="810079" y="557912"/>
                  </a:lnTo>
                  <a:lnTo>
                    <a:pt x="823383" y="512868"/>
                  </a:lnTo>
                  <a:lnTo>
                    <a:pt x="831595" y="465862"/>
                  </a:lnTo>
                  <a:lnTo>
                    <a:pt x="834402" y="417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74353" y="2742844"/>
              <a:ext cx="2739390" cy="2570480"/>
            </a:xfrm>
            <a:custGeom>
              <a:avLst/>
              <a:gdLst/>
              <a:ahLst/>
              <a:cxnLst/>
              <a:rect l="l" t="t" r="r" b="b"/>
              <a:pathLst>
                <a:path w="2739390" h="2570479">
                  <a:moveTo>
                    <a:pt x="1375803" y="1765350"/>
                  </a:moveTo>
                  <a:lnTo>
                    <a:pt x="1424458" y="1762544"/>
                  </a:lnTo>
                  <a:lnTo>
                    <a:pt x="1471465" y="1754332"/>
                  </a:lnTo>
                  <a:lnTo>
                    <a:pt x="1516510" y="1741029"/>
                  </a:lnTo>
                  <a:lnTo>
                    <a:pt x="1559280" y="1722947"/>
                  </a:lnTo>
                  <a:lnTo>
                    <a:pt x="1599463" y="1700399"/>
                  </a:lnTo>
                  <a:lnTo>
                    <a:pt x="1636745" y="1673699"/>
                  </a:lnTo>
                  <a:lnTo>
                    <a:pt x="1670813" y="1643159"/>
                  </a:lnTo>
                  <a:lnTo>
                    <a:pt x="1701355" y="1609092"/>
                  </a:lnTo>
                  <a:lnTo>
                    <a:pt x="1728056" y="1571811"/>
                  </a:lnTo>
                  <a:lnTo>
                    <a:pt x="1750605" y="1531630"/>
                  </a:lnTo>
                  <a:lnTo>
                    <a:pt x="1768688" y="1488860"/>
                  </a:lnTo>
                  <a:lnTo>
                    <a:pt x="1781992" y="1443816"/>
                  </a:lnTo>
                  <a:lnTo>
                    <a:pt x="1790204" y="1396810"/>
                  </a:lnTo>
                  <a:lnTo>
                    <a:pt x="1793011" y="1348155"/>
                  </a:lnTo>
                  <a:lnTo>
                    <a:pt x="1790204" y="1299500"/>
                  </a:lnTo>
                  <a:lnTo>
                    <a:pt x="1781992" y="1252494"/>
                  </a:lnTo>
                  <a:lnTo>
                    <a:pt x="1768688" y="1207449"/>
                  </a:lnTo>
                  <a:lnTo>
                    <a:pt x="1750605" y="1164679"/>
                  </a:lnTo>
                  <a:lnTo>
                    <a:pt x="1728056" y="1124496"/>
                  </a:lnTo>
                  <a:lnTo>
                    <a:pt x="1701355" y="1087214"/>
                  </a:lnTo>
                  <a:lnTo>
                    <a:pt x="1670813" y="1053145"/>
                  </a:lnTo>
                  <a:lnTo>
                    <a:pt x="1636745" y="1022604"/>
                  </a:lnTo>
                  <a:lnTo>
                    <a:pt x="1599463" y="995902"/>
                  </a:lnTo>
                  <a:lnTo>
                    <a:pt x="1559280" y="973353"/>
                  </a:lnTo>
                  <a:lnTo>
                    <a:pt x="1516510" y="955270"/>
                  </a:lnTo>
                  <a:lnTo>
                    <a:pt x="1471465" y="941966"/>
                  </a:lnTo>
                  <a:lnTo>
                    <a:pt x="1424458" y="933754"/>
                  </a:lnTo>
                  <a:lnTo>
                    <a:pt x="1375803" y="930948"/>
                  </a:lnTo>
                  <a:lnTo>
                    <a:pt x="1327151" y="933754"/>
                  </a:lnTo>
                  <a:lnTo>
                    <a:pt x="1280146" y="941966"/>
                  </a:lnTo>
                  <a:lnTo>
                    <a:pt x="1235103" y="955270"/>
                  </a:lnTo>
                  <a:lnTo>
                    <a:pt x="1192335" y="973353"/>
                  </a:lnTo>
                  <a:lnTo>
                    <a:pt x="1152153" y="995902"/>
                  </a:lnTo>
                  <a:lnTo>
                    <a:pt x="1114872" y="1022604"/>
                  </a:lnTo>
                  <a:lnTo>
                    <a:pt x="1080804" y="1053145"/>
                  </a:lnTo>
                  <a:lnTo>
                    <a:pt x="1050263" y="1087214"/>
                  </a:lnTo>
                  <a:lnTo>
                    <a:pt x="1023562" y="1124496"/>
                  </a:lnTo>
                  <a:lnTo>
                    <a:pt x="1001014" y="1164679"/>
                  </a:lnTo>
                  <a:lnTo>
                    <a:pt x="982931" y="1207449"/>
                  </a:lnTo>
                  <a:lnTo>
                    <a:pt x="969627" y="1252494"/>
                  </a:lnTo>
                  <a:lnTo>
                    <a:pt x="961415" y="1299500"/>
                  </a:lnTo>
                  <a:lnTo>
                    <a:pt x="958608" y="1348155"/>
                  </a:lnTo>
                  <a:lnTo>
                    <a:pt x="961415" y="1396810"/>
                  </a:lnTo>
                  <a:lnTo>
                    <a:pt x="969627" y="1443816"/>
                  </a:lnTo>
                  <a:lnTo>
                    <a:pt x="982931" y="1488860"/>
                  </a:lnTo>
                  <a:lnTo>
                    <a:pt x="1001014" y="1531630"/>
                  </a:lnTo>
                  <a:lnTo>
                    <a:pt x="1023562" y="1571811"/>
                  </a:lnTo>
                  <a:lnTo>
                    <a:pt x="1050263" y="1609092"/>
                  </a:lnTo>
                  <a:lnTo>
                    <a:pt x="1080804" y="1643159"/>
                  </a:lnTo>
                  <a:lnTo>
                    <a:pt x="1114872" y="1673699"/>
                  </a:lnTo>
                  <a:lnTo>
                    <a:pt x="1152153" y="1700399"/>
                  </a:lnTo>
                  <a:lnTo>
                    <a:pt x="1192335" y="1722947"/>
                  </a:lnTo>
                  <a:lnTo>
                    <a:pt x="1235103" y="1741029"/>
                  </a:lnTo>
                  <a:lnTo>
                    <a:pt x="1280146" y="1754332"/>
                  </a:lnTo>
                  <a:lnTo>
                    <a:pt x="1327151" y="1762544"/>
                  </a:lnTo>
                  <a:lnTo>
                    <a:pt x="1375803" y="1765350"/>
                  </a:lnTo>
                  <a:close/>
                </a:path>
                <a:path w="2739390" h="2570479">
                  <a:moveTo>
                    <a:pt x="0" y="0"/>
                  </a:moveTo>
                  <a:lnTo>
                    <a:pt x="0" y="2569883"/>
                  </a:lnTo>
                  <a:lnTo>
                    <a:pt x="2739339" y="2569883"/>
                  </a:lnTo>
                  <a:lnTo>
                    <a:pt x="2739339" y="0"/>
                  </a:lnTo>
                  <a:lnTo>
                    <a:pt x="0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39250" y="2097549"/>
            <a:ext cx="53149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5" dirty="0">
                <a:latin typeface="Arial MT"/>
                <a:cs typeface="Arial MT"/>
              </a:rPr>
              <a:t>Router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45651" y="2152383"/>
            <a:ext cx="6492875" cy="3750945"/>
            <a:chOff x="2645651" y="2152383"/>
            <a:chExt cx="6492875" cy="3750945"/>
          </a:xfrm>
        </p:grpSpPr>
        <p:sp>
          <p:nvSpPr>
            <p:cNvPr id="19" name="object 19"/>
            <p:cNvSpPr/>
            <p:nvPr/>
          </p:nvSpPr>
          <p:spPr>
            <a:xfrm>
              <a:off x="6140056" y="3978618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0" y="0"/>
                  </a:moveTo>
                  <a:lnTo>
                    <a:pt x="0" y="252862"/>
                  </a:lnTo>
                  <a:lnTo>
                    <a:pt x="252862" y="252862"/>
                  </a:lnTo>
                  <a:lnTo>
                    <a:pt x="252862" y="0"/>
                  </a:lnTo>
                  <a:lnTo>
                    <a:pt x="0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0022" y="3978618"/>
              <a:ext cx="252869" cy="25285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80022" y="3978618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5" h="253364">
                  <a:moveTo>
                    <a:pt x="126441" y="252857"/>
                  </a:moveTo>
                  <a:lnTo>
                    <a:pt x="175652" y="242921"/>
                  </a:lnTo>
                  <a:lnTo>
                    <a:pt x="215839" y="215826"/>
                  </a:lnTo>
                  <a:lnTo>
                    <a:pt x="242934" y="175640"/>
                  </a:lnTo>
                  <a:lnTo>
                    <a:pt x="252869" y="126428"/>
                  </a:lnTo>
                  <a:lnTo>
                    <a:pt x="242934" y="77216"/>
                  </a:lnTo>
                  <a:lnTo>
                    <a:pt x="215839" y="37030"/>
                  </a:lnTo>
                  <a:lnTo>
                    <a:pt x="175652" y="9935"/>
                  </a:lnTo>
                  <a:lnTo>
                    <a:pt x="126441" y="0"/>
                  </a:lnTo>
                  <a:lnTo>
                    <a:pt x="77222" y="9935"/>
                  </a:lnTo>
                  <a:lnTo>
                    <a:pt x="37031" y="37030"/>
                  </a:lnTo>
                  <a:lnTo>
                    <a:pt x="9935" y="77216"/>
                  </a:lnTo>
                  <a:lnTo>
                    <a:pt x="0" y="126428"/>
                  </a:lnTo>
                  <a:lnTo>
                    <a:pt x="9935" y="175640"/>
                  </a:lnTo>
                  <a:lnTo>
                    <a:pt x="37031" y="215826"/>
                  </a:lnTo>
                  <a:lnTo>
                    <a:pt x="77222" y="242921"/>
                  </a:lnTo>
                  <a:lnTo>
                    <a:pt x="126441" y="252857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25106" y="3673792"/>
              <a:ext cx="835025" cy="835025"/>
            </a:xfrm>
            <a:custGeom>
              <a:avLst/>
              <a:gdLst/>
              <a:ahLst/>
              <a:cxnLst/>
              <a:rect l="l" t="t" r="r" b="b"/>
              <a:pathLst>
                <a:path w="835025" h="835025">
                  <a:moveTo>
                    <a:pt x="834402" y="417207"/>
                  </a:moveTo>
                  <a:lnTo>
                    <a:pt x="831595" y="368552"/>
                  </a:lnTo>
                  <a:lnTo>
                    <a:pt x="823383" y="321546"/>
                  </a:lnTo>
                  <a:lnTo>
                    <a:pt x="810079" y="276501"/>
                  </a:lnTo>
                  <a:lnTo>
                    <a:pt x="791997" y="233730"/>
                  </a:lnTo>
                  <a:lnTo>
                    <a:pt x="769448" y="193548"/>
                  </a:lnTo>
                  <a:lnTo>
                    <a:pt x="742746" y="156266"/>
                  </a:lnTo>
                  <a:lnTo>
                    <a:pt x="712204" y="122197"/>
                  </a:lnTo>
                  <a:lnTo>
                    <a:pt x="678136" y="91656"/>
                  </a:lnTo>
                  <a:lnTo>
                    <a:pt x="640854" y="64954"/>
                  </a:lnTo>
                  <a:lnTo>
                    <a:pt x="600671" y="42405"/>
                  </a:lnTo>
                  <a:lnTo>
                    <a:pt x="557901" y="24322"/>
                  </a:lnTo>
                  <a:lnTo>
                    <a:pt x="512856" y="11018"/>
                  </a:lnTo>
                  <a:lnTo>
                    <a:pt x="465849" y="2806"/>
                  </a:lnTo>
                  <a:lnTo>
                    <a:pt x="417195" y="0"/>
                  </a:lnTo>
                  <a:lnTo>
                    <a:pt x="368542" y="2806"/>
                  </a:lnTo>
                  <a:lnTo>
                    <a:pt x="321538" y="11018"/>
                  </a:lnTo>
                  <a:lnTo>
                    <a:pt x="276495" y="24322"/>
                  </a:lnTo>
                  <a:lnTo>
                    <a:pt x="233726" y="42405"/>
                  </a:lnTo>
                  <a:lnTo>
                    <a:pt x="193544" y="64954"/>
                  </a:lnTo>
                  <a:lnTo>
                    <a:pt x="156263" y="91656"/>
                  </a:lnTo>
                  <a:lnTo>
                    <a:pt x="122196" y="122197"/>
                  </a:lnTo>
                  <a:lnTo>
                    <a:pt x="91655" y="156266"/>
                  </a:lnTo>
                  <a:lnTo>
                    <a:pt x="64953" y="193548"/>
                  </a:lnTo>
                  <a:lnTo>
                    <a:pt x="42405" y="233730"/>
                  </a:lnTo>
                  <a:lnTo>
                    <a:pt x="24322" y="276501"/>
                  </a:lnTo>
                  <a:lnTo>
                    <a:pt x="11018" y="321546"/>
                  </a:lnTo>
                  <a:lnTo>
                    <a:pt x="2806" y="368552"/>
                  </a:lnTo>
                  <a:lnTo>
                    <a:pt x="0" y="417207"/>
                  </a:lnTo>
                  <a:lnTo>
                    <a:pt x="2806" y="465862"/>
                  </a:lnTo>
                  <a:lnTo>
                    <a:pt x="11018" y="512868"/>
                  </a:lnTo>
                  <a:lnTo>
                    <a:pt x="24322" y="557912"/>
                  </a:lnTo>
                  <a:lnTo>
                    <a:pt x="42405" y="600681"/>
                  </a:lnTo>
                  <a:lnTo>
                    <a:pt x="64953" y="640863"/>
                  </a:lnTo>
                  <a:lnTo>
                    <a:pt x="91655" y="678144"/>
                  </a:lnTo>
                  <a:lnTo>
                    <a:pt x="122196" y="712211"/>
                  </a:lnTo>
                  <a:lnTo>
                    <a:pt x="156263" y="742751"/>
                  </a:lnTo>
                  <a:lnTo>
                    <a:pt x="193544" y="769451"/>
                  </a:lnTo>
                  <a:lnTo>
                    <a:pt x="233726" y="791999"/>
                  </a:lnTo>
                  <a:lnTo>
                    <a:pt x="276495" y="810081"/>
                  </a:lnTo>
                  <a:lnTo>
                    <a:pt x="321538" y="823384"/>
                  </a:lnTo>
                  <a:lnTo>
                    <a:pt x="368542" y="831596"/>
                  </a:lnTo>
                  <a:lnTo>
                    <a:pt x="417195" y="834402"/>
                  </a:lnTo>
                  <a:lnTo>
                    <a:pt x="465849" y="831596"/>
                  </a:lnTo>
                  <a:lnTo>
                    <a:pt x="512856" y="823384"/>
                  </a:lnTo>
                  <a:lnTo>
                    <a:pt x="557901" y="810081"/>
                  </a:lnTo>
                  <a:lnTo>
                    <a:pt x="600671" y="791999"/>
                  </a:lnTo>
                  <a:lnTo>
                    <a:pt x="640854" y="769451"/>
                  </a:lnTo>
                  <a:lnTo>
                    <a:pt x="678136" y="742751"/>
                  </a:lnTo>
                  <a:lnTo>
                    <a:pt x="712204" y="712211"/>
                  </a:lnTo>
                  <a:lnTo>
                    <a:pt x="742746" y="678144"/>
                  </a:lnTo>
                  <a:lnTo>
                    <a:pt x="769448" y="640863"/>
                  </a:lnTo>
                  <a:lnTo>
                    <a:pt x="791997" y="600681"/>
                  </a:lnTo>
                  <a:lnTo>
                    <a:pt x="810079" y="557912"/>
                  </a:lnTo>
                  <a:lnTo>
                    <a:pt x="823383" y="512868"/>
                  </a:lnTo>
                  <a:lnTo>
                    <a:pt x="831595" y="465862"/>
                  </a:lnTo>
                  <a:lnTo>
                    <a:pt x="834402" y="417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25106" y="3673792"/>
              <a:ext cx="835025" cy="835025"/>
            </a:xfrm>
            <a:custGeom>
              <a:avLst/>
              <a:gdLst/>
              <a:ahLst/>
              <a:cxnLst/>
              <a:rect l="l" t="t" r="r" b="b"/>
              <a:pathLst>
                <a:path w="835025" h="835025">
                  <a:moveTo>
                    <a:pt x="417195" y="834402"/>
                  </a:moveTo>
                  <a:lnTo>
                    <a:pt x="465849" y="831596"/>
                  </a:lnTo>
                  <a:lnTo>
                    <a:pt x="512856" y="823384"/>
                  </a:lnTo>
                  <a:lnTo>
                    <a:pt x="557901" y="810081"/>
                  </a:lnTo>
                  <a:lnTo>
                    <a:pt x="600671" y="791999"/>
                  </a:lnTo>
                  <a:lnTo>
                    <a:pt x="640854" y="769451"/>
                  </a:lnTo>
                  <a:lnTo>
                    <a:pt x="678136" y="742751"/>
                  </a:lnTo>
                  <a:lnTo>
                    <a:pt x="712204" y="712211"/>
                  </a:lnTo>
                  <a:lnTo>
                    <a:pt x="742746" y="678144"/>
                  </a:lnTo>
                  <a:lnTo>
                    <a:pt x="769448" y="640863"/>
                  </a:lnTo>
                  <a:lnTo>
                    <a:pt x="791997" y="600681"/>
                  </a:lnTo>
                  <a:lnTo>
                    <a:pt x="810079" y="557912"/>
                  </a:lnTo>
                  <a:lnTo>
                    <a:pt x="823383" y="512868"/>
                  </a:lnTo>
                  <a:lnTo>
                    <a:pt x="831595" y="465862"/>
                  </a:lnTo>
                  <a:lnTo>
                    <a:pt x="834402" y="417207"/>
                  </a:lnTo>
                  <a:lnTo>
                    <a:pt x="831595" y="368552"/>
                  </a:lnTo>
                  <a:lnTo>
                    <a:pt x="823383" y="321546"/>
                  </a:lnTo>
                  <a:lnTo>
                    <a:pt x="810079" y="276501"/>
                  </a:lnTo>
                  <a:lnTo>
                    <a:pt x="791997" y="233730"/>
                  </a:lnTo>
                  <a:lnTo>
                    <a:pt x="769448" y="193548"/>
                  </a:lnTo>
                  <a:lnTo>
                    <a:pt x="742746" y="156266"/>
                  </a:lnTo>
                  <a:lnTo>
                    <a:pt x="712204" y="122197"/>
                  </a:lnTo>
                  <a:lnTo>
                    <a:pt x="678136" y="91656"/>
                  </a:lnTo>
                  <a:lnTo>
                    <a:pt x="640854" y="64954"/>
                  </a:lnTo>
                  <a:lnTo>
                    <a:pt x="600671" y="42405"/>
                  </a:lnTo>
                  <a:lnTo>
                    <a:pt x="557901" y="24322"/>
                  </a:lnTo>
                  <a:lnTo>
                    <a:pt x="512856" y="11018"/>
                  </a:lnTo>
                  <a:lnTo>
                    <a:pt x="465849" y="2806"/>
                  </a:lnTo>
                  <a:lnTo>
                    <a:pt x="417195" y="0"/>
                  </a:lnTo>
                  <a:lnTo>
                    <a:pt x="368542" y="2806"/>
                  </a:lnTo>
                  <a:lnTo>
                    <a:pt x="321538" y="11018"/>
                  </a:lnTo>
                  <a:lnTo>
                    <a:pt x="276495" y="24322"/>
                  </a:lnTo>
                  <a:lnTo>
                    <a:pt x="233726" y="42405"/>
                  </a:lnTo>
                  <a:lnTo>
                    <a:pt x="193544" y="64954"/>
                  </a:lnTo>
                  <a:lnTo>
                    <a:pt x="156263" y="91656"/>
                  </a:lnTo>
                  <a:lnTo>
                    <a:pt x="122196" y="122197"/>
                  </a:lnTo>
                  <a:lnTo>
                    <a:pt x="91655" y="156266"/>
                  </a:lnTo>
                  <a:lnTo>
                    <a:pt x="64953" y="193548"/>
                  </a:lnTo>
                  <a:lnTo>
                    <a:pt x="42405" y="233730"/>
                  </a:lnTo>
                  <a:lnTo>
                    <a:pt x="24322" y="276501"/>
                  </a:lnTo>
                  <a:lnTo>
                    <a:pt x="11018" y="321546"/>
                  </a:lnTo>
                  <a:lnTo>
                    <a:pt x="2806" y="368552"/>
                  </a:lnTo>
                  <a:lnTo>
                    <a:pt x="0" y="417207"/>
                  </a:lnTo>
                  <a:lnTo>
                    <a:pt x="2806" y="465862"/>
                  </a:lnTo>
                  <a:lnTo>
                    <a:pt x="11018" y="512868"/>
                  </a:lnTo>
                  <a:lnTo>
                    <a:pt x="24322" y="557912"/>
                  </a:lnTo>
                  <a:lnTo>
                    <a:pt x="42405" y="600681"/>
                  </a:lnTo>
                  <a:lnTo>
                    <a:pt x="64953" y="640863"/>
                  </a:lnTo>
                  <a:lnTo>
                    <a:pt x="91655" y="678144"/>
                  </a:lnTo>
                  <a:lnTo>
                    <a:pt x="122196" y="712211"/>
                  </a:lnTo>
                  <a:lnTo>
                    <a:pt x="156263" y="742751"/>
                  </a:lnTo>
                  <a:lnTo>
                    <a:pt x="193544" y="769451"/>
                  </a:lnTo>
                  <a:lnTo>
                    <a:pt x="233726" y="791999"/>
                  </a:lnTo>
                  <a:lnTo>
                    <a:pt x="276495" y="810081"/>
                  </a:lnTo>
                  <a:lnTo>
                    <a:pt x="321538" y="823384"/>
                  </a:lnTo>
                  <a:lnTo>
                    <a:pt x="368542" y="831596"/>
                  </a:lnTo>
                  <a:lnTo>
                    <a:pt x="417195" y="834402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9788" y="3894327"/>
              <a:ext cx="2781935" cy="421640"/>
            </a:xfrm>
            <a:custGeom>
              <a:avLst/>
              <a:gdLst/>
              <a:ahLst/>
              <a:cxnLst/>
              <a:rect l="l" t="t" r="r" b="b"/>
              <a:pathLst>
                <a:path w="2781934" h="421639">
                  <a:moveTo>
                    <a:pt x="0" y="0"/>
                  </a:moveTo>
                  <a:lnTo>
                    <a:pt x="0" y="421436"/>
                  </a:lnTo>
                  <a:lnTo>
                    <a:pt x="2781477" y="421436"/>
                  </a:lnTo>
                  <a:lnTo>
                    <a:pt x="2781477" y="0"/>
                  </a:lnTo>
                  <a:lnTo>
                    <a:pt x="0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36167" y="2152383"/>
              <a:ext cx="0" cy="1521460"/>
            </a:xfrm>
            <a:custGeom>
              <a:avLst/>
              <a:gdLst/>
              <a:ahLst/>
              <a:cxnLst/>
              <a:rect l="l" t="t" r="r" b="b"/>
              <a:pathLst>
                <a:path h="1521460">
                  <a:moveTo>
                    <a:pt x="0" y="1521409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36167" y="2152383"/>
              <a:ext cx="0" cy="1521460"/>
            </a:xfrm>
            <a:custGeom>
              <a:avLst/>
              <a:gdLst/>
              <a:ahLst/>
              <a:cxnLst/>
              <a:rect l="l" t="t" r="r" b="b"/>
              <a:pathLst>
                <a:path h="1521460">
                  <a:moveTo>
                    <a:pt x="0" y="716450"/>
                  </a:moveTo>
                  <a:lnTo>
                    <a:pt x="0" y="1521409"/>
                  </a:lnTo>
                </a:path>
                <a:path h="1521460">
                  <a:moveTo>
                    <a:pt x="0" y="0"/>
                  </a:moveTo>
                  <a:lnTo>
                    <a:pt x="0" y="463588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40505" y="5453646"/>
              <a:ext cx="0" cy="449580"/>
            </a:xfrm>
            <a:custGeom>
              <a:avLst/>
              <a:gdLst/>
              <a:ahLst/>
              <a:cxnLst/>
              <a:rect l="l" t="t" r="r" b="b"/>
              <a:pathLst>
                <a:path h="449579">
                  <a:moveTo>
                    <a:pt x="0" y="449529"/>
                  </a:moveTo>
                  <a:lnTo>
                    <a:pt x="0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06177" y="5197271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0" y="0"/>
                  </a:moveTo>
                  <a:lnTo>
                    <a:pt x="0" y="252862"/>
                  </a:lnTo>
                  <a:lnTo>
                    <a:pt x="252862" y="252862"/>
                  </a:lnTo>
                  <a:lnTo>
                    <a:pt x="252862" y="0"/>
                  </a:lnTo>
                  <a:lnTo>
                    <a:pt x="0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1046" y="3033014"/>
              <a:ext cx="252857" cy="25286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511046" y="3033014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5" h="253364">
                  <a:moveTo>
                    <a:pt x="0" y="126428"/>
                  </a:moveTo>
                  <a:lnTo>
                    <a:pt x="9935" y="175642"/>
                  </a:lnTo>
                  <a:lnTo>
                    <a:pt x="37030" y="215833"/>
                  </a:lnTo>
                  <a:lnTo>
                    <a:pt x="77216" y="242932"/>
                  </a:lnTo>
                  <a:lnTo>
                    <a:pt x="126428" y="252869"/>
                  </a:lnTo>
                  <a:lnTo>
                    <a:pt x="175640" y="242932"/>
                  </a:lnTo>
                  <a:lnTo>
                    <a:pt x="215826" y="215833"/>
                  </a:lnTo>
                  <a:lnTo>
                    <a:pt x="242921" y="175642"/>
                  </a:lnTo>
                  <a:lnTo>
                    <a:pt x="252857" y="126428"/>
                  </a:lnTo>
                  <a:lnTo>
                    <a:pt x="242921" y="77216"/>
                  </a:lnTo>
                  <a:lnTo>
                    <a:pt x="215826" y="37030"/>
                  </a:lnTo>
                  <a:lnTo>
                    <a:pt x="175640" y="9935"/>
                  </a:lnTo>
                  <a:lnTo>
                    <a:pt x="126428" y="0"/>
                  </a:lnTo>
                  <a:lnTo>
                    <a:pt x="77216" y="9935"/>
                  </a:lnTo>
                  <a:lnTo>
                    <a:pt x="37030" y="37030"/>
                  </a:lnTo>
                  <a:lnTo>
                    <a:pt x="9935" y="77216"/>
                  </a:lnTo>
                  <a:lnTo>
                    <a:pt x="0" y="126428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1826" y="2615971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5" h="253364">
                  <a:moveTo>
                    <a:pt x="252862" y="252862"/>
                  </a:moveTo>
                  <a:lnTo>
                    <a:pt x="252862" y="0"/>
                  </a:lnTo>
                  <a:lnTo>
                    <a:pt x="0" y="0"/>
                  </a:lnTo>
                  <a:lnTo>
                    <a:pt x="0" y="252862"/>
                  </a:lnTo>
                  <a:lnTo>
                    <a:pt x="252862" y="2528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29242" y="2615971"/>
              <a:ext cx="6203950" cy="2696845"/>
            </a:xfrm>
            <a:custGeom>
              <a:avLst/>
              <a:gdLst/>
              <a:ahLst/>
              <a:cxnLst/>
              <a:rect l="l" t="t" r="r" b="b"/>
              <a:pathLst>
                <a:path w="6203950" h="2696845">
                  <a:moveTo>
                    <a:pt x="4572584" y="0"/>
                  </a:moveTo>
                  <a:lnTo>
                    <a:pt x="4572584" y="252862"/>
                  </a:lnTo>
                  <a:lnTo>
                    <a:pt x="4825446" y="252862"/>
                  </a:lnTo>
                  <a:lnTo>
                    <a:pt x="4825446" y="0"/>
                  </a:lnTo>
                  <a:lnTo>
                    <a:pt x="4572584" y="0"/>
                  </a:lnTo>
                  <a:close/>
                </a:path>
                <a:path w="6203950" h="2696845">
                  <a:moveTo>
                    <a:pt x="5951029" y="1362646"/>
                  </a:moveTo>
                  <a:lnTo>
                    <a:pt x="5951029" y="1615508"/>
                  </a:lnTo>
                  <a:lnTo>
                    <a:pt x="6203891" y="1615508"/>
                  </a:lnTo>
                  <a:lnTo>
                    <a:pt x="6203891" y="1362646"/>
                  </a:lnTo>
                  <a:lnTo>
                    <a:pt x="5951029" y="1362646"/>
                  </a:lnTo>
                  <a:close/>
                </a:path>
                <a:path w="6203950" h="2696845">
                  <a:moveTo>
                    <a:pt x="3337255" y="126873"/>
                  </a:moveTo>
                  <a:lnTo>
                    <a:pt x="3337255" y="2696756"/>
                  </a:lnTo>
                  <a:lnTo>
                    <a:pt x="6076594" y="2696756"/>
                  </a:lnTo>
                  <a:lnTo>
                    <a:pt x="6076594" y="126873"/>
                  </a:lnTo>
                  <a:lnTo>
                    <a:pt x="3337255" y="126873"/>
                  </a:lnTo>
                  <a:close/>
                </a:path>
                <a:path w="6203950" h="2696845">
                  <a:moveTo>
                    <a:pt x="7556" y="1297139"/>
                  </a:moveTo>
                  <a:lnTo>
                    <a:pt x="0" y="856919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07931" y="3853307"/>
              <a:ext cx="58419" cy="109220"/>
            </a:xfrm>
            <a:custGeom>
              <a:avLst/>
              <a:gdLst/>
              <a:ahLst/>
              <a:cxnLst/>
              <a:rect l="l" t="t" r="r" b="b"/>
              <a:pathLst>
                <a:path w="58419" h="109220">
                  <a:moveTo>
                    <a:pt x="58216" y="0"/>
                  </a:moveTo>
                  <a:lnTo>
                    <a:pt x="0" y="0"/>
                  </a:lnTo>
                  <a:lnTo>
                    <a:pt x="29210" y="108623"/>
                  </a:lnTo>
                  <a:lnTo>
                    <a:pt x="582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37141" y="3859885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h="58420">
                  <a:moveTo>
                    <a:pt x="0" y="0"/>
                  </a:moveTo>
                  <a:lnTo>
                    <a:pt x="0" y="58191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75696" y="3477717"/>
              <a:ext cx="139700" cy="170815"/>
            </a:xfrm>
            <a:custGeom>
              <a:avLst/>
              <a:gdLst/>
              <a:ahLst/>
              <a:cxnLst/>
              <a:rect l="l" t="t" r="r" b="b"/>
              <a:pathLst>
                <a:path w="139700" h="170814">
                  <a:moveTo>
                    <a:pt x="0" y="170649"/>
                  </a:moveTo>
                  <a:lnTo>
                    <a:pt x="13942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44556" y="3583482"/>
              <a:ext cx="91440" cy="102870"/>
            </a:xfrm>
            <a:custGeom>
              <a:avLst/>
              <a:gdLst/>
              <a:ahLst/>
              <a:cxnLst/>
              <a:rect l="l" t="t" r="r" b="b"/>
              <a:pathLst>
                <a:path w="91439" h="102870">
                  <a:moveTo>
                    <a:pt x="91338" y="36830"/>
                  </a:moveTo>
                  <a:lnTo>
                    <a:pt x="46253" y="0"/>
                  </a:lnTo>
                  <a:lnTo>
                    <a:pt x="0" y="102476"/>
                  </a:lnTo>
                  <a:lnTo>
                    <a:pt x="91338" y="368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72293" y="3606939"/>
              <a:ext cx="36830" cy="45085"/>
            </a:xfrm>
            <a:custGeom>
              <a:avLst/>
              <a:gdLst/>
              <a:ahLst/>
              <a:cxnLst/>
              <a:rect l="l" t="t" r="r" b="b"/>
              <a:pathLst>
                <a:path w="36829" h="45085">
                  <a:moveTo>
                    <a:pt x="36817" y="0"/>
                  </a:moveTo>
                  <a:lnTo>
                    <a:pt x="0" y="45059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13798" y="2321610"/>
              <a:ext cx="297180" cy="363220"/>
            </a:xfrm>
            <a:custGeom>
              <a:avLst/>
              <a:gdLst/>
              <a:ahLst/>
              <a:cxnLst/>
              <a:rect l="l" t="t" r="r" b="b"/>
              <a:pathLst>
                <a:path w="297179" h="363219">
                  <a:moveTo>
                    <a:pt x="296684" y="363156"/>
                  </a:moveTo>
                  <a:lnTo>
                    <a:pt x="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50298" y="2619895"/>
              <a:ext cx="91440" cy="102870"/>
            </a:xfrm>
            <a:custGeom>
              <a:avLst/>
              <a:gdLst/>
              <a:ahLst/>
              <a:cxnLst/>
              <a:rect l="l" t="t" r="r" b="b"/>
              <a:pathLst>
                <a:path w="91439" h="102869">
                  <a:moveTo>
                    <a:pt x="91338" y="102476"/>
                  </a:moveTo>
                  <a:lnTo>
                    <a:pt x="45072" y="0"/>
                  </a:lnTo>
                  <a:lnTo>
                    <a:pt x="0" y="36830"/>
                  </a:lnTo>
                  <a:lnTo>
                    <a:pt x="91338" y="1024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77082" y="2643339"/>
              <a:ext cx="36830" cy="45085"/>
            </a:xfrm>
            <a:custGeom>
              <a:avLst/>
              <a:gdLst/>
              <a:ahLst/>
              <a:cxnLst/>
              <a:rect l="l" t="t" r="r" b="b"/>
              <a:pathLst>
                <a:path w="36829" h="45085">
                  <a:moveTo>
                    <a:pt x="0" y="0"/>
                  </a:moveTo>
                  <a:lnTo>
                    <a:pt x="36804" y="45059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74518" y="4174604"/>
              <a:ext cx="0" cy="405130"/>
            </a:xfrm>
            <a:custGeom>
              <a:avLst/>
              <a:gdLst/>
              <a:ahLst/>
              <a:cxnLst/>
              <a:rect l="l" t="t" r="r" b="b"/>
              <a:pathLst>
                <a:path h="405129">
                  <a:moveTo>
                    <a:pt x="0" y="0"/>
                  </a:moveTo>
                  <a:lnTo>
                    <a:pt x="0" y="404558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45651" y="4125772"/>
              <a:ext cx="58419" cy="109220"/>
            </a:xfrm>
            <a:custGeom>
              <a:avLst/>
              <a:gdLst/>
              <a:ahLst/>
              <a:cxnLst/>
              <a:rect l="l" t="t" r="r" b="b"/>
              <a:pathLst>
                <a:path w="58419" h="109220">
                  <a:moveTo>
                    <a:pt x="58216" y="108635"/>
                  </a:moveTo>
                  <a:lnTo>
                    <a:pt x="29210" y="0"/>
                  </a:lnTo>
                  <a:lnTo>
                    <a:pt x="0" y="108635"/>
                  </a:lnTo>
                  <a:lnTo>
                    <a:pt x="58216" y="108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74861" y="4169638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h="58420">
                  <a:moveTo>
                    <a:pt x="0" y="58178"/>
                  </a:moveTo>
                  <a:lnTo>
                    <a:pt x="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19932" y="4173283"/>
              <a:ext cx="96520" cy="393065"/>
            </a:xfrm>
            <a:custGeom>
              <a:avLst/>
              <a:gdLst/>
              <a:ahLst/>
              <a:cxnLst/>
              <a:rect l="l" t="t" r="r" b="b"/>
              <a:pathLst>
                <a:path w="96520" h="393064">
                  <a:moveTo>
                    <a:pt x="0" y="0"/>
                  </a:moveTo>
                  <a:lnTo>
                    <a:pt x="95999" y="393014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06089" y="4125772"/>
              <a:ext cx="57150" cy="113030"/>
            </a:xfrm>
            <a:custGeom>
              <a:avLst/>
              <a:gdLst/>
              <a:ahLst/>
              <a:cxnLst/>
              <a:rect l="l" t="t" r="r" b="b"/>
              <a:pathLst>
                <a:path w="57150" h="113029">
                  <a:moveTo>
                    <a:pt x="56540" y="98653"/>
                  </a:moveTo>
                  <a:lnTo>
                    <a:pt x="2590" y="0"/>
                  </a:lnTo>
                  <a:lnTo>
                    <a:pt x="0" y="112458"/>
                  </a:lnTo>
                  <a:lnTo>
                    <a:pt x="56540" y="98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219081" y="4168381"/>
              <a:ext cx="13970" cy="57150"/>
            </a:xfrm>
            <a:custGeom>
              <a:avLst/>
              <a:gdLst/>
              <a:ahLst/>
              <a:cxnLst/>
              <a:rect l="l" t="t" r="r" b="b"/>
              <a:pathLst>
                <a:path w="13969" h="57150">
                  <a:moveTo>
                    <a:pt x="13817" y="56527"/>
                  </a:moveTo>
                  <a:lnTo>
                    <a:pt x="0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392146" y="4541880"/>
            <a:ext cx="1299210" cy="427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9539" marR="5080" indent="-117475">
              <a:lnSpc>
                <a:spcPct val="101000"/>
              </a:lnSpc>
              <a:spcBef>
                <a:spcPts val="110"/>
              </a:spcBef>
              <a:tabLst>
                <a:tab pos="817880" algn="l"/>
              </a:tabLst>
            </a:pPr>
            <a:r>
              <a:rPr sz="1300" spc="15" dirty="0">
                <a:latin typeface="Arial MT"/>
                <a:cs typeface="Arial MT"/>
              </a:rPr>
              <a:t>Frames</a:t>
            </a:r>
            <a:r>
              <a:rPr sz="1300" spc="37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Packets </a:t>
            </a:r>
            <a:r>
              <a:rPr sz="1300" spc="-345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here	here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76702" y="397996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20306" y="397996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46892" y="397996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575716" y="397996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77033" y="303173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691470" y="397996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15451" y="3035243"/>
            <a:ext cx="1028065" cy="427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72720">
              <a:lnSpc>
                <a:spcPct val="101000"/>
              </a:lnSpc>
              <a:spcBef>
                <a:spcPts val="110"/>
              </a:spcBef>
            </a:pPr>
            <a:r>
              <a:rPr sz="1300" spc="10" dirty="0">
                <a:latin typeface="Arial MT"/>
                <a:cs typeface="Arial MT"/>
              </a:rPr>
              <a:t>Data </a:t>
            </a:r>
            <a:r>
              <a:rPr sz="1300" spc="5" dirty="0">
                <a:latin typeface="Arial MT"/>
                <a:cs typeface="Arial MT"/>
              </a:rPr>
              <a:t>link 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layer</a:t>
            </a:r>
            <a:r>
              <a:rPr sz="1300" spc="-50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process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01541" y="5497143"/>
            <a:ext cx="1102995" cy="427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110"/>
              </a:spcBef>
            </a:pPr>
            <a:r>
              <a:rPr sz="1300" spc="10" dirty="0">
                <a:latin typeface="Arial MT"/>
                <a:cs typeface="Arial MT"/>
              </a:rPr>
              <a:t>Transmission 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line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to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a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router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63177" y="4331167"/>
            <a:ext cx="681355" cy="427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0640" marR="5080" indent="-28575">
              <a:lnSpc>
                <a:spcPct val="101000"/>
              </a:lnSpc>
              <a:spcBef>
                <a:spcPts val="110"/>
              </a:spcBef>
            </a:pPr>
            <a:r>
              <a:rPr sz="1300" spc="10" dirty="0">
                <a:latin typeface="Arial MT"/>
                <a:cs typeface="Arial MT"/>
              </a:rPr>
              <a:t>Data</a:t>
            </a:r>
            <a:r>
              <a:rPr sz="1300" spc="-80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link </a:t>
            </a:r>
            <a:r>
              <a:rPr sz="1300" spc="-350" dirty="0">
                <a:latin typeface="Arial MT"/>
                <a:cs typeface="Arial MT"/>
              </a:rPr>
              <a:t> </a:t>
            </a:r>
            <a:r>
              <a:rPr sz="1300" spc="5" dirty="0">
                <a:latin typeface="Arial MT"/>
                <a:cs typeface="Arial MT"/>
              </a:rPr>
              <a:t>protocol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5681"/>
            <a:ext cx="347662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Framing</a:t>
            </a:r>
            <a:r>
              <a:rPr spc="-50" dirty="0"/>
              <a:t> </a:t>
            </a:r>
            <a:r>
              <a:rPr dirty="0"/>
              <a:t>(1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8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6188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6049" y="338390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66822" y="6170455"/>
            <a:ext cx="205740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Arial MT"/>
                <a:cs typeface="Arial MT"/>
              </a:rPr>
              <a:t>(b)</a:t>
            </a:r>
            <a:endParaRPr sz="115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09469" y="4592892"/>
          <a:ext cx="6174086" cy="221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685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21254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4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6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7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4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6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7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09469" y="6163171"/>
          <a:ext cx="6185535" cy="221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2125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4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7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6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7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4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6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7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618689" y="4879771"/>
            <a:ext cx="6177280" cy="81280"/>
          </a:xfrm>
          <a:custGeom>
            <a:avLst/>
            <a:gdLst/>
            <a:ahLst/>
            <a:cxnLst/>
            <a:rect l="l" t="t" r="r" b="b"/>
            <a:pathLst>
              <a:path w="6177280" h="81279">
                <a:moveTo>
                  <a:pt x="0" y="0"/>
                </a:moveTo>
                <a:lnTo>
                  <a:pt x="3261" y="15975"/>
                </a:lnTo>
                <a:lnTo>
                  <a:pt x="12153" y="28784"/>
                </a:lnTo>
                <a:lnTo>
                  <a:pt x="25342" y="37297"/>
                </a:lnTo>
                <a:lnTo>
                  <a:pt x="41490" y="40386"/>
                </a:lnTo>
                <a:lnTo>
                  <a:pt x="556209" y="40386"/>
                </a:lnTo>
                <a:lnTo>
                  <a:pt x="572357" y="43474"/>
                </a:lnTo>
                <a:lnTo>
                  <a:pt x="585546" y="51987"/>
                </a:lnTo>
                <a:lnTo>
                  <a:pt x="594438" y="64796"/>
                </a:lnTo>
                <a:lnTo>
                  <a:pt x="597700" y="80772"/>
                </a:lnTo>
                <a:lnTo>
                  <a:pt x="600961" y="64796"/>
                </a:lnTo>
                <a:lnTo>
                  <a:pt x="609852" y="51987"/>
                </a:lnTo>
                <a:lnTo>
                  <a:pt x="623037" y="43474"/>
                </a:lnTo>
                <a:lnTo>
                  <a:pt x="639178" y="40386"/>
                </a:lnTo>
                <a:lnTo>
                  <a:pt x="1132395" y="40386"/>
                </a:lnTo>
                <a:lnTo>
                  <a:pt x="1148541" y="37297"/>
                </a:lnTo>
                <a:lnTo>
                  <a:pt x="1161726" y="28784"/>
                </a:lnTo>
                <a:lnTo>
                  <a:pt x="1170614" y="15975"/>
                </a:lnTo>
                <a:lnTo>
                  <a:pt x="1173873" y="0"/>
                </a:lnTo>
              </a:path>
              <a:path w="6177280" h="81279">
                <a:moveTo>
                  <a:pt x="1192314" y="0"/>
                </a:moveTo>
                <a:lnTo>
                  <a:pt x="1195575" y="15975"/>
                </a:lnTo>
                <a:lnTo>
                  <a:pt x="1204468" y="28784"/>
                </a:lnTo>
                <a:lnTo>
                  <a:pt x="1217656" y="37297"/>
                </a:lnTo>
                <a:lnTo>
                  <a:pt x="1233805" y="40386"/>
                </a:lnTo>
                <a:lnTo>
                  <a:pt x="1748536" y="40386"/>
                </a:lnTo>
                <a:lnTo>
                  <a:pt x="1764677" y="43474"/>
                </a:lnTo>
                <a:lnTo>
                  <a:pt x="1777861" y="51987"/>
                </a:lnTo>
                <a:lnTo>
                  <a:pt x="1786753" y="64796"/>
                </a:lnTo>
                <a:lnTo>
                  <a:pt x="1790014" y="80772"/>
                </a:lnTo>
                <a:lnTo>
                  <a:pt x="1793273" y="64796"/>
                </a:lnTo>
                <a:lnTo>
                  <a:pt x="1802163" y="51987"/>
                </a:lnTo>
                <a:lnTo>
                  <a:pt x="1815351" y="43474"/>
                </a:lnTo>
                <a:lnTo>
                  <a:pt x="1831505" y="40386"/>
                </a:lnTo>
                <a:lnTo>
                  <a:pt x="2324709" y="40386"/>
                </a:lnTo>
                <a:lnTo>
                  <a:pt x="2340858" y="37297"/>
                </a:lnTo>
                <a:lnTo>
                  <a:pt x="2354046" y="28784"/>
                </a:lnTo>
                <a:lnTo>
                  <a:pt x="2362939" y="15975"/>
                </a:lnTo>
                <a:lnTo>
                  <a:pt x="2366200" y="0"/>
                </a:lnTo>
              </a:path>
              <a:path w="6177280" h="81279">
                <a:moveTo>
                  <a:pt x="2384640" y="0"/>
                </a:moveTo>
                <a:lnTo>
                  <a:pt x="2387900" y="15975"/>
                </a:lnTo>
                <a:lnTo>
                  <a:pt x="2396788" y="28784"/>
                </a:lnTo>
                <a:lnTo>
                  <a:pt x="2409972" y="37297"/>
                </a:lnTo>
                <a:lnTo>
                  <a:pt x="2426119" y="40386"/>
                </a:lnTo>
                <a:lnTo>
                  <a:pt x="3278873" y="40386"/>
                </a:lnTo>
                <a:lnTo>
                  <a:pt x="3295014" y="43474"/>
                </a:lnTo>
                <a:lnTo>
                  <a:pt x="3308199" y="51987"/>
                </a:lnTo>
                <a:lnTo>
                  <a:pt x="3317090" y="64796"/>
                </a:lnTo>
                <a:lnTo>
                  <a:pt x="3320351" y="80772"/>
                </a:lnTo>
                <a:lnTo>
                  <a:pt x="3323612" y="64796"/>
                </a:lnTo>
                <a:lnTo>
                  <a:pt x="3332505" y="51987"/>
                </a:lnTo>
                <a:lnTo>
                  <a:pt x="3345694" y="43474"/>
                </a:lnTo>
                <a:lnTo>
                  <a:pt x="3361842" y="40386"/>
                </a:lnTo>
                <a:lnTo>
                  <a:pt x="4208449" y="40386"/>
                </a:lnTo>
                <a:lnTo>
                  <a:pt x="4224596" y="37297"/>
                </a:lnTo>
                <a:lnTo>
                  <a:pt x="4237780" y="28784"/>
                </a:lnTo>
                <a:lnTo>
                  <a:pt x="4246668" y="15975"/>
                </a:lnTo>
                <a:lnTo>
                  <a:pt x="4249928" y="0"/>
                </a:lnTo>
              </a:path>
              <a:path w="6177280" h="81279">
                <a:moveTo>
                  <a:pt x="4283735" y="0"/>
                </a:moveTo>
                <a:lnTo>
                  <a:pt x="4286994" y="15975"/>
                </a:lnTo>
                <a:lnTo>
                  <a:pt x="4295884" y="28784"/>
                </a:lnTo>
                <a:lnTo>
                  <a:pt x="4309072" y="37297"/>
                </a:lnTo>
                <a:lnTo>
                  <a:pt x="4325226" y="40386"/>
                </a:lnTo>
                <a:lnTo>
                  <a:pt x="5185651" y="40386"/>
                </a:lnTo>
                <a:lnTo>
                  <a:pt x="5201799" y="43474"/>
                </a:lnTo>
                <a:lnTo>
                  <a:pt x="5214988" y="51987"/>
                </a:lnTo>
                <a:lnTo>
                  <a:pt x="5223881" y="64796"/>
                </a:lnTo>
                <a:lnTo>
                  <a:pt x="5227142" y="80772"/>
                </a:lnTo>
                <a:lnTo>
                  <a:pt x="5230401" y="64796"/>
                </a:lnTo>
                <a:lnTo>
                  <a:pt x="5239289" y="51987"/>
                </a:lnTo>
                <a:lnTo>
                  <a:pt x="5252474" y="43474"/>
                </a:lnTo>
                <a:lnTo>
                  <a:pt x="5268620" y="40386"/>
                </a:lnTo>
                <a:lnTo>
                  <a:pt x="6135204" y="40386"/>
                </a:lnTo>
                <a:lnTo>
                  <a:pt x="6151351" y="37297"/>
                </a:lnTo>
                <a:lnTo>
                  <a:pt x="6164535" y="28784"/>
                </a:lnTo>
                <a:lnTo>
                  <a:pt x="6173424" y="15975"/>
                </a:lnTo>
                <a:lnTo>
                  <a:pt x="6176683" y="0"/>
                </a:lnTo>
              </a:path>
            </a:pathLst>
          </a:custGeom>
          <a:ln w="9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981018" y="5832450"/>
            <a:ext cx="325755" cy="325120"/>
            <a:chOff x="3981018" y="5832450"/>
            <a:chExt cx="325755" cy="325120"/>
          </a:xfrm>
        </p:grpSpPr>
        <p:sp>
          <p:nvSpPr>
            <p:cNvPr id="10" name="object 10"/>
            <p:cNvSpPr/>
            <p:nvPr/>
          </p:nvSpPr>
          <p:spPr>
            <a:xfrm>
              <a:off x="4011447" y="5837059"/>
              <a:ext cx="290195" cy="290195"/>
            </a:xfrm>
            <a:custGeom>
              <a:avLst/>
              <a:gdLst/>
              <a:ahLst/>
              <a:cxnLst/>
              <a:rect l="l" t="t" r="r" b="b"/>
              <a:pathLst>
                <a:path w="290195" h="290195">
                  <a:moveTo>
                    <a:pt x="0" y="290118"/>
                  </a:moveTo>
                  <a:lnTo>
                    <a:pt x="290182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81018" y="6072009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36029"/>
                  </a:moveTo>
                  <a:lnTo>
                    <a:pt x="49288" y="0"/>
                  </a:lnTo>
                  <a:lnTo>
                    <a:pt x="0" y="85166"/>
                  </a:lnTo>
                  <a:lnTo>
                    <a:pt x="85293" y="36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8158" y="6094031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36017" y="0"/>
                  </a:moveTo>
                  <a:lnTo>
                    <a:pt x="0" y="36004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608548" y="6393777"/>
            <a:ext cx="205104" cy="204470"/>
            <a:chOff x="5608548" y="6393777"/>
            <a:chExt cx="205104" cy="204470"/>
          </a:xfrm>
        </p:grpSpPr>
        <p:sp>
          <p:nvSpPr>
            <p:cNvPr id="14" name="object 14"/>
            <p:cNvSpPr/>
            <p:nvPr/>
          </p:nvSpPr>
          <p:spPr>
            <a:xfrm>
              <a:off x="5638977" y="6423787"/>
              <a:ext cx="170180" cy="169545"/>
            </a:xfrm>
            <a:custGeom>
              <a:avLst/>
              <a:gdLst/>
              <a:ahLst/>
              <a:cxnLst/>
              <a:rect l="l" t="t" r="r" b="b"/>
              <a:pathLst>
                <a:path w="170179" h="169545">
                  <a:moveTo>
                    <a:pt x="0" y="0"/>
                  </a:moveTo>
                  <a:lnTo>
                    <a:pt x="169557" y="169506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08548" y="63937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49136"/>
                  </a:moveTo>
                  <a:lnTo>
                    <a:pt x="0" y="0"/>
                  </a:lnTo>
                  <a:lnTo>
                    <a:pt x="49276" y="85153"/>
                  </a:lnTo>
                  <a:lnTo>
                    <a:pt x="85293" y="491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35688" y="64209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36004" y="35991"/>
                  </a:moveTo>
                  <a:lnTo>
                    <a:pt x="0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350073" y="4251782"/>
            <a:ext cx="342900" cy="340995"/>
            <a:chOff x="8350073" y="4251782"/>
            <a:chExt cx="342900" cy="340995"/>
          </a:xfrm>
        </p:grpSpPr>
        <p:sp>
          <p:nvSpPr>
            <p:cNvPr id="18" name="object 18"/>
            <p:cNvSpPr/>
            <p:nvPr/>
          </p:nvSpPr>
          <p:spPr>
            <a:xfrm>
              <a:off x="8354682" y="4256392"/>
              <a:ext cx="290195" cy="290195"/>
            </a:xfrm>
            <a:custGeom>
              <a:avLst/>
              <a:gdLst/>
              <a:ahLst/>
              <a:cxnLst/>
              <a:rect l="l" t="t" r="r" b="b"/>
              <a:pathLst>
                <a:path w="290195" h="290195">
                  <a:moveTo>
                    <a:pt x="290195" y="290118"/>
                  </a:moveTo>
                  <a:lnTo>
                    <a:pt x="0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07285" y="450748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85153"/>
                  </a:moveTo>
                  <a:lnTo>
                    <a:pt x="36017" y="0"/>
                  </a:lnTo>
                  <a:lnTo>
                    <a:pt x="0" y="36017"/>
                  </a:lnTo>
                  <a:lnTo>
                    <a:pt x="85293" y="85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768485" y="4086021"/>
            <a:ext cx="4215765" cy="501650"/>
            <a:chOff x="2768485" y="4086021"/>
            <a:chExt cx="4215765" cy="501650"/>
          </a:xfrm>
        </p:grpSpPr>
        <p:sp>
          <p:nvSpPr>
            <p:cNvPr id="21" name="object 21"/>
            <p:cNvSpPr/>
            <p:nvPr/>
          </p:nvSpPr>
          <p:spPr>
            <a:xfrm>
              <a:off x="2768485" y="44913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36017"/>
                  </a:moveTo>
                  <a:lnTo>
                    <a:pt x="49276" y="0"/>
                  </a:lnTo>
                  <a:lnTo>
                    <a:pt x="0" y="85140"/>
                  </a:lnTo>
                  <a:lnTo>
                    <a:pt x="85293" y="36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95625" y="451337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36004" y="0"/>
                  </a:moveTo>
                  <a:lnTo>
                    <a:pt x="0" y="35991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8732" y="4176496"/>
              <a:ext cx="368300" cy="370205"/>
            </a:xfrm>
            <a:custGeom>
              <a:avLst/>
              <a:gdLst/>
              <a:ahLst/>
              <a:cxnLst/>
              <a:rect l="l" t="t" r="r" b="b"/>
              <a:pathLst>
                <a:path w="368300" h="370204">
                  <a:moveTo>
                    <a:pt x="0" y="370014"/>
                  </a:moveTo>
                  <a:lnTo>
                    <a:pt x="367677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98302" y="44913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305" y="36017"/>
                  </a:moveTo>
                  <a:lnTo>
                    <a:pt x="49288" y="0"/>
                  </a:lnTo>
                  <a:lnTo>
                    <a:pt x="0" y="85140"/>
                  </a:lnTo>
                  <a:lnTo>
                    <a:pt x="85305" y="360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25442" y="451337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36017" y="0"/>
                  </a:moveTo>
                  <a:lnTo>
                    <a:pt x="0" y="35991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98914" y="4176115"/>
              <a:ext cx="4154804" cy="370840"/>
            </a:xfrm>
            <a:custGeom>
              <a:avLst/>
              <a:gdLst/>
              <a:ahLst/>
              <a:cxnLst/>
              <a:rect l="l" t="t" r="r" b="b"/>
              <a:pathLst>
                <a:path w="4154804" h="370839">
                  <a:moveTo>
                    <a:pt x="4154525" y="370395"/>
                  </a:moveTo>
                  <a:lnTo>
                    <a:pt x="3784092" y="50"/>
                  </a:lnTo>
                  <a:lnTo>
                    <a:pt x="290182" y="0"/>
                  </a:lnTo>
                  <a:lnTo>
                    <a:pt x="0" y="370395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98563" y="44913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85140"/>
                  </a:moveTo>
                  <a:lnTo>
                    <a:pt x="36004" y="0"/>
                  </a:lnTo>
                  <a:lnTo>
                    <a:pt x="0" y="36017"/>
                  </a:lnTo>
                  <a:lnTo>
                    <a:pt x="85293" y="85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20712" y="451337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0"/>
                  </a:moveTo>
                  <a:lnTo>
                    <a:pt x="36004" y="35991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86807" y="4176496"/>
              <a:ext cx="386715" cy="381000"/>
            </a:xfrm>
            <a:custGeom>
              <a:avLst/>
              <a:gdLst/>
              <a:ahLst/>
              <a:cxnLst/>
              <a:rect l="l" t="t" r="r" b="b"/>
              <a:pathLst>
                <a:path w="386714" h="381000">
                  <a:moveTo>
                    <a:pt x="386105" y="380936"/>
                  </a:moveTo>
                  <a:lnTo>
                    <a:pt x="0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18049" y="450227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293" y="85153"/>
                  </a:moveTo>
                  <a:lnTo>
                    <a:pt x="36017" y="0"/>
                  </a:lnTo>
                  <a:lnTo>
                    <a:pt x="0" y="36029"/>
                  </a:lnTo>
                  <a:lnTo>
                    <a:pt x="85293" y="85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40198" y="452429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0"/>
                  </a:moveTo>
                  <a:lnTo>
                    <a:pt x="36004" y="35991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75923" y="4086021"/>
              <a:ext cx="1143635" cy="152400"/>
            </a:xfrm>
            <a:custGeom>
              <a:avLst/>
              <a:gdLst/>
              <a:ahLst/>
              <a:cxnLst/>
              <a:rect l="l" t="t" r="r" b="b"/>
              <a:pathLst>
                <a:path w="1143635" h="152400">
                  <a:moveTo>
                    <a:pt x="1143147" y="152111"/>
                  </a:moveTo>
                  <a:lnTo>
                    <a:pt x="1143147" y="0"/>
                  </a:lnTo>
                  <a:lnTo>
                    <a:pt x="0" y="0"/>
                  </a:lnTo>
                  <a:lnTo>
                    <a:pt x="0" y="152111"/>
                  </a:lnTo>
                  <a:lnTo>
                    <a:pt x="1143147" y="152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92072" y="1798773"/>
            <a:ext cx="7696200" cy="249747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How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mark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5" dirty="0">
                <a:solidFill>
                  <a:srgbClr val="9B0707"/>
                </a:solidFill>
                <a:latin typeface="Arial MT"/>
                <a:cs typeface="Arial MT"/>
              </a:rPr>
              <a:t>start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and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end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of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each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frame?</a:t>
            </a:r>
            <a:endParaRPr sz="2650" dirty="0">
              <a:latin typeface="Arial MT"/>
              <a:cs typeface="Arial MT"/>
            </a:endParaRPr>
          </a:p>
          <a:p>
            <a:pPr marL="904240" indent="-514350">
              <a:lnSpc>
                <a:spcPts val="3040"/>
              </a:lnSpc>
              <a:buFont typeface="+mj-lt"/>
              <a:buAutoNum type="arabicPeriod"/>
              <a:tabLst>
                <a:tab pos="791210" algn="l"/>
              </a:tabLst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Character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count:</a:t>
            </a:r>
            <a:r>
              <a:rPr sz="2650" spc="1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field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header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for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frame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size</a:t>
            </a:r>
            <a:endParaRPr sz="2650" dirty="0">
              <a:latin typeface="Arial MT"/>
              <a:cs typeface="Arial MT"/>
            </a:endParaRPr>
          </a:p>
          <a:p>
            <a:pPr marL="730250">
              <a:lnSpc>
                <a:spcPct val="100000"/>
              </a:lnSpc>
              <a:spcBef>
                <a:spcPts val="495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transmission</a:t>
            </a:r>
            <a:r>
              <a:rPr sz="2200" spc="4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errors</a:t>
            </a:r>
            <a:r>
              <a:rPr sz="2200" spc="3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are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problematic</a:t>
            </a:r>
            <a:endParaRPr sz="2200" dirty="0">
              <a:latin typeface="Arial MT"/>
              <a:cs typeface="Arial MT"/>
            </a:endParaRPr>
          </a:p>
          <a:p>
            <a:pPr marL="3230245">
              <a:lnSpc>
                <a:spcPct val="100000"/>
              </a:lnSpc>
              <a:spcBef>
                <a:spcPts val="365"/>
              </a:spcBef>
              <a:tabLst>
                <a:tab pos="6510655" algn="l"/>
              </a:tabLst>
            </a:pPr>
            <a:r>
              <a:rPr sz="1150" dirty="0">
                <a:latin typeface="Arial MT"/>
                <a:cs typeface="Arial MT"/>
              </a:rPr>
              <a:t>Character </a:t>
            </a:r>
            <a:r>
              <a:rPr sz="1150" spc="5" dirty="0">
                <a:latin typeface="Arial MT"/>
                <a:cs typeface="Arial MT"/>
              </a:rPr>
              <a:t>count	One</a:t>
            </a:r>
            <a:r>
              <a:rPr sz="1150" spc="-4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</a:t>
            </a:r>
            <a:endParaRPr sz="11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 dirty="0">
              <a:latin typeface="Arial MT"/>
              <a:cs typeface="Arial MT"/>
            </a:endParaRPr>
          </a:p>
          <a:p>
            <a:pPr marL="787400">
              <a:lnSpc>
                <a:spcPct val="100000"/>
              </a:lnSpc>
            </a:pPr>
            <a:r>
              <a:rPr sz="1150" dirty="0">
                <a:latin typeface="Arial MT"/>
                <a:cs typeface="Arial MT"/>
              </a:rPr>
              <a:t>(a)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125726" y="5629597"/>
            <a:ext cx="35369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Error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97905" y="4962764"/>
            <a:ext cx="8375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</a:t>
            </a:r>
            <a:r>
              <a:rPr sz="1150" spc="-45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50" spc="5" dirty="0">
                <a:latin typeface="Arial MT"/>
                <a:cs typeface="Arial MT"/>
              </a:rPr>
              <a:t>5</a:t>
            </a:r>
            <a:r>
              <a:rPr sz="1150" spc="-6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18689" y="6477723"/>
            <a:ext cx="1174115" cy="81280"/>
          </a:xfrm>
          <a:custGeom>
            <a:avLst/>
            <a:gdLst/>
            <a:ahLst/>
            <a:cxnLst/>
            <a:rect l="l" t="t" r="r" b="b"/>
            <a:pathLst>
              <a:path w="1174114" h="81279">
                <a:moveTo>
                  <a:pt x="0" y="0"/>
                </a:moveTo>
                <a:lnTo>
                  <a:pt x="3261" y="15975"/>
                </a:lnTo>
                <a:lnTo>
                  <a:pt x="12153" y="28784"/>
                </a:lnTo>
                <a:lnTo>
                  <a:pt x="25342" y="37297"/>
                </a:lnTo>
                <a:lnTo>
                  <a:pt x="41490" y="40386"/>
                </a:lnTo>
                <a:lnTo>
                  <a:pt x="556209" y="40386"/>
                </a:lnTo>
                <a:lnTo>
                  <a:pt x="572357" y="43474"/>
                </a:lnTo>
                <a:lnTo>
                  <a:pt x="585546" y="51987"/>
                </a:lnTo>
                <a:lnTo>
                  <a:pt x="594438" y="64796"/>
                </a:lnTo>
                <a:lnTo>
                  <a:pt x="597700" y="80772"/>
                </a:lnTo>
                <a:lnTo>
                  <a:pt x="600961" y="64796"/>
                </a:lnTo>
                <a:lnTo>
                  <a:pt x="609852" y="51987"/>
                </a:lnTo>
                <a:lnTo>
                  <a:pt x="623037" y="43474"/>
                </a:lnTo>
                <a:lnTo>
                  <a:pt x="639178" y="40386"/>
                </a:lnTo>
                <a:lnTo>
                  <a:pt x="1132395" y="40386"/>
                </a:lnTo>
                <a:lnTo>
                  <a:pt x="1148541" y="37297"/>
                </a:lnTo>
                <a:lnTo>
                  <a:pt x="1161726" y="28784"/>
                </a:lnTo>
                <a:lnTo>
                  <a:pt x="1170614" y="15975"/>
                </a:lnTo>
                <a:lnTo>
                  <a:pt x="1173873" y="0"/>
                </a:lnTo>
              </a:path>
            </a:pathLst>
          </a:custGeom>
          <a:ln w="9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929115" y="6559697"/>
            <a:ext cx="575310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</a:t>
            </a:r>
            <a:r>
              <a:rPr sz="1150" spc="-7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1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02521" y="4962772"/>
            <a:ext cx="8375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</a:t>
            </a:r>
            <a:r>
              <a:rPr sz="1150" spc="-45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2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50" spc="5" dirty="0">
                <a:latin typeface="Arial MT"/>
                <a:cs typeface="Arial MT"/>
              </a:rPr>
              <a:t>5</a:t>
            </a:r>
            <a:r>
              <a:rPr sz="1150" spc="-6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17150" y="6477723"/>
            <a:ext cx="1653539" cy="81280"/>
          </a:xfrm>
          <a:custGeom>
            <a:avLst/>
            <a:gdLst/>
            <a:ahLst/>
            <a:cxnLst/>
            <a:rect l="l" t="t" r="r" b="b"/>
            <a:pathLst>
              <a:path w="1653539" h="81279">
                <a:moveTo>
                  <a:pt x="0" y="0"/>
                </a:moveTo>
                <a:lnTo>
                  <a:pt x="3261" y="15975"/>
                </a:lnTo>
                <a:lnTo>
                  <a:pt x="12153" y="28784"/>
                </a:lnTo>
                <a:lnTo>
                  <a:pt x="25342" y="37297"/>
                </a:lnTo>
                <a:lnTo>
                  <a:pt x="41490" y="40386"/>
                </a:lnTo>
                <a:lnTo>
                  <a:pt x="780567" y="40386"/>
                </a:lnTo>
                <a:lnTo>
                  <a:pt x="796713" y="43474"/>
                </a:lnTo>
                <a:lnTo>
                  <a:pt x="809898" y="51987"/>
                </a:lnTo>
                <a:lnTo>
                  <a:pt x="818786" y="64796"/>
                </a:lnTo>
                <a:lnTo>
                  <a:pt x="822045" y="80772"/>
                </a:lnTo>
                <a:lnTo>
                  <a:pt x="825306" y="64796"/>
                </a:lnTo>
                <a:lnTo>
                  <a:pt x="834199" y="51987"/>
                </a:lnTo>
                <a:lnTo>
                  <a:pt x="847388" y="43474"/>
                </a:lnTo>
                <a:lnTo>
                  <a:pt x="863536" y="40386"/>
                </a:lnTo>
                <a:lnTo>
                  <a:pt x="1611782" y="40386"/>
                </a:lnTo>
                <a:lnTo>
                  <a:pt x="1627928" y="37297"/>
                </a:lnTo>
                <a:lnTo>
                  <a:pt x="1641113" y="28784"/>
                </a:lnTo>
                <a:lnTo>
                  <a:pt x="1650001" y="15975"/>
                </a:lnTo>
                <a:lnTo>
                  <a:pt x="1653260" y="0"/>
                </a:lnTo>
              </a:path>
            </a:pathLst>
          </a:custGeom>
          <a:ln w="9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471746" y="6559697"/>
            <a:ext cx="57531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955" marR="5080" indent="-8890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 2  (Wrong)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20565" y="4962772"/>
            <a:ext cx="8375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</a:t>
            </a:r>
            <a:r>
              <a:rPr sz="1150" spc="-45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3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50" spc="5" dirty="0">
                <a:latin typeface="Arial MT"/>
                <a:cs typeface="Arial MT"/>
              </a:rPr>
              <a:t>8</a:t>
            </a:r>
            <a:r>
              <a:rPr sz="1150" spc="-6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27350" y="4962772"/>
            <a:ext cx="837565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150" spc="5" dirty="0">
                <a:latin typeface="Arial MT"/>
                <a:cs typeface="Arial MT"/>
              </a:rPr>
              <a:t>Frame</a:t>
            </a:r>
            <a:r>
              <a:rPr sz="1150" spc="-45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4</a:t>
            </a: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50" spc="5" dirty="0">
                <a:latin typeface="Arial MT"/>
                <a:cs typeface="Arial MT"/>
              </a:rPr>
              <a:t>8</a:t>
            </a:r>
            <a:r>
              <a:rPr sz="1150" spc="-6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55663" y="6559698"/>
            <a:ext cx="1042669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Arial MT"/>
                <a:cs typeface="Arial MT"/>
              </a:rPr>
              <a:t>Now </a:t>
            </a:r>
            <a:r>
              <a:rPr sz="1150" spc="5" dirty="0">
                <a:latin typeface="Arial MT"/>
                <a:cs typeface="Arial MT"/>
              </a:rPr>
              <a:t>a </a:t>
            </a:r>
            <a:r>
              <a:rPr sz="1150" spc="1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</a:t>
            </a:r>
            <a:r>
              <a:rPr sz="115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count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5681"/>
            <a:ext cx="347662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Framing</a:t>
            </a:r>
            <a:r>
              <a:rPr spc="-50" dirty="0"/>
              <a:t> </a:t>
            </a:r>
            <a:r>
              <a:rPr dirty="0"/>
              <a:t>(2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9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930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55901" y="293889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70021" y="1888688"/>
            <a:ext cx="7508240" cy="129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95"/>
              </a:spcBef>
            </a:pPr>
            <a:r>
              <a:rPr lang="en-US" sz="2650" spc="5" dirty="0">
                <a:solidFill>
                  <a:srgbClr val="9B0707"/>
                </a:solidFill>
                <a:latin typeface="Arial MT"/>
                <a:cs typeface="Arial MT"/>
              </a:rPr>
              <a:t>2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.</a:t>
            </a:r>
            <a:r>
              <a:rPr sz="2650" spc="1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Flag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bytes:</a:t>
            </a:r>
            <a:r>
              <a:rPr sz="2650" spc="1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two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consecutive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flags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indicates</a:t>
            </a:r>
            <a:r>
              <a:rPr sz="2650" spc="-4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end </a:t>
            </a:r>
            <a:r>
              <a:rPr sz="2650" spc="-7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and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5" dirty="0">
                <a:solidFill>
                  <a:srgbClr val="9B0707"/>
                </a:solidFill>
                <a:latin typeface="Arial MT"/>
                <a:cs typeface="Arial MT"/>
              </a:rPr>
              <a:t>start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of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frame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495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flag</a:t>
            </a:r>
            <a:r>
              <a:rPr sz="2200" spc="-4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bytes</a:t>
            </a:r>
            <a:endParaRPr sz="2200" dirty="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05873" y="3314802"/>
          <a:ext cx="5838823" cy="442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3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2509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50" spc="5" dirty="0">
                          <a:latin typeface="Arial MT"/>
                          <a:cs typeface="Arial MT"/>
                        </a:rPr>
                        <a:t>FLAG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50" spc="5" dirty="0">
                          <a:latin typeface="Arial MT"/>
                          <a:cs typeface="Arial MT"/>
                        </a:rPr>
                        <a:t>Header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50" spc="5" dirty="0">
                          <a:latin typeface="Arial MT"/>
                          <a:cs typeface="Arial MT"/>
                        </a:rPr>
                        <a:t>Payload</a:t>
                      </a:r>
                      <a:r>
                        <a:rPr sz="11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dirty="0">
                          <a:latin typeface="Arial MT"/>
                          <a:cs typeface="Arial MT"/>
                        </a:rPr>
                        <a:t>field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Trailer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150" spc="5" dirty="0">
                          <a:latin typeface="Arial MT"/>
                          <a:cs typeface="Arial MT"/>
                        </a:rPr>
                        <a:t>FLAG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12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955901" y="407732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16535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2667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8546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3847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1146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FLAG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67578" y="4942344"/>
            <a:ext cx="450215" cy="54610"/>
            <a:chOff x="5667578" y="4942344"/>
            <a:chExt cx="450215" cy="54610"/>
          </a:xfrm>
        </p:grpSpPr>
        <p:sp>
          <p:nvSpPr>
            <p:cNvPr id="13" name="object 13"/>
            <p:cNvSpPr/>
            <p:nvPr/>
          </p:nvSpPr>
          <p:spPr>
            <a:xfrm>
              <a:off x="5667578" y="4970932"/>
              <a:ext cx="410845" cy="0"/>
            </a:xfrm>
            <a:custGeom>
              <a:avLst/>
              <a:gdLst/>
              <a:ahLst/>
              <a:cxnLst/>
              <a:rect l="l" t="t" r="r" b="b"/>
              <a:pathLst>
                <a:path w="410845">
                  <a:moveTo>
                    <a:pt x="410349" y="0"/>
                  </a:moveTo>
                  <a:lnTo>
                    <a:pt x="0" y="0"/>
                  </a:lnTo>
                </a:path>
              </a:pathLst>
            </a:custGeom>
            <a:ln w="13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16815" y="4942344"/>
              <a:ext cx="100965" cy="54610"/>
            </a:xfrm>
            <a:custGeom>
              <a:avLst/>
              <a:gdLst/>
              <a:ahLst/>
              <a:cxnLst/>
              <a:rect l="l" t="t" r="r" b="b"/>
              <a:pathLst>
                <a:path w="100964" h="54610">
                  <a:moveTo>
                    <a:pt x="100939" y="27139"/>
                  </a:moveTo>
                  <a:lnTo>
                    <a:pt x="0" y="0"/>
                  </a:lnTo>
                  <a:lnTo>
                    <a:pt x="0" y="54089"/>
                  </a:lnTo>
                  <a:lnTo>
                    <a:pt x="100939" y="271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22911" y="4969484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76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16535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2667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8546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53847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91146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67578" y="5550789"/>
            <a:ext cx="450215" cy="54610"/>
            <a:chOff x="5667578" y="5550789"/>
            <a:chExt cx="450215" cy="54610"/>
          </a:xfrm>
        </p:grpSpPr>
        <p:sp>
          <p:nvSpPr>
            <p:cNvPr id="21" name="object 21"/>
            <p:cNvSpPr/>
            <p:nvPr/>
          </p:nvSpPr>
          <p:spPr>
            <a:xfrm>
              <a:off x="5667578" y="5579389"/>
              <a:ext cx="410845" cy="0"/>
            </a:xfrm>
            <a:custGeom>
              <a:avLst/>
              <a:gdLst/>
              <a:ahLst/>
              <a:cxnLst/>
              <a:rect l="l" t="t" r="r" b="b"/>
              <a:pathLst>
                <a:path w="410845">
                  <a:moveTo>
                    <a:pt x="410349" y="0"/>
                  </a:moveTo>
                  <a:lnTo>
                    <a:pt x="0" y="0"/>
                  </a:lnTo>
                </a:path>
              </a:pathLst>
            </a:custGeom>
            <a:ln w="13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16815" y="5550789"/>
              <a:ext cx="100965" cy="54610"/>
            </a:xfrm>
            <a:custGeom>
              <a:avLst/>
              <a:gdLst/>
              <a:ahLst/>
              <a:cxnLst/>
              <a:rect l="l" t="t" r="r" b="b"/>
              <a:pathLst>
                <a:path w="100964" h="54610">
                  <a:moveTo>
                    <a:pt x="100939" y="27139"/>
                  </a:moveTo>
                  <a:lnTo>
                    <a:pt x="0" y="0"/>
                  </a:lnTo>
                  <a:lnTo>
                    <a:pt x="0" y="54089"/>
                  </a:lnTo>
                  <a:lnTo>
                    <a:pt x="100939" y="271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22911" y="5577928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76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216535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2667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28546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03246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3175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53847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91146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65832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FLAG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67578" y="6159246"/>
            <a:ext cx="450215" cy="54610"/>
            <a:chOff x="5667578" y="6159246"/>
            <a:chExt cx="450215" cy="54610"/>
          </a:xfrm>
        </p:grpSpPr>
        <p:sp>
          <p:nvSpPr>
            <p:cNvPr id="31" name="object 31"/>
            <p:cNvSpPr/>
            <p:nvPr/>
          </p:nvSpPr>
          <p:spPr>
            <a:xfrm>
              <a:off x="5667578" y="6187833"/>
              <a:ext cx="410845" cy="0"/>
            </a:xfrm>
            <a:custGeom>
              <a:avLst/>
              <a:gdLst/>
              <a:ahLst/>
              <a:cxnLst/>
              <a:rect l="l" t="t" r="r" b="b"/>
              <a:pathLst>
                <a:path w="410845">
                  <a:moveTo>
                    <a:pt x="410349" y="0"/>
                  </a:moveTo>
                  <a:lnTo>
                    <a:pt x="0" y="0"/>
                  </a:lnTo>
                </a:path>
              </a:pathLst>
            </a:custGeom>
            <a:ln w="13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16815" y="6159246"/>
              <a:ext cx="100965" cy="54610"/>
            </a:xfrm>
            <a:custGeom>
              <a:avLst/>
              <a:gdLst/>
              <a:ahLst/>
              <a:cxnLst/>
              <a:rect l="l" t="t" r="r" b="b"/>
              <a:pathLst>
                <a:path w="100964" h="54610">
                  <a:moveTo>
                    <a:pt x="100939" y="27127"/>
                  </a:moveTo>
                  <a:lnTo>
                    <a:pt x="0" y="0"/>
                  </a:lnTo>
                  <a:lnTo>
                    <a:pt x="0" y="54089"/>
                  </a:lnTo>
                  <a:lnTo>
                    <a:pt x="100939" y="27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22911" y="6186373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76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08560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8546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03246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3175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53847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91146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65832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83480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08793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46080" y="4748377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FLAG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83480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08793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46080" y="5356809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83480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FLAG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508793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46080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20766" y="5965266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83480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08793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46080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ESC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20766" y="6573710"/>
            <a:ext cx="442595" cy="442595"/>
          </a:xfrm>
          <a:prstGeom prst="rect">
            <a:avLst/>
          </a:prstGeom>
          <a:ln w="9218">
            <a:solidFill>
              <a:srgbClr val="00000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955"/>
              </a:spcBef>
            </a:pPr>
            <a:r>
              <a:rPr sz="1150" spc="5" dirty="0">
                <a:latin typeface="Arial MT"/>
                <a:cs typeface="Arial MT"/>
              </a:rPr>
              <a:t>B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309876" y="3957379"/>
            <a:ext cx="3696335" cy="6953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escape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conventions</a:t>
            </a:r>
            <a:r>
              <a:rPr sz="2200" spc="5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(stuffing)</a:t>
            </a:r>
            <a:endParaRPr sz="2200">
              <a:latin typeface="Arial MT"/>
              <a:cs typeface="Arial MT"/>
            </a:endParaRPr>
          </a:p>
          <a:p>
            <a:pPr marL="207010" algn="ctr">
              <a:lnSpc>
                <a:spcPct val="100000"/>
              </a:lnSpc>
              <a:spcBef>
                <a:spcPts val="1220"/>
              </a:spcBef>
            </a:pPr>
            <a:r>
              <a:rPr sz="1150" dirty="0">
                <a:latin typeface="Arial MT"/>
                <a:cs typeface="Arial MT"/>
              </a:rPr>
              <a:t>Original</a:t>
            </a:r>
            <a:r>
              <a:rPr sz="1150" spc="-30" dirty="0">
                <a:latin typeface="Arial MT"/>
                <a:cs typeface="Arial MT"/>
              </a:rPr>
              <a:t> </a:t>
            </a:r>
            <a:r>
              <a:rPr sz="1150" spc="5" dirty="0">
                <a:latin typeface="Arial MT"/>
                <a:cs typeface="Arial MT"/>
              </a:rPr>
              <a:t>characters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812334" y="4449884"/>
            <a:ext cx="85407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Arial MT"/>
                <a:cs typeface="Arial MT"/>
              </a:rPr>
              <a:t>After</a:t>
            </a:r>
            <a:r>
              <a:rPr sz="1150" spc="-3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stuffing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667578" y="6767690"/>
            <a:ext cx="450215" cy="54610"/>
            <a:chOff x="5667578" y="6767690"/>
            <a:chExt cx="450215" cy="54610"/>
          </a:xfrm>
        </p:grpSpPr>
        <p:sp>
          <p:nvSpPr>
            <p:cNvPr id="57" name="object 57"/>
            <p:cNvSpPr/>
            <p:nvPr/>
          </p:nvSpPr>
          <p:spPr>
            <a:xfrm>
              <a:off x="5667578" y="6796278"/>
              <a:ext cx="410845" cy="0"/>
            </a:xfrm>
            <a:custGeom>
              <a:avLst/>
              <a:gdLst/>
              <a:ahLst/>
              <a:cxnLst/>
              <a:rect l="l" t="t" r="r" b="b"/>
              <a:pathLst>
                <a:path w="410845">
                  <a:moveTo>
                    <a:pt x="410349" y="0"/>
                  </a:moveTo>
                  <a:lnTo>
                    <a:pt x="0" y="0"/>
                  </a:lnTo>
                </a:path>
              </a:pathLst>
            </a:custGeom>
            <a:ln w="13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16815" y="6767690"/>
              <a:ext cx="100965" cy="54610"/>
            </a:xfrm>
            <a:custGeom>
              <a:avLst/>
              <a:gdLst/>
              <a:ahLst/>
              <a:cxnLst/>
              <a:rect l="l" t="t" r="r" b="b"/>
              <a:pathLst>
                <a:path w="100964" h="54609">
                  <a:moveTo>
                    <a:pt x="100939" y="27139"/>
                  </a:moveTo>
                  <a:lnTo>
                    <a:pt x="0" y="0"/>
                  </a:lnTo>
                  <a:lnTo>
                    <a:pt x="0" y="54089"/>
                  </a:lnTo>
                  <a:lnTo>
                    <a:pt x="100939" y="271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22911" y="6794830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>
                  <a:moveTo>
                    <a:pt x="0" y="0"/>
                  </a:moveTo>
                  <a:lnTo>
                    <a:pt x="54076" y="0"/>
                  </a:lnTo>
                </a:path>
              </a:pathLst>
            </a:custGeom>
            <a:ln w="92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/>
          <p:nvPr/>
        </p:nvSpPr>
        <p:spPr>
          <a:xfrm>
            <a:off x="3666883" y="4661496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79">
                <a:moveTo>
                  <a:pt x="0" y="0"/>
                </a:moveTo>
                <a:lnTo>
                  <a:pt x="1198460" y="0"/>
                </a:lnTo>
              </a:path>
            </a:pathLst>
          </a:custGeom>
          <a:ln w="9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52564" y="4661496"/>
            <a:ext cx="778510" cy="0"/>
          </a:xfrm>
          <a:custGeom>
            <a:avLst/>
            <a:gdLst/>
            <a:ahLst/>
            <a:cxnLst/>
            <a:rect l="l" t="t" r="r" b="b"/>
            <a:pathLst>
              <a:path w="778509">
                <a:moveTo>
                  <a:pt x="0" y="0"/>
                </a:moveTo>
                <a:lnTo>
                  <a:pt x="778459" y="0"/>
                </a:lnTo>
              </a:path>
            </a:pathLst>
          </a:custGeom>
          <a:ln w="92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53331"/>
            <a:ext cx="4800600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Framing</a:t>
            </a:r>
            <a:r>
              <a:rPr spc="-50" dirty="0"/>
              <a:t> </a:t>
            </a:r>
            <a:r>
              <a:rPr lang="en-US" spc="-50" dirty="0"/>
              <a:t>(Byte Stuffing)</a:t>
            </a:r>
            <a:endParaRPr spc="-5" dirty="0"/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10</a:t>
            </a:fld>
            <a:r>
              <a:rPr spc="10" dirty="0"/>
              <a:t>/69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F3F5CB-4DCE-09FD-D41E-6AF4E6CA410C}"/>
              </a:ext>
            </a:extLst>
          </p:cNvPr>
          <p:cNvSpPr txBox="1"/>
          <p:nvPr/>
        </p:nvSpPr>
        <p:spPr>
          <a:xfrm>
            <a:off x="1066800" y="1219200"/>
            <a:ext cx="8610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Problem </a:t>
            </a:r>
            <a:r>
              <a:rPr lang="en-US" sz="2800" b="1" i="0" u="none" strike="noStrike" baseline="0" dirty="0"/>
              <a:t>3. </a:t>
            </a:r>
            <a:r>
              <a:rPr lang="en-US" sz="2800" b="0" i="0" u="none" strike="noStrike" baseline="0" dirty="0"/>
              <a:t>The following data fragment occurs in the middle of a data stream for which the </a:t>
            </a:r>
            <a:r>
              <a:rPr lang="en-US" sz="2800" b="0" i="0" u="none" strike="noStrike" baseline="0" dirty="0" err="1"/>
              <a:t>bytestuffing</a:t>
            </a:r>
            <a:r>
              <a:rPr lang="en-US" sz="2800" b="0" i="0" u="none" strike="noStrike" baseline="0" dirty="0"/>
              <a:t> algorithm described in the text is used: </a:t>
            </a:r>
          </a:p>
          <a:p>
            <a:pPr algn="just"/>
            <a:endParaRPr lang="en-US" sz="2800" b="0" i="0" u="none" strike="noStrike" baseline="0" dirty="0"/>
          </a:p>
          <a:p>
            <a:pPr algn="ctr"/>
            <a:r>
              <a:rPr lang="en-US" sz="2800" b="0" i="0" u="none" strike="noStrike" baseline="0" dirty="0"/>
              <a:t>A B ESC C ESC FLAG </a:t>
            </a:r>
            <a:r>
              <a:rPr lang="en-US" sz="2800" b="0" i="0" u="none" strike="noStrike" baseline="0" dirty="0" err="1"/>
              <a:t>FLAG</a:t>
            </a:r>
            <a:r>
              <a:rPr lang="en-US" sz="2800" b="0" i="0" u="none" strike="noStrike" baseline="0" dirty="0"/>
              <a:t> D.</a:t>
            </a:r>
          </a:p>
          <a:p>
            <a:pPr algn="just"/>
            <a:r>
              <a:rPr lang="en-US" sz="2800" b="0" i="0" u="none" strike="noStrike" baseline="0" dirty="0"/>
              <a:t>What is the output after stuffing?</a:t>
            </a:r>
          </a:p>
          <a:p>
            <a:pPr algn="just"/>
            <a:endParaRPr lang="en-US" sz="28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1DA0903-D474-4D9D-24E4-51F64A1A361E}"/>
              </a:ext>
            </a:extLst>
          </p:cNvPr>
          <p:cNvSpPr txBox="1"/>
          <p:nvPr/>
        </p:nvSpPr>
        <p:spPr>
          <a:xfrm>
            <a:off x="1066800" y="4953000"/>
            <a:ext cx="8686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latin typeface="Times New Roman" panose="02020603050405020304" pitchFamily="18" charset="0"/>
              </a:rPr>
              <a:t>Solution: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After stuffing, we get </a:t>
            </a:r>
          </a:p>
          <a:p>
            <a:endParaRPr lang="en-US" sz="2800" dirty="0">
              <a:latin typeface="Times New Roman" panose="02020603050405020304" pitchFamily="18" charset="0"/>
            </a:endParaRPr>
          </a:p>
          <a:p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A B </a:t>
            </a:r>
            <a:r>
              <a:rPr lang="en-US" sz="2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 C </a:t>
            </a:r>
            <a:r>
              <a:rPr lang="en-US" sz="2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</a:rPr>
              <a:t> 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FLAG </a:t>
            </a:r>
            <a:r>
              <a:rPr lang="en-US" sz="28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</a:rPr>
              <a:t>ESC</a:t>
            </a:r>
            <a:r>
              <a:rPr lang="en-US" sz="2800" b="0" i="0" u="none" strike="noStrike" baseline="0" dirty="0">
                <a:latin typeface="Times New Roman" panose="02020603050405020304" pitchFamily="18" charset="0"/>
              </a:rPr>
              <a:t> FLAG 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961438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5681"/>
            <a:ext cx="347662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Framing</a:t>
            </a:r>
            <a:r>
              <a:rPr spc="-50" dirty="0"/>
              <a:t> </a:t>
            </a:r>
            <a:r>
              <a:rPr dirty="0"/>
              <a:t>(3</a:t>
            </a:r>
            <a:r>
              <a:rPr spc="-2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3)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11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930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034327" y="3952278"/>
            <a:ext cx="87630" cy="385445"/>
            <a:chOff x="7034327" y="3952278"/>
            <a:chExt cx="87630" cy="385445"/>
          </a:xfrm>
        </p:grpSpPr>
        <p:sp>
          <p:nvSpPr>
            <p:cNvPr id="5" name="object 5"/>
            <p:cNvSpPr/>
            <p:nvPr/>
          </p:nvSpPr>
          <p:spPr>
            <a:xfrm>
              <a:off x="7080618" y="4020553"/>
              <a:ext cx="0" cy="316865"/>
            </a:xfrm>
            <a:custGeom>
              <a:avLst/>
              <a:gdLst/>
              <a:ahLst/>
              <a:cxnLst/>
              <a:rect l="l" t="t" r="r" b="b"/>
              <a:pathLst>
                <a:path h="316864">
                  <a:moveTo>
                    <a:pt x="0" y="0"/>
                  </a:moveTo>
                  <a:lnTo>
                    <a:pt x="0" y="316572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34327" y="3952278"/>
              <a:ext cx="87630" cy="163195"/>
            </a:xfrm>
            <a:custGeom>
              <a:avLst/>
              <a:gdLst/>
              <a:ahLst/>
              <a:cxnLst/>
              <a:rect l="l" t="t" r="r" b="b"/>
              <a:pathLst>
                <a:path w="87629" h="163195">
                  <a:moveTo>
                    <a:pt x="87325" y="162941"/>
                  </a:moveTo>
                  <a:lnTo>
                    <a:pt x="43802" y="0"/>
                  </a:lnTo>
                  <a:lnTo>
                    <a:pt x="0" y="162941"/>
                  </a:lnTo>
                  <a:lnTo>
                    <a:pt x="87325" y="1629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78129" y="4018051"/>
              <a:ext cx="0" cy="87630"/>
            </a:xfrm>
            <a:custGeom>
              <a:avLst/>
              <a:gdLst/>
              <a:ahLst/>
              <a:cxnLst/>
              <a:rect l="l" t="t" r="r" b="b"/>
              <a:pathLst>
                <a:path h="87629">
                  <a:moveTo>
                    <a:pt x="0" y="87287"/>
                  </a:moveTo>
                  <a:lnTo>
                    <a:pt x="0" y="0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893866" y="3930484"/>
            <a:ext cx="697230" cy="366395"/>
            <a:chOff x="5893866" y="3930484"/>
            <a:chExt cx="697230" cy="366395"/>
          </a:xfrm>
        </p:grpSpPr>
        <p:sp>
          <p:nvSpPr>
            <p:cNvPr id="9" name="object 9"/>
            <p:cNvSpPr/>
            <p:nvPr/>
          </p:nvSpPr>
          <p:spPr>
            <a:xfrm>
              <a:off x="5958624" y="3964647"/>
              <a:ext cx="624840" cy="324485"/>
            </a:xfrm>
            <a:custGeom>
              <a:avLst/>
              <a:gdLst/>
              <a:ahLst/>
              <a:cxnLst/>
              <a:rect l="l" t="t" r="r" b="b"/>
              <a:pathLst>
                <a:path w="624840" h="324485">
                  <a:moveTo>
                    <a:pt x="0" y="0"/>
                  </a:moveTo>
                  <a:lnTo>
                    <a:pt x="624433" y="323913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93866" y="3930484"/>
              <a:ext cx="165100" cy="114300"/>
            </a:xfrm>
            <a:custGeom>
              <a:avLst/>
              <a:gdLst/>
              <a:ahLst/>
              <a:cxnLst/>
              <a:rect l="l" t="t" r="r" b="b"/>
              <a:pathLst>
                <a:path w="165100" h="114300">
                  <a:moveTo>
                    <a:pt x="164668" y="36410"/>
                  </a:moveTo>
                  <a:lnTo>
                    <a:pt x="0" y="0"/>
                  </a:lnTo>
                  <a:lnTo>
                    <a:pt x="124460" y="113919"/>
                  </a:lnTo>
                  <a:lnTo>
                    <a:pt x="164668" y="36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52261" y="3960774"/>
              <a:ext cx="77470" cy="40640"/>
            </a:xfrm>
            <a:custGeom>
              <a:avLst/>
              <a:gdLst/>
              <a:ahLst/>
              <a:cxnLst/>
              <a:rect l="l" t="t" r="r" b="b"/>
              <a:pathLst>
                <a:path w="77470" h="40639">
                  <a:moveTo>
                    <a:pt x="77470" y="40195"/>
                  </a:moveTo>
                  <a:lnTo>
                    <a:pt x="0" y="0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580157" y="3928198"/>
            <a:ext cx="697230" cy="366395"/>
            <a:chOff x="7580157" y="3928198"/>
            <a:chExt cx="697230" cy="366395"/>
          </a:xfrm>
        </p:grpSpPr>
        <p:sp>
          <p:nvSpPr>
            <p:cNvPr id="13" name="object 13"/>
            <p:cNvSpPr/>
            <p:nvPr/>
          </p:nvSpPr>
          <p:spPr>
            <a:xfrm>
              <a:off x="7588059" y="3962387"/>
              <a:ext cx="624840" cy="324485"/>
            </a:xfrm>
            <a:custGeom>
              <a:avLst/>
              <a:gdLst/>
              <a:ahLst/>
              <a:cxnLst/>
              <a:rect l="l" t="t" r="r" b="b"/>
              <a:pathLst>
                <a:path w="624840" h="324485">
                  <a:moveTo>
                    <a:pt x="624433" y="0"/>
                  </a:moveTo>
                  <a:lnTo>
                    <a:pt x="0" y="323888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12582" y="3928198"/>
              <a:ext cx="165100" cy="114300"/>
            </a:xfrm>
            <a:custGeom>
              <a:avLst/>
              <a:gdLst/>
              <a:ahLst/>
              <a:cxnLst/>
              <a:rect l="l" t="t" r="r" b="b"/>
              <a:pathLst>
                <a:path w="165100" h="114300">
                  <a:moveTo>
                    <a:pt x="164680" y="0"/>
                  </a:moveTo>
                  <a:lnTo>
                    <a:pt x="0" y="36410"/>
                  </a:lnTo>
                  <a:lnTo>
                    <a:pt x="40208" y="113931"/>
                  </a:lnTo>
                  <a:lnTo>
                    <a:pt x="164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41385" y="3958501"/>
              <a:ext cx="78105" cy="40640"/>
            </a:xfrm>
            <a:custGeom>
              <a:avLst/>
              <a:gdLst/>
              <a:ahLst/>
              <a:cxnLst/>
              <a:rect l="l" t="t" r="r" b="b"/>
              <a:pathLst>
                <a:path w="78104" h="40639">
                  <a:moveTo>
                    <a:pt x="0" y="40182"/>
                  </a:moveTo>
                  <a:lnTo>
                    <a:pt x="77495" y="0"/>
                  </a:lnTo>
                </a:path>
              </a:pathLst>
            </a:custGeom>
            <a:ln w="158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616049" y="554188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70023" y="1789515"/>
            <a:ext cx="7515859" cy="454034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26415" indent="-514350">
              <a:lnSpc>
                <a:spcPct val="100000"/>
              </a:lnSpc>
              <a:spcBef>
                <a:spcPts val="1125"/>
              </a:spcBef>
              <a:buFont typeface="+mj-lt"/>
              <a:buAutoNum type="arabicPeriod" startAt="3"/>
              <a:tabLst>
                <a:tab pos="413384" algn="l"/>
              </a:tabLst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Flags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with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bit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stuffing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869"/>
              </a:spcBef>
            </a:pP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Flag</a:t>
            </a:r>
            <a:r>
              <a:rPr sz="2200" spc="-4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01111110</a:t>
            </a:r>
            <a:endParaRPr sz="2200" dirty="0">
              <a:latin typeface="Arial MT"/>
              <a:cs typeface="Arial MT"/>
            </a:endParaRPr>
          </a:p>
          <a:p>
            <a:pPr marL="1423670">
              <a:lnSpc>
                <a:spcPct val="100000"/>
              </a:lnSpc>
              <a:spcBef>
                <a:spcPts val="515"/>
              </a:spcBef>
              <a:tabLst>
                <a:tab pos="1885314" algn="l"/>
              </a:tabLst>
            </a:pPr>
            <a:r>
              <a:rPr sz="2000" spc="-5" dirty="0">
                <a:latin typeface="Arial MT"/>
                <a:cs typeface="Arial MT"/>
              </a:rPr>
              <a:t>(a)	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 MT"/>
              <a:cs typeface="Arial MT"/>
            </a:endParaRPr>
          </a:p>
          <a:p>
            <a:pPr marL="1423670">
              <a:lnSpc>
                <a:spcPct val="100000"/>
              </a:lnSpc>
              <a:spcBef>
                <a:spcPts val="1355"/>
              </a:spcBef>
              <a:tabLst>
                <a:tab pos="1879600" algn="l"/>
              </a:tabLst>
            </a:pPr>
            <a:r>
              <a:rPr sz="2000" spc="-5" dirty="0">
                <a:latin typeface="Arial MT"/>
                <a:cs typeface="Arial MT"/>
              </a:rPr>
              <a:t>(b)	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1 1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1 0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1 1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1 1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1 0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0 1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 dirty="0">
              <a:latin typeface="Arial MT"/>
              <a:cs typeface="Arial MT"/>
            </a:endParaRPr>
          </a:p>
          <a:p>
            <a:pPr marL="4496435">
              <a:lnSpc>
                <a:spcPct val="100000"/>
              </a:lnSpc>
            </a:pPr>
            <a:r>
              <a:rPr sz="2000" spc="-5" dirty="0">
                <a:latin typeface="Arial MT"/>
                <a:cs typeface="Arial MT"/>
              </a:rPr>
              <a:t>Stuffed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bits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 dirty="0">
              <a:latin typeface="Arial MT"/>
              <a:cs typeface="Arial MT"/>
            </a:endParaRPr>
          </a:p>
          <a:p>
            <a:pPr marL="1430655">
              <a:lnSpc>
                <a:spcPct val="100000"/>
              </a:lnSpc>
              <a:tabLst>
                <a:tab pos="1906905" algn="l"/>
              </a:tabLst>
            </a:pPr>
            <a:r>
              <a:rPr sz="2000" spc="-5" dirty="0">
                <a:latin typeface="Arial MT"/>
                <a:cs typeface="Arial MT"/>
              </a:rPr>
              <a:t>(c)	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0</a:t>
            </a:r>
            <a:endParaRPr sz="2000" dirty="0">
              <a:latin typeface="Arial MT"/>
              <a:cs typeface="Arial MT"/>
            </a:endParaRPr>
          </a:p>
          <a:p>
            <a:pPr marL="526415" indent="-514350">
              <a:lnSpc>
                <a:spcPct val="100000"/>
              </a:lnSpc>
              <a:spcBef>
                <a:spcPts val="1250"/>
              </a:spcBef>
              <a:buFont typeface="+mj-lt"/>
              <a:buAutoNum type="arabicPeriod" startAt="4"/>
              <a:tabLst>
                <a:tab pos="413384" algn="l"/>
              </a:tabLst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Physical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layer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coding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violations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869"/>
              </a:spcBef>
            </a:pP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physical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6699"/>
                </a:solidFill>
                <a:latin typeface="Arial MT"/>
                <a:cs typeface="Arial MT"/>
              </a:rPr>
              <a:t>layer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provides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 a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“frame”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20" dirty="0">
                <a:solidFill>
                  <a:srgbClr val="006699"/>
                </a:solidFill>
                <a:latin typeface="Arial MT"/>
                <a:cs typeface="Arial MT"/>
              </a:rPr>
              <a:t>service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282257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Error</a:t>
            </a:r>
            <a:r>
              <a:rPr spc="-75" dirty="0"/>
              <a:t> </a:t>
            </a:r>
            <a:r>
              <a:rPr spc="-5" dirty="0"/>
              <a:t>Control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12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093844" y="208162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93844" y="338921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3844" y="429294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3844" y="559901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47800" y="1905000"/>
            <a:ext cx="7499350" cy="43535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240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Receiver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provides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feedback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 form of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positive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or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negative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acknowledgements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(ACKs)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Dropped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frames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are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handled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using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timeouts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500" dirty="0">
              <a:latin typeface="Arial MT"/>
              <a:cs typeface="Arial MT"/>
            </a:endParaRPr>
          </a:p>
          <a:p>
            <a:pPr marL="12700" marR="324485">
              <a:lnSpc>
                <a:spcPts val="3170"/>
              </a:lnSpc>
              <a:spcBef>
                <a:spcPts val="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Dropped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transmissions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or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ACKs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are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handled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by </a:t>
            </a:r>
            <a:r>
              <a:rPr sz="2650" spc="-7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retransmitting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 dirty="0">
              <a:latin typeface="Arial MT"/>
              <a:cs typeface="Arial MT"/>
            </a:endParaRPr>
          </a:p>
          <a:p>
            <a:pPr marL="12700" marR="567690">
              <a:lnSpc>
                <a:spcPts val="3170"/>
              </a:lnSpc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Duplicate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frames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are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handled using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sequence </a:t>
            </a:r>
            <a:r>
              <a:rPr sz="2650" spc="-7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numbers</a:t>
            </a:r>
            <a:endParaRPr sz="26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0925"/>
            <a:ext cx="276161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/>
              <a:t>Flow</a:t>
            </a:r>
            <a:r>
              <a:rPr sz="4000" spc="-65" dirty="0"/>
              <a:t> </a:t>
            </a:r>
            <a:r>
              <a:rPr sz="4000" spc="-5" dirty="0"/>
              <a:t>Control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13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6288" y="1462630"/>
            <a:ext cx="5307457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650" spc="5" dirty="0">
                <a:latin typeface="Arial MT"/>
                <a:cs typeface="Arial MT"/>
              </a:rPr>
              <a:t>-&gt;</a:t>
            </a:r>
            <a:r>
              <a:rPr sz="2650" spc="5" dirty="0">
                <a:latin typeface="Arial MT"/>
                <a:cs typeface="Arial MT"/>
              </a:rPr>
              <a:t>Slowing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dirty="0">
                <a:latin typeface="Arial MT"/>
                <a:cs typeface="Arial MT"/>
              </a:rPr>
              <a:t>down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spc="15" dirty="0">
                <a:latin typeface="Arial MT"/>
                <a:cs typeface="Arial MT"/>
              </a:rPr>
              <a:t>a</a:t>
            </a:r>
            <a:r>
              <a:rPr sz="2650" spc="-10" dirty="0">
                <a:latin typeface="Arial MT"/>
                <a:cs typeface="Arial MT"/>
              </a:rPr>
              <a:t> </a:t>
            </a:r>
            <a:r>
              <a:rPr sz="2650" spc="-15" dirty="0">
                <a:latin typeface="Arial MT"/>
                <a:cs typeface="Arial MT"/>
              </a:rPr>
              <a:t>fast</a:t>
            </a:r>
            <a:r>
              <a:rPr sz="2650" dirty="0">
                <a:latin typeface="Arial MT"/>
                <a:cs typeface="Arial MT"/>
              </a:rPr>
              <a:t> </a:t>
            </a:r>
            <a:r>
              <a:rPr sz="2650" spc="10" dirty="0">
                <a:latin typeface="Arial MT"/>
                <a:cs typeface="Arial MT"/>
              </a:rPr>
              <a:t>sender</a:t>
            </a:r>
            <a:endParaRPr sz="265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70226" y="3266433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24200" y="3089809"/>
            <a:ext cx="423608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feedback-based</a:t>
            </a:r>
            <a:r>
              <a:rPr sz="2650" spc="-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flow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control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0226" y="4814817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24200" y="4638193"/>
            <a:ext cx="3456940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rate-based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flow</a:t>
            </a:r>
            <a:r>
              <a:rPr sz="26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control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Reliable bitstream between adjacent computers</a:t>
            </a:r>
          </a:p>
          <a:p>
            <a:pPr lvl="1"/>
            <a:r>
              <a:rPr lang="en-US" sz="2800" dirty="0"/>
              <a:t>Design Issues</a:t>
            </a:r>
          </a:p>
          <a:p>
            <a:pPr lvl="1"/>
            <a:r>
              <a:rPr lang="en-US" sz="2800" dirty="0">
                <a:highlight>
                  <a:srgbClr val="FFFF00"/>
                </a:highlight>
              </a:rPr>
              <a:t>Error Detection and Correction  </a:t>
            </a:r>
          </a:p>
          <a:p>
            <a:pPr lvl="1"/>
            <a:r>
              <a:rPr lang="en-US" sz="2800" dirty="0"/>
              <a:t>Elementary Protocols</a:t>
            </a:r>
          </a:p>
          <a:p>
            <a:pPr lvl="1"/>
            <a:r>
              <a:rPr lang="en-US" sz="2800" dirty="0"/>
              <a:t>Sliding Window Protocols  Protocol Verification</a:t>
            </a:r>
          </a:p>
          <a:p>
            <a:pPr lvl="1"/>
            <a:r>
              <a:rPr lang="en-US" sz="2800" dirty="0"/>
              <a:t>Example Data Link Protocols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Chapter 3 – p.</a:t>
            </a:r>
            <a:fld id="{81D60167-4931-47E6-BA6A-407CBD079E47}" type="slidenum">
              <a:rPr dirty="0"/>
              <a:pPr/>
              <a:t>14</a:t>
            </a:fld>
            <a:r>
              <a:rPr dirty="0"/>
              <a:t>/69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59394"/>
            <a:ext cx="6654800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3.2 </a:t>
            </a:r>
            <a:r>
              <a:rPr spc="-5" dirty="0"/>
              <a:t>Error</a:t>
            </a:r>
            <a:r>
              <a:rPr spc="-10" dirty="0"/>
              <a:t> </a:t>
            </a:r>
            <a:r>
              <a:rPr spc="-5" dirty="0"/>
              <a:t>Detection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Correction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15</a:t>
            </a:fld>
            <a:r>
              <a:rPr spc="10" dirty="0"/>
              <a:t>/69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E917F-CDA5-A1EA-10F7-51596A88BA3F}"/>
              </a:ext>
            </a:extLst>
          </p:cNvPr>
          <p:cNvSpPr txBox="1"/>
          <p:nvPr/>
        </p:nvSpPr>
        <p:spPr>
          <a:xfrm>
            <a:off x="914400" y="1095607"/>
            <a:ext cx="8452485" cy="6252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0" u="none" strike="noStrike" baseline="0" dirty="0">
                <a:latin typeface="Times-Roman"/>
              </a:rPr>
              <a:t>Network designers have developed </a:t>
            </a:r>
            <a:r>
              <a:rPr lang="en-US" sz="2800" b="1" i="0" u="none" strike="noStrike" baseline="0" dirty="0">
                <a:latin typeface="Times-Roman"/>
              </a:rPr>
              <a:t>two basic strategies </a:t>
            </a:r>
            <a:r>
              <a:rPr lang="en-US" sz="2800" b="0" i="0" u="none" strike="noStrike" baseline="0" dirty="0">
                <a:latin typeface="Times-Roman"/>
              </a:rPr>
              <a:t>for dealing with errors. Both </a:t>
            </a:r>
            <a:r>
              <a:rPr lang="en-US" sz="2800" b="0" i="0" u="none" strike="noStrike" baseline="0" dirty="0">
                <a:highlight>
                  <a:srgbClr val="C0C0C0"/>
                </a:highlight>
                <a:latin typeface="Times-Roman"/>
              </a:rPr>
              <a:t>add redundant information </a:t>
            </a:r>
            <a:r>
              <a:rPr lang="en-US" sz="2800" b="0" i="0" u="none" strike="noStrike" baseline="0" dirty="0">
                <a:latin typeface="Times-Roman"/>
              </a:rPr>
              <a:t>to the data that is sent.</a:t>
            </a:r>
          </a:p>
          <a:p>
            <a:pPr algn="just"/>
            <a:endParaRPr lang="en-US" sz="2800" b="0" i="0" u="none" strike="noStrike" baseline="0" dirty="0">
              <a:latin typeface="Times-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Times-Roman"/>
              </a:rPr>
              <a:t>One strategy is to deduce what the transmitted data must have been: </a:t>
            </a:r>
            <a:r>
              <a:rPr lang="en-US" sz="2800" b="1" i="0" u="none" strike="noStrike" baseline="0" dirty="0">
                <a:latin typeface="Times-Roman"/>
              </a:rPr>
              <a:t>Error Correction</a:t>
            </a:r>
            <a:endParaRPr lang="en-US" sz="2800" b="0" i="0" u="none" strike="noStrike" baseline="0" dirty="0">
              <a:latin typeface="Times-Roman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>
                <a:latin typeface="Times-Roman"/>
              </a:rPr>
              <a:t>The other is to only deduce that an error has occurred (but not which error); </a:t>
            </a:r>
            <a:r>
              <a:rPr lang="en-US" sz="2800" b="1" i="0" u="none" strike="noStrike" baseline="0" dirty="0">
                <a:latin typeface="Times-Roman"/>
              </a:rPr>
              <a:t>Error Detection</a:t>
            </a:r>
          </a:p>
          <a:p>
            <a:pPr algn="just"/>
            <a:endParaRPr lang="en-US" sz="2800" b="0" i="0" u="none" strike="noStrike" baseline="0" dirty="0">
              <a:latin typeface="Times-Roman"/>
            </a:endParaRPr>
          </a:p>
          <a:p>
            <a:pPr algn="just"/>
            <a:r>
              <a:rPr lang="en-US" sz="2800" b="0" i="0" u="none" strike="noStrike" baseline="0" dirty="0">
                <a:latin typeface="Times-Roman"/>
              </a:rPr>
              <a:t>Neither error-correcting codes nor error-detecting codes can handle </a:t>
            </a:r>
            <a:r>
              <a:rPr lang="en-US" sz="2800" b="1" i="0" u="none" strike="noStrike" baseline="0" dirty="0">
                <a:latin typeface="Times-Roman"/>
              </a:rPr>
              <a:t>all possible errors</a:t>
            </a:r>
            <a:r>
              <a:rPr lang="en-US" sz="2800" b="0" i="0" u="none" strike="noStrike" baseline="0" dirty="0">
                <a:latin typeface="Times-Roman"/>
              </a:rPr>
              <a:t>. </a:t>
            </a:r>
          </a:p>
          <a:p>
            <a:pPr marL="695325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800" spc="5" dirty="0">
                <a:cs typeface="Arial MT"/>
              </a:rPr>
              <a:t>Error</a:t>
            </a:r>
            <a:r>
              <a:rPr lang="en-US" sz="2800" spc="-5" dirty="0">
                <a:cs typeface="Arial MT"/>
              </a:rPr>
              <a:t> </a:t>
            </a:r>
            <a:r>
              <a:rPr lang="en-US" sz="2800" spc="10" dirty="0">
                <a:cs typeface="Arial MT"/>
              </a:rPr>
              <a:t>correcting is </a:t>
            </a:r>
            <a:r>
              <a:rPr lang="en-US" sz="2800" spc="5" dirty="0">
                <a:cs typeface="Arial MT"/>
              </a:rPr>
              <a:t>used</a:t>
            </a:r>
            <a:r>
              <a:rPr lang="en-US" sz="2800" spc="15" dirty="0">
                <a:cs typeface="Arial MT"/>
              </a:rPr>
              <a:t> </a:t>
            </a:r>
            <a:r>
              <a:rPr lang="en-US" sz="2800" spc="10" dirty="0">
                <a:cs typeface="Arial MT"/>
              </a:rPr>
              <a:t>on </a:t>
            </a:r>
            <a:r>
              <a:rPr lang="en-US" sz="2800" dirty="0">
                <a:cs typeface="Arial MT"/>
              </a:rPr>
              <a:t>unreliable</a:t>
            </a:r>
            <a:r>
              <a:rPr lang="en-US" sz="2800" spc="35" dirty="0">
                <a:cs typeface="Arial MT"/>
              </a:rPr>
              <a:t> </a:t>
            </a:r>
            <a:r>
              <a:rPr lang="en-US" sz="2800" spc="5" dirty="0">
                <a:cs typeface="Arial MT"/>
              </a:rPr>
              <a:t>links</a:t>
            </a:r>
          </a:p>
          <a:p>
            <a:pPr marL="695325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800" spc="5" dirty="0">
                <a:cs typeface="Arial MT"/>
              </a:rPr>
              <a:t>Error</a:t>
            </a:r>
            <a:r>
              <a:rPr lang="en-US" sz="2800" spc="-5" dirty="0">
                <a:cs typeface="Arial MT"/>
              </a:rPr>
              <a:t> </a:t>
            </a:r>
            <a:r>
              <a:rPr lang="en-US" sz="2800" dirty="0">
                <a:cs typeface="Arial MT"/>
              </a:rPr>
              <a:t>detecting (</a:t>
            </a:r>
            <a:r>
              <a:rPr lang="en-US" sz="2800" spc="5" dirty="0">
                <a:cs typeface="Arial MT"/>
              </a:rPr>
              <a:t>enough</a:t>
            </a:r>
            <a:r>
              <a:rPr lang="en-US" sz="2800" spc="20" dirty="0">
                <a:cs typeface="Arial MT"/>
              </a:rPr>
              <a:t> </a:t>
            </a:r>
            <a:r>
              <a:rPr lang="en-US" sz="2800" spc="10" dirty="0">
                <a:cs typeface="Arial MT"/>
              </a:rPr>
              <a:t>to</a:t>
            </a:r>
            <a:r>
              <a:rPr lang="en-US" sz="2800" spc="5" dirty="0">
                <a:cs typeface="Arial MT"/>
              </a:rPr>
              <a:t> </a:t>
            </a:r>
            <a:r>
              <a:rPr lang="en-US" sz="2800" dirty="0">
                <a:cs typeface="Arial MT"/>
              </a:rPr>
              <a:t>know</a:t>
            </a:r>
            <a:r>
              <a:rPr lang="en-US" sz="2800" spc="10" dirty="0">
                <a:cs typeface="Arial MT"/>
              </a:rPr>
              <a:t> </a:t>
            </a:r>
            <a:r>
              <a:rPr lang="en-US" sz="2800" spc="15" dirty="0">
                <a:cs typeface="Arial MT"/>
              </a:rPr>
              <a:t>something</a:t>
            </a:r>
            <a:r>
              <a:rPr lang="en-US" sz="2800" spc="-15" dirty="0">
                <a:cs typeface="Arial MT"/>
              </a:rPr>
              <a:t> </a:t>
            </a:r>
            <a:r>
              <a:rPr lang="en-US" sz="2800" dirty="0">
                <a:cs typeface="Arial MT"/>
              </a:rPr>
              <a:t>went</a:t>
            </a:r>
            <a:r>
              <a:rPr lang="en-US" sz="2800" spc="20" dirty="0">
                <a:cs typeface="Arial MT"/>
              </a:rPr>
              <a:t> </a:t>
            </a:r>
            <a:r>
              <a:rPr lang="en-US" sz="2800" spc="10" dirty="0">
                <a:cs typeface="Arial MT"/>
              </a:rPr>
              <a:t>wrong) is </a:t>
            </a:r>
            <a:r>
              <a:rPr lang="en-US" sz="2800" spc="-595" dirty="0">
                <a:cs typeface="Arial MT"/>
              </a:rPr>
              <a:t> </a:t>
            </a:r>
            <a:r>
              <a:rPr lang="en-US" sz="2800" spc="5" dirty="0">
                <a:cs typeface="Arial MT"/>
              </a:rPr>
              <a:t>used</a:t>
            </a:r>
            <a:r>
              <a:rPr lang="en-US" sz="2800" spc="15" dirty="0">
                <a:cs typeface="Arial MT"/>
              </a:rPr>
              <a:t> </a:t>
            </a:r>
            <a:r>
              <a:rPr lang="en-US" sz="2800" spc="10" dirty="0">
                <a:cs typeface="Arial MT"/>
              </a:rPr>
              <a:t>on</a:t>
            </a:r>
            <a:r>
              <a:rPr lang="en-US" sz="2800" spc="15" dirty="0">
                <a:cs typeface="Arial MT"/>
              </a:rPr>
              <a:t> </a:t>
            </a:r>
            <a:r>
              <a:rPr lang="en-US" sz="2800" dirty="0">
                <a:cs typeface="Arial MT"/>
              </a:rPr>
              <a:t>reliable</a:t>
            </a:r>
            <a:r>
              <a:rPr lang="en-US" sz="2800" spc="25" dirty="0">
                <a:cs typeface="Arial MT"/>
              </a:rPr>
              <a:t> </a:t>
            </a:r>
            <a:r>
              <a:rPr lang="en-US" sz="2800" spc="5" dirty="0">
                <a:cs typeface="Arial MT"/>
              </a:rPr>
              <a:t>links. Just retransmission.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265640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59394"/>
            <a:ext cx="6654800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3.2 </a:t>
            </a:r>
            <a:r>
              <a:rPr spc="-5" dirty="0"/>
              <a:t>Error</a:t>
            </a:r>
            <a:r>
              <a:rPr spc="-10" dirty="0"/>
              <a:t> </a:t>
            </a:r>
            <a:r>
              <a:rPr spc="-5" dirty="0"/>
              <a:t>Detection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Correction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16</a:t>
            </a:fld>
            <a:r>
              <a:rPr spc="10" dirty="0"/>
              <a:t>/69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161B421-3E26-B235-2441-78E3DB163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408" y="931474"/>
            <a:ext cx="861060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Types of Errors: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Errors can be of three types, namely single bit errors, multiple bit errors, and burst errors.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Single bit 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− In the received frame, only one bit has been corrupted, i.e. either changed from 0 to 1 or from 1 to 0.  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  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Multiple bits 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− In the received frame, more than one bits are corrupted.  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  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Burst 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− In the received frame, more than one consecutive bits are corrupted.    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C11E4C-E2DA-818F-4420-C368E2F31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257" y="2244402"/>
            <a:ext cx="4214847" cy="150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8E0DEC20-9372-A411-2348-FB73378D8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971" y="4146075"/>
            <a:ext cx="4214848" cy="157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5539C05-02CB-156A-F635-318C72F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685" y="6172564"/>
            <a:ext cx="4063419" cy="150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698281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59394"/>
            <a:ext cx="6654800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3.2 </a:t>
            </a:r>
            <a:r>
              <a:rPr spc="-5" dirty="0"/>
              <a:t>Error</a:t>
            </a:r>
            <a:r>
              <a:rPr spc="-10" dirty="0"/>
              <a:t> </a:t>
            </a:r>
            <a:r>
              <a:rPr spc="-5" dirty="0"/>
              <a:t>Detection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Correction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17</a:t>
            </a:fld>
            <a:r>
              <a:rPr spc="10" dirty="0"/>
              <a:t>/69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E917F-CDA5-A1EA-10F7-51596A88BA3F}"/>
              </a:ext>
            </a:extLst>
          </p:cNvPr>
          <p:cNvSpPr txBox="1"/>
          <p:nvPr/>
        </p:nvSpPr>
        <p:spPr>
          <a:xfrm>
            <a:off x="1066799" y="1219200"/>
            <a:ext cx="83000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-Roman"/>
              </a:rPr>
              <a:t>We will examine three different error-detecting  codes. They are all linear, systematic block codes:</a:t>
            </a:r>
          </a:p>
          <a:p>
            <a:pPr lvl="1"/>
            <a:r>
              <a:rPr lang="en-US" sz="2400" b="0" i="0" u="none" strike="noStrike" baseline="0" dirty="0">
                <a:latin typeface="Times-Roman"/>
              </a:rPr>
              <a:t>1. Parity.</a:t>
            </a:r>
          </a:p>
          <a:p>
            <a:pPr lvl="1"/>
            <a:r>
              <a:rPr lang="en-US" sz="2400" b="0" i="0" u="none" strike="noStrike" baseline="0" dirty="0">
                <a:latin typeface="Times-Roman"/>
              </a:rPr>
              <a:t>2. Checksums.</a:t>
            </a:r>
          </a:p>
          <a:p>
            <a:pPr lvl="1"/>
            <a:r>
              <a:rPr lang="en-US" sz="2400" b="0" i="0" u="none" strike="noStrike" baseline="0" dirty="0">
                <a:latin typeface="Times-Roman"/>
              </a:rPr>
              <a:t>3. Cyclic Redundancy Checks (CRCs).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34293-E7F4-36DE-4644-6DC24C55C5DE}"/>
              </a:ext>
            </a:extLst>
          </p:cNvPr>
          <p:cNvSpPr txBox="1"/>
          <p:nvPr/>
        </p:nvSpPr>
        <p:spPr>
          <a:xfrm>
            <a:off x="1066799" y="3268986"/>
            <a:ext cx="83820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Parity Check</a:t>
            </a:r>
          </a:p>
          <a:p>
            <a:pPr algn="just"/>
            <a:r>
              <a:rPr lang="en-US" sz="2400" dirty="0"/>
              <a:t>The parity check is done by adding an extra bit, called parity bit to the data to make a number of 1s either even in case of even parity or odd in case of odd parity.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In case of even parity: </a:t>
            </a:r>
            <a:r>
              <a:rPr lang="en-US" sz="2400" dirty="0"/>
              <a:t>If a number of 1s is even then parity bit value is 0. If the number of 1s is odd then parity bit value is 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In case of odd parity: </a:t>
            </a:r>
            <a:r>
              <a:rPr lang="en-US" sz="2400" dirty="0"/>
              <a:t>If a number of 1s is odd then parity bit value is 0. If a number of 1s is even then parity bit value is 1.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parity check is suitable for </a:t>
            </a:r>
            <a:r>
              <a:rPr lang="en-US" sz="2400" b="1" dirty="0"/>
              <a:t>single bit error detection </a:t>
            </a:r>
            <a:r>
              <a:rPr lang="en-US" sz="2400" dirty="0"/>
              <a:t>only.</a:t>
            </a:r>
          </a:p>
        </p:txBody>
      </p:sp>
    </p:spTree>
    <p:extLst>
      <p:ext uri="{BB962C8B-B14F-4D97-AF65-F5344CB8AC3E}">
        <p14:creationId xmlns:p14="http://schemas.microsoft.com/office/powerpoint/2010/main" val="58867702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7674C-7DA6-CCA0-BF98-4885716A8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7" y="2133600"/>
            <a:ext cx="8470365" cy="4201623"/>
          </a:xfr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5EDFA21B-B511-8ADE-33C8-52216F75A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6288" y="359394"/>
            <a:ext cx="6654800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3.2 </a:t>
            </a:r>
            <a:r>
              <a:rPr spc="-5" dirty="0"/>
              <a:t>Error</a:t>
            </a:r>
            <a:r>
              <a:rPr spc="-10" dirty="0"/>
              <a:t> </a:t>
            </a:r>
            <a:r>
              <a:rPr spc="-5" dirty="0"/>
              <a:t>Detection </a:t>
            </a:r>
            <a:r>
              <a:rPr dirty="0"/>
              <a:t>and</a:t>
            </a:r>
            <a:r>
              <a:rPr spc="-15" dirty="0"/>
              <a:t> </a:t>
            </a:r>
            <a:r>
              <a:rPr spc="-5" dirty="0"/>
              <a:t>Correction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D74A6-4A4A-01E8-8580-119B8C9B02C3}"/>
              </a:ext>
            </a:extLst>
          </p:cNvPr>
          <p:cNvSpPr txBox="1"/>
          <p:nvPr/>
        </p:nvSpPr>
        <p:spPr>
          <a:xfrm>
            <a:off x="4114800" y="1096821"/>
            <a:ext cx="2209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Even parity</a:t>
            </a:r>
          </a:p>
        </p:txBody>
      </p:sp>
    </p:spTree>
    <p:extLst>
      <p:ext uri="{BB962C8B-B14F-4D97-AF65-F5344CB8AC3E}">
        <p14:creationId xmlns:p14="http://schemas.microsoft.com/office/powerpoint/2010/main" val="2957121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9F151D8-6182-EDEE-41EF-CEFC628E0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27440"/>
            <a:ext cx="39624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divided into k segments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of m bits.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In the sender’s end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segments are added using 1’s complement arithmetic to get the sum.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The sum is complemented to get the checksum.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checksum segment is sent along with the data segments.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At the receiver’s 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 received segments are added using 1’s complement arithmetic to get the sum. The sum is complemented.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the result is zero, the received data is accepted; otherwise discarded.</a:t>
            </a:r>
          </a:p>
        </p:txBody>
      </p:sp>
      <p:pic>
        <p:nvPicPr>
          <p:cNvPr id="2050" name="Picture 2" descr="2 (1)">
            <a:hlinkClick r:id="rId2"/>
            <a:extLst>
              <a:ext uri="{FF2B5EF4-FFF2-40B4-BE49-F238E27FC236}">
                <a16:creationId xmlns:a16="http://schemas.microsoft.com/office/drawing/2014/main" id="{25563FC9-AFC0-FC9E-9BE1-20CD13C0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1347281"/>
            <a:ext cx="5044068" cy="468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10225A-DABC-C0EE-139E-D04DFF206FA2}"/>
              </a:ext>
            </a:extLst>
          </p:cNvPr>
          <p:cNvSpPr txBox="1"/>
          <p:nvPr/>
        </p:nvSpPr>
        <p:spPr>
          <a:xfrm>
            <a:off x="4114800" y="457200"/>
            <a:ext cx="213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Checksum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888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3">
            <a:hlinkClick r:id="rId2"/>
            <a:extLst>
              <a:ext uri="{FF2B5EF4-FFF2-40B4-BE49-F238E27FC236}">
                <a16:creationId xmlns:a16="http://schemas.microsoft.com/office/drawing/2014/main" id="{99B75FB4-4F01-134B-1919-383E0EA6B6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" r="52510"/>
          <a:stretch/>
        </p:blipFill>
        <p:spPr bwMode="auto">
          <a:xfrm>
            <a:off x="5200650" y="1752599"/>
            <a:ext cx="22669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80B0F8-7846-6C78-912C-40151E4F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Cyclic redundancy check (CRC)</a:t>
            </a:r>
            <a:b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F84C34-61D2-B731-B7E9-19D7FC20D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352491"/>
            <a:ext cx="493395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Unlike checksum scheme, which is based on addition,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CRC is based on binary division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CRC,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sequence of redundant bits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called cyclic redundancy check bits,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appended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end of data unit so that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resulting data unit becomes exactly divisible by a second, predetermined binary 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the destination,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</a:rPr>
              <a:t>the incoming data unit is divided by the same 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If at this step there is no remainder, the data unit is assumed to be correct and is therefore accepted.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remainder indicates that the data unit has been damaged in transit and therefore must be rejected. </a:t>
            </a:r>
          </a:p>
        </p:txBody>
      </p:sp>
      <p:pic>
        <p:nvPicPr>
          <p:cNvPr id="6" name="Picture 5" descr="3">
            <a:hlinkClick r:id="rId2"/>
            <a:extLst>
              <a:ext uri="{FF2B5EF4-FFF2-40B4-BE49-F238E27FC236}">
                <a16:creationId xmlns:a16="http://schemas.microsoft.com/office/drawing/2014/main" id="{0C6D5A36-7946-474B-4354-97D995482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6" r="6177"/>
          <a:stretch/>
        </p:blipFill>
        <p:spPr bwMode="auto">
          <a:xfrm>
            <a:off x="7467600" y="1752599"/>
            <a:ext cx="23622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35CCB56-E142-28CC-321F-3D70FF9A77D3}"/>
              </a:ext>
            </a:extLst>
          </p:cNvPr>
          <p:cNvSpPr/>
          <p:nvPr/>
        </p:nvSpPr>
        <p:spPr>
          <a:xfrm>
            <a:off x="6300788" y="2209800"/>
            <a:ext cx="709612" cy="60049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4">
            <a:hlinkClick r:id="rId2"/>
            <a:extLst>
              <a:ext uri="{FF2B5EF4-FFF2-40B4-BE49-F238E27FC236}">
                <a16:creationId xmlns:a16="http://schemas.microsoft.com/office/drawing/2014/main" id="{19176A1D-23EC-3DA2-D27F-7222DD1749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92964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74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1151" y="751427"/>
            <a:ext cx="361609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/>
              <a:t>Hamming</a:t>
            </a:r>
            <a:r>
              <a:rPr sz="2800" spc="-15" dirty="0"/>
              <a:t> </a:t>
            </a:r>
            <a:r>
              <a:rPr sz="2800" spc="-10" dirty="0"/>
              <a:t>Codes,</a:t>
            </a:r>
            <a:r>
              <a:rPr sz="2800" spc="-20" dirty="0"/>
              <a:t> </a:t>
            </a:r>
            <a:r>
              <a:rPr sz="2800" dirty="0"/>
              <a:t>1950</a:t>
            </a:r>
            <a:endParaRPr sz="2800"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22</a:t>
            </a:fld>
            <a:r>
              <a:rPr spc="10" dirty="0"/>
              <a:t>/69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90600" y="1347068"/>
            <a:ext cx="8792945" cy="582800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marR="504190" indent="-457200">
              <a:lnSpc>
                <a:spcPts val="2990"/>
              </a:lnSpc>
              <a:spcBef>
                <a:spcPts val="385"/>
              </a:spcBef>
              <a:buFont typeface="Wingdings" panose="05000000000000000000" pitchFamily="2" charset="2"/>
              <a:buChar char="§"/>
            </a:pPr>
            <a:r>
              <a:rPr sz="2650" b="1" dirty="0">
                <a:solidFill>
                  <a:srgbClr val="9B0707"/>
                </a:solidFill>
                <a:cs typeface="Arial MT"/>
              </a:rPr>
              <a:t>Codeword</a:t>
            </a:r>
            <a:r>
              <a:rPr lang="en-US" sz="2650" dirty="0">
                <a:solidFill>
                  <a:srgbClr val="9B0707"/>
                </a:solidFill>
                <a:cs typeface="Arial MT"/>
              </a:rPr>
              <a:t>, </a:t>
            </a:r>
            <a:r>
              <a:rPr sz="2450" i="1" spc="10" dirty="0">
                <a:solidFill>
                  <a:srgbClr val="006699"/>
                </a:solidFill>
                <a:cs typeface="Times New Roman"/>
              </a:rPr>
              <a:t>n</a:t>
            </a:r>
            <a:r>
              <a:rPr sz="2450" i="1" spc="15" dirty="0">
                <a:solidFill>
                  <a:srgbClr val="006699"/>
                </a:solidFill>
                <a:cs typeface="Times New Roman"/>
              </a:rPr>
              <a:t> </a:t>
            </a:r>
            <a:r>
              <a:rPr sz="2200" dirty="0">
                <a:solidFill>
                  <a:srgbClr val="006699"/>
                </a:solidFill>
                <a:cs typeface="Arial MT"/>
              </a:rPr>
              <a:t>bits</a:t>
            </a:r>
            <a:r>
              <a:rPr sz="2200" spc="3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= </a:t>
            </a:r>
            <a:r>
              <a:rPr sz="2450" i="1" spc="20" dirty="0">
                <a:solidFill>
                  <a:srgbClr val="006699"/>
                </a:solidFill>
                <a:cs typeface="Times New Roman"/>
              </a:rPr>
              <a:t>m 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message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(data)</a:t>
            </a:r>
            <a:r>
              <a:rPr sz="2200" dirty="0">
                <a:solidFill>
                  <a:srgbClr val="006699"/>
                </a:solidFill>
                <a:cs typeface="Arial MT"/>
              </a:rPr>
              <a:t> bits</a:t>
            </a:r>
            <a:r>
              <a:rPr lang="en-US" sz="2200" dirty="0">
                <a:solidFill>
                  <a:srgbClr val="006699"/>
                </a:solidFill>
                <a:cs typeface="Arial MT"/>
              </a:rPr>
              <a:t> + </a:t>
            </a:r>
            <a:r>
              <a:rPr sz="2450" i="1" spc="10" dirty="0">
                <a:solidFill>
                  <a:srgbClr val="006699"/>
                </a:solidFill>
                <a:cs typeface="Times New Roman"/>
              </a:rPr>
              <a:t>r</a:t>
            </a:r>
            <a:r>
              <a:rPr sz="2450" i="1" spc="45" dirty="0">
                <a:solidFill>
                  <a:srgbClr val="006699"/>
                </a:solidFill>
                <a:cs typeface="Times New Roman"/>
              </a:rPr>
              <a:t> 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redundant</a:t>
            </a:r>
            <a:r>
              <a:rPr sz="2200" spc="-2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(check)</a:t>
            </a:r>
            <a:r>
              <a:rPr sz="2200" spc="-1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cs typeface="Arial MT"/>
              </a:rPr>
              <a:t>bits</a:t>
            </a:r>
            <a:endParaRPr sz="2200" dirty="0">
              <a:cs typeface="Arial MT"/>
            </a:endParaRPr>
          </a:p>
          <a:p>
            <a:pPr marL="469900" indent="-457200"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2650" spc="15" dirty="0">
                <a:solidFill>
                  <a:srgbClr val="9B0707"/>
                </a:solidFill>
                <a:cs typeface="Arial MT"/>
              </a:rPr>
              <a:t>A</a:t>
            </a:r>
            <a:r>
              <a:rPr lang="en-US"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lang="en-US" sz="2650" b="1" i="1" spc="15" dirty="0">
                <a:solidFill>
                  <a:srgbClr val="9B0707"/>
                </a:solidFill>
                <a:cs typeface="Arial"/>
              </a:rPr>
              <a:t>code</a:t>
            </a:r>
            <a:r>
              <a:rPr lang="en-US" sz="2650" i="1" spc="30" dirty="0">
                <a:solidFill>
                  <a:srgbClr val="9B0707"/>
                </a:solidFill>
                <a:cs typeface="Arial"/>
              </a:rPr>
              <a:t> </a:t>
            </a:r>
            <a:r>
              <a:rPr lang="en-US" sz="2650" spc="10" dirty="0">
                <a:solidFill>
                  <a:srgbClr val="9B0707"/>
                </a:solidFill>
                <a:cs typeface="Arial MT"/>
              </a:rPr>
              <a:t>is</a:t>
            </a:r>
            <a:r>
              <a:rPr lang="en-US"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lang="en-US" sz="2650" spc="15" dirty="0">
                <a:solidFill>
                  <a:srgbClr val="9B0707"/>
                </a:solidFill>
                <a:cs typeface="Arial MT"/>
              </a:rPr>
              <a:t>a</a:t>
            </a:r>
            <a:r>
              <a:rPr lang="en-US"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lang="en-US" sz="2650" spc="10" dirty="0">
                <a:solidFill>
                  <a:srgbClr val="9B0707"/>
                </a:solidFill>
                <a:cs typeface="Arial MT"/>
              </a:rPr>
              <a:t>set</a:t>
            </a:r>
            <a:r>
              <a:rPr lang="en-US"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lang="en-US" sz="2650" spc="5" dirty="0">
                <a:solidFill>
                  <a:srgbClr val="9B0707"/>
                </a:solidFill>
                <a:cs typeface="Arial MT"/>
              </a:rPr>
              <a:t>of</a:t>
            </a:r>
            <a:r>
              <a:rPr lang="en-US"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lang="en-US" sz="2650" dirty="0">
                <a:solidFill>
                  <a:srgbClr val="9B0707"/>
                </a:solidFill>
                <a:cs typeface="Arial MT"/>
              </a:rPr>
              <a:t>codewords; </a:t>
            </a:r>
            <a:r>
              <a:rPr lang="en-US" sz="2650" dirty="0">
                <a:cs typeface="Arial MT"/>
              </a:rPr>
              <a:t>consider a code with only four valid codewords:</a:t>
            </a:r>
          </a:p>
          <a:p>
            <a:pPr marL="469900" lvl="1">
              <a:spcBef>
                <a:spcPts val="160"/>
              </a:spcBef>
            </a:pPr>
            <a:r>
              <a:rPr lang="en-US" sz="2650" dirty="0">
                <a:cs typeface="Arial MT"/>
              </a:rPr>
              <a:t>0000000000, 0000011111, 1111100000, and 1111111111</a:t>
            </a:r>
          </a:p>
          <a:p>
            <a:pPr marL="469900" indent="-457200">
              <a:lnSpc>
                <a:spcPct val="100000"/>
              </a:lnSpc>
              <a:spcBef>
                <a:spcPts val="160"/>
              </a:spcBef>
              <a:buFont typeface="Arial" panose="020B0604020202020204" pitchFamily="34" charset="0"/>
              <a:buChar char="•"/>
            </a:pPr>
            <a:r>
              <a:rPr sz="2650" b="1" spc="10" dirty="0">
                <a:solidFill>
                  <a:srgbClr val="9B0707"/>
                </a:solidFill>
                <a:cs typeface="Arial MT"/>
              </a:rPr>
              <a:t>Hamming</a:t>
            </a:r>
            <a:r>
              <a:rPr sz="2650" b="1" spc="-2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b="1" spc="5" dirty="0">
                <a:solidFill>
                  <a:srgbClr val="9B0707"/>
                </a:solidFill>
                <a:cs typeface="Arial MT"/>
              </a:rPr>
              <a:t>distance</a:t>
            </a:r>
            <a:endParaRPr sz="2650" b="1" dirty="0">
              <a:cs typeface="Arial MT"/>
            </a:endParaRPr>
          </a:p>
          <a:p>
            <a:pPr marL="809625" lvl="1">
              <a:spcBef>
                <a:spcPts val="655"/>
              </a:spcBef>
            </a:pPr>
            <a:r>
              <a:rPr sz="2200" spc="15" dirty="0">
                <a:solidFill>
                  <a:srgbClr val="006699"/>
                </a:solidFill>
                <a:cs typeface="Arial MT"/>
              </a:rPr>
              <a:t>count</a:t>
            </a:r>
            <a:r>
              <a:rPr sz="2200" spc="-2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of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corresponding</a:t>
            </a:r>
            <a:r>
              <a:rPr sz="2200" spc="-2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cs typeface="Arial MT"/>
              </a:rPr>
              <a:t>bits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that</a:t>
            </a:r>
            <a:r>
              <a:rPr sz="2200" spc="-10" dirty="0">
                <a:solidFill>
                  <a:srgbClr val="006699"/>
                </a:solidFill>
                <a:cs typeface="Arial MT"/>
              </a:rPr>
              <a:t> differ</a:t>
            </a:r>
            <a:endParaRPr sz="2200" dirty="0">
              <a:cs typeface="Arial MT"/>
            </a:endParaRPr>
          </a:p>
          <a:p>
            <a:pPr marL="809625" lvl="1">
              <a:spcBef>
                <a:spcPts val="745"/>
              </a:spcBef>
            </a:pPr>
            <a:r>
              <a:rPr sz="2200" dirty="0">
                <a:solidFill>
                  <a:srgbClr val="006699"/>
                </a:solidFill>
                <a:cs typeface="Arial MT"/>
              </a:rPr>
              <a:t>e.g.,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10001001</a:t>
            </a:r>
            <a:r>
              <a:rPr sz="2200" spc="2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and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10110001</a:t>
            </a:r>
            <a:r>
              <a:rPr sz="2200" spc="4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-15" dirty="0">
                <a:solidFill>
                  <a:srgbClr val="006699"/>
                </a:solidFill>
                <a:cs typeface="Arial MT"/>
              </a:rPr>
              <a:t>have</a:t>
            </a:r>
            <a:r>
              <a:rPr sz="2200" spc="2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distance</a:t>
            </a:r>
            <a:r>
              <a:rPr sz="2200" spc="3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3</a:t>
            </a:r>
            <a:endParaRPr sz="2200" dirty="0">
              <a:cs typeface="Arial MT"/>
            </a:endParaRPr>
          </a:p>
          <a:p>
            <a:pPr marL="1675130" lvl="1">
              <a:spcBef>
                <a:spcPts val="1175"/>
              </a:spcBef>
            </a:pPr>
            <a:r>
              <a:rPr sz="2200" spc="5" dirty="0">
                <a:solidFill>
                  <a:srgbClr val="006699"/>
                </a:solidFill>
                <a:cs typeface="Arial MT"/>
              </a:rPr>
              <a:t>10001001</a:t>
            </a:r>
            <a:endParaRPr sz="2200" dirty="0">
              <a:cs typeface="Arial MT"/>
            </a:endParaRPr>
          </a:p>
          <a:p>
            <a:pPr marL="966470" lvl="1">
              <a:spcBef>
                <a:spcPts val="1595"/>
              </a:spcBef>
              <a:tabLst>
                <a:tab pos="1217295" algn="l"/>
              </a:tabLst>
            </a:pPr>
            <a:r>
              <a:rPr lang="en-US" sz="2200" spc="10" dirty="0" err="1">
                <a:solidFill>
                  <a:srgbClr val="006699"/>
                </a:solidFill>
                <a:cs typeface="Arial MT"/>
              </a:rPr>
              <a:t>X</a:t>
            </a:r>
            <a:r>
              <a:rPr sz="2200" spc="10" dirty="0" err="1">
                <a:solidFill>
                  <a:srgbClr val="006699"/>
                </a:solidFill>
                <a:cs typeface="Arial MT"/>
              </a:rPr>
              <a:t>or</a:t>
            </a:r>
            <a:r>
              <a:rPr lang="en-US" sz="2200" spc="10" dirty="0">
                <a:solidFill>
                  <a:srgbClr val="006699"/>
                </a:solidFill>
                <a:cs typeface="Arial MT"/>
              </a:rPr>
              <a:t>   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10110001</a:t>
            </a:r>
            <a:endParaRPr sz="2200" dirty="0">
              <a:cs typeface="Arial MT"/>
            </a:endParaRPr>
          </a:p>
          <a:p>
            <a:pPr marL="1675130" lvl="1">
              <a:spcBef>
                <a:spcPts val="1695"/>
              </a:spcBef>
            </a:pPr>
            <a:r>
              <a:rPr sz="2200" spc="5" dirty="0">
                <a:solidFill>
                  <a:srgbClr val="006699"/>
                </a:solidFill>
                <a:cs typeface="Arial MT"/>
              </a:rPr>
              <a:t>00111000</a:t>
            </a:r>
            <a:endParaRPr sz="2200" dirty="0">
              <a:cs typeface="Arial MT"/>
            </a:endParaRPr>
          </a:p>
          <a:p>
            <a:pPr marL="809625" marR="5080" lvl="1" indent="-635">
              <a:lnSpc>
                <a:spcPts val="3479"/>
              </a:lnSpc>
            </a:pPr>
            <a:r>
              <a:rPr sz="2200" spc="5" dirty="0">
                <a:solidFill>
                  <a:srgbClr val="006699"/>
                </a:solidFill>
                <a:cs typeface="Arial MT"/>
              </a:rPr>
              <a:t>if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distance</a:t>
            </a:r>
            <a:r>
              <a:rPr sz="2200" spc="4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is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 </a:t>
            </a:r>
            <a:r>
              <a:rPr sz="2450" i="1" spc="70" dirty="0">
                <a:solidFill>
                  <a:srgbClr val="006699"/>
                </a:solidFill>
                <a:cs typeface="Times New Roman"/>
              </a:rPr>
              <a:t>d</a:t>
            </a:r>
            <a:r>
              <a:rPr sz="2200" spc="70" dirty="0">
                <a:solidFill>
                  <a:srgbClr val="006699"/>
                </a:solidFill>
                <a:cs typeface="Arial MT"/>
              </a:rPr>
              <a:t>,</a:t>
            </a:r>
            <a:r>
              <a:rPr sz="2200" dirty="0">
                <a:solidFill>
                  <a:srgbClr val="006699"/>
                </a:solidFill>
                <a:cs typeface="Arial MT"/>
              </a:rPr>
              <a:t> </a:t>
            </a:r>
            <a:r>
              <a:rPr sz="2450" i="1" spc="10" dirty="0">
                <a:solidFill>
                  <a:srgbClr val="006699"/>
                </a:solidFill>
                <a:cs typeface="Times New Roman"/>
              </a:rPr>
              <a:t>d</a:t>
            </a:r>
            <a:r>
              <a:rPr sz="2450" i="1" spc="140" dirty="0">
                <a:solidFill>
                  <a:srgbClr val="006699"/>
                </a:solidFill>
                <a:cs typeface="Times New Roman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single</a:t>
            </a:r>
            <a:r>
              <a:rPr sz="2200" spc="-1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cs typeface="Arial MT"/>
              </a:rPr>
              <a:t>bit</a:t>
            </a:r>
            <a:r>
              <a:rPr sz="2200" spc="1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errors</a:t>
            </a:r>
            <a:r>
              <a:rPr sz="2200" spc="5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are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needed</a:t>
            </a:r>
            <a:r>
              <a:rPr sz="2200" spc="3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to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 convert </a:t>
            </a:r>
            <a:r>
              <a:rPr sz="2200" spc="-59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one to</a:t>
            </a:r>
            <a:r>
              <a:rPr sz="2200" spc="-10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cs typeface="Arial MT"/>
              </a:rPr>
              <a:t>the</a:t>
            </a:r>
            <a:r>
              <a:rPr sz="2200" spc="5" dirty="0">
                <a:solidFill>
                  <a:srgbClr val="006699"/>
                </a:solidFill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cs typeface="Arial MT"/>
              </a:rPr>
              <a:t>other</a:t>
            </a:r>
            <a:endParaRPr sz="2200" dirty="0">
              <a:cs typeface="Arial MT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9983CF7B-0E03-3591-C774-E68F4286A9ED}"/>
              </a:ext>
            </a:extLst>
          </p:cNvPr>
          <p:cNvSpPr txBox="1">
            <a:spLocks/>
          </p:cNvSpPr>
          <p:nvPr/>
        </p:nvSpPr>
        <p:spPr>
          <a:xfrm>
            <a:off x="1796287" y="144568"/>
            <a:ext cx="6654800" cy="57208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3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/>
              <a:t>3.2 Error</a:t>
            </a:r>
            <a:r>
              <a:rPr lang="en-US" spc="-10" dirty="0"/>
              <a:t> </a:t>
            </a:r>
            <a:r>
              <a:rPr lang="en-US" spc="-5" dirty="0"/>
              <a:t>Detection </a:t>
            </a:r>
            <a:r>
              <a:rPr lang="en-US" dirty="0"/>
              <a:t>and</a:t>
            </a:r>
            <a:r>
              <a:rPr lang="en-US" spc="-15" dirty="0"/>
              <a:t> </a:t>
            </a:r>
            <a:r>
              <a:rPr lang="en-US" spc="-5" dirty="0"/>
              <a:t>Correction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981200" y="5791200"/>
            <a:ext cx="2284730" cy="0"/>
          </a:xfrm>
          <a:custGeom>
            <a:avLst/>
            <a:gdLst/>
            <a:ahLst/>
            <a:cxnLst/>
            <a:rect l="l" t="t" r="r" b="b"/>
            <a:pathLst>
              <a:path w="2284729">
                <a:moveTo>
                  <a:pt x="0" y="0"/>
                </a:moveTo>
                <a:lnTo>
                  <a:pt x="2284476" y="0"/>
                </a:lnTo>
              </a:path>
            </a:pathLst>
          </a:custGeom>
          <a:ln w="10667">
            <a:solidFill>
              <a:srgbClr val="0065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510" y="643103"/>
            <a:ext cx="8675370" cy="61491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95"/>
              </a:spcBef>
            </a:pPr>
            <a:r>
              <a:rPr spc="-5" dirty="0"/>
              <a:t>Hamming</a:t>
            </a:r>
            <a:r>
              <a:rPr spc="-20" dirty="0"/>
              <a:t> </a:t>
            </a:r>
            <a:r>
              <a:rPr dirty="0"/>
              <a:t>Codes</a:t>
            </a:r>
            <a:r>
              <a:rPr spc="-20" dirty="0"/>
              <a:t> </a:t>
            </a:r>
            <a:r>
              <a:rPr spc="-5" dirty="0"/>
              <a:t>Definitions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23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939165" y="213360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7823" y="579120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1951" y="469901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5400" y="1955814"/>
            <a:ext cx="8071485" cy="494314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-635" algn="just">
              <a:lnSpc>
                <a:spcPct val="99800"/>
              </a:lnSpc>
              <a:spcBef>
                <a:spcPts val="2230"/>
              </a:spcBef>
            </a:pPr>
            <a:r>
              <a:rPr sz="2650" spc="10" dirty="0">
                <a:solidFill>
                  <a:srgbClr val="9B0707"/>
                </a:solidFill>
                <a:cs typeface="Arial MT"/>
              </a:rPr>
              <a:t>The Hamming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distance </a:t>
            </a:r>
            <a:r>
              <a:rPr sz="2650" spc="-25" dirty="0">
                <a:solidFill>
                  <a:srgbClr val="9B0707"/>
                </a:solidFill>
                <a:cs typeface="Arial MT"/>
              </a:rPr>
              <a:t>for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a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set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of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code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words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is </a:t>
            </a:r>
            <a:r>
              <a:rPr sz="2650" spc="-72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the</a:t>
            </a:r>
            <a:r>
              <a:rPr sz="265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b="1" i="1" spc="10" dirty="0">
                <a:solidFill>
                  <a:srgbClr val="9B0707"/>
                </a:solidFill>
                <a:cs typeface="Arial"/>
              </a:rPr>
              <a:t>minimum</a:t>
            </a:r>
            <a:r>
              <a:rPr sz="2650" b="1" i="1" spc="40" dirty="0">
                <a:solidFill>
                  <a:srgbClr val="9B0707"/>
                </a:solidFill>
                <a:cs typeface="Arial"/>
              </a:rPr>
              <a:t> </a:t>
            </a:r>
            <a:r>
              <a:rPr sz="2650" b="1" spc="10" dirty="0">
                <a:solidFill>
                  <a:srgbClr val="9B0707"/>
                </a:solidFill>
                <a:cs typeface="Arial MT"/>
              </a:rPr>
              <a:t>Hamming</a:t>
            </a:r>
            <a:r>
              <a:rPr sz="2650" b="1" spc="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b="1" spc="5" dirty="0">
                <a:solidFill>
                  <a:srgbClr val="9B0707"/>
                </a:solidFill>
                <a:cs typeface="Arial MT"/>
              </a:rPr>
              <a:t>distance</a:t>
            </a:r>
            <a:r>
              <a:rPr sz="2650" b="1" spc="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-25" dirty="0">
                <a:solidFill>
                  <a:srgbClr val="9B0707"/>
                </a:solidFill>
                <a:cs typeface="Arial MT"/>
              </a:rPr>
              <a:t>for</a:t>
            </a:r>
            <a:r>
              <a:rPr sz="2650" dirty="0">
                <a:solidFill>
                  <a:srgbClr val="9B0707"/>
                </a:solidFill>
                <a:cs typeface="Arial MT"/>
              </a:rPr>
              <a:t> any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two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codewords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in</a:t>
            </a:r>
            <a:r>
              <a:rPr sz="265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the</a:t>
            </a:r>
            <a:r>
              <a:rPr sz="265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code</a:t>
            </a:r>
            <a:r>
              <a:rPr lang="en-US" sz="2650" spc="15" dirty="0">
                <a:solidFill>
                  <a:srgbClr val="9B0707"/>
                </a:solidFill>
                <a:cs typeface="Arial MT"/>
              </a:rPr>
              <a:t>. For these 4 codewords, what is the hamming distance?</a:t>
            </a:r>
          </a:p>
          <a:p>
            <a:pPr marL="12700" marR="5080" indent="-635" algn="just">
              <a:lnSpc>
                <a:spcPct val="99800"/>
              </a:lnSpc>
              <a:spcBef>
                <a:spcPts val="2230"/>
              </a:spcBef>
            </a:pPr>
            <a:r>
              <a:rPr lang="en-US" sz="2650" dirty="0">
                <a:cs typeface="Arial MT"/>
              </a:rPr>
              <a:t>0000000000, 0000011111, 1111100000, and 1111111111</a:t>
            </a:r>
            <a:endParaRPr sz="2650" dirty="0">
              <a:cs typeface="Arial MT"/>
            </a:endParaRPr>
          </a:p>
          <a:p>
            <a:pPr marL="12700" marR="130175" indent="-635" algn="just">
              <a:lnSpc>
                <a:spcPts val="3170"/>
              </a:lnSpc>
              <a:spcBef>
                <a:spcPts val="2330"/>
              </a:spcBef>
              <a:tabLst>
                <a:tab pos="1978025" algn="l"/>
              </a:tabLst>
            </a:pPr>
            <a:r>
              <a:rPr sz="2650" spc="-150" dirty="0">
                <a:solidFill>
                  <a:srgbClr val="9B0707"/>
                </a:solidFill>
                <a:cs typeface="Arial MT"/>
              </a:rPr>
              <a:t>To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highlight>
                  <a:srgbClr val="FFFF00"/>
                </a:highlight>
                <a:cs typeface="Arial MT"/>
              </a:rPr>
              <a:t>detect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sz="2950" i="1" spc="155" dirty="0">
                <a:solidFill>
                  <a:srgbClr val="9B0707"/>
                </a:solidFill>
                <a:cs typeface="Times New Roman"/>
              </a:rPr>
              <a:t>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single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bit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errors,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the</a:t>
            </a:r>
            <a:r>
              <a:rPr sz="265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code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must </a:t>
            </a:r>
            <a:r>
              <a:rPr sz="2650" spc="-20" dirty="0">
                <a:solidFill>
                  <a:srgbClr val="9B0707"/>
                </a:solidFill>
                <a:cs typeface="Arial MT"/>
              </a:rPr>
              <a:t>have </a:t>
            </a:r>
            <a:r>
              <a:rPr sz="2650" spc="-72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distance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lang="en-US" sz="2950" i="1" spc="10" dirty="0">
                <a:solidFill>
                  <a:srgbClr val="9B0707"/>
                </a:solidFill>
                <a:cs typeface="Times New Roman"/>
              </a:rPr>
              <a:t>+</a:t>
            </a:r>
            <a:r>
              <a:rPr sz="2950" spc="10" dirty="0">
                <a:solidFill>
                  <a:srgbClr val="9B0707"/>
                </a:solidFill>
                <a:cs typeface="Times New Roman"/>
              </a:rPr>
              <a:t>1</a:t>
            </a:r>
            <a:endParaRPr sz="2950" dirty="0">
              <a:cs typeface="Times New Roman"/>
            </a:endParaRPr>
          </a:p>
          <a:p>
            <a:pPr marL="12700" marR="17780" algn="just">
              <a:lnSpc>
                <a:spcPts val="3170"/>
              </a:lnSpc>
              <a:spcBef>
                <a:spcPts val="2225"/>
              </a:spcBef>
              <a:tabLst>
                <a:tab pos="2166620" algn="l"/>
              </a:tabLst>
            </a:pPr>
            <a:r>
              <a:rPr sz="2650" spc="-150" dirty="0">
                <a:solidFill>
                  <a:srgbClr val="9B0707"/>
                </a:solidFill>
                <a:cs typeface="Arial MT"/>
              </a:rPr>
              <a:t>To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highlight>
                  <a:srgbClr val="FFFF00"/>
                </a:highlight>
                <a:cs typeface="Arial MT"/>
              </a:rPr>
              <a:t>correct</a:t>
            </a:r>
            <a:r>
              <a:rPr sz="2650" spc="-25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lang="en-US" sz="2950" i="1" spc="155" dirty="0">
                <a:solidFill>
                  <a:srgbClr val="9B0707"/>
                </a:solidFill>
                <a:cs typeface="Times New Roman"/>
              </a:rPr>
              <a:t> 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single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bit </a:t>
            </a:r>
            <a:r>
              <a:rPr sz="2650" dirty="0">
                <a:solidFill>
                  <a:srgbClr val="9B0707"/>
                </a:solidFill>
                <a:cs typeface="Arial MT"/>
              </a:rPr>
              <a:t>errors,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 the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code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must </a:t>
            </a:r>
            <a:r>
              <a:rPr sz="2650" spc="-20" dirty="0">
                <a:solidFill>
                  <a:srgbClr val="9B0707"/>
                </a:solidFill>
                <a:cs typeface="Arial MT"/>
              </a:rPr>
              <a:t>have </a:t>
            </a:r>
            <a:r>
              <a:rPr sz="2650" spc="-72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distance</a:t>
            </a:r>
            <a:r>
              <a:rPr sz="2650" spc="20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spc="10" dirty="0">
                <a:solidFill>
                  <a:srgbClr val="9B0707"/>
                </a:solidFill>
                <a:cs typeface="Times New Roman"/>
              </a:rPr>
              <a:t>2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lang="en-US" sz="2950" i="1" spc="10" dirty="0">
                <a:solidFill>
                  <a:srgbClr val="9B0707"/>
                </a:solidFill>
                <a:cs typeface="Times New Roman"/>
              </a:rPr>
              <a:t>+</a:t>
            </a:r>
            <a:r>
              <a:rPr sz="2950" spc="10" dirty="0">
                <a:solidFill>
                  <a:srgbClr val="9B0707"/>
                </a:solidFill>
                <a:cs typeface="Times New Roman"/>
              </a:rPr>
              <a:t>1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,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to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ensure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that the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original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codeword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is closer</a:t>
            </a:r>
            <a:r>
              <a:rPr sz="2650" spc="-2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than</a:t>
            </a:r>
            <a:r>
              <a:rPr sz="2650" dirty="0">
                <a:solidFill>
                  <a:srgbClr val="9B0707"/>
                </a:solidFill>
                <a:cs typeface="Arial MT"/>
              </a:rPr>
              <a:t> any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other</a:t>
            </a:r>
            <a:endParaRPr sz="2650" dirty="0"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510" y="643103"/>
            <a:ext cx="8675370" cy="61491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95"/>
              </a:spcBef>
            </a:pPr>
            <a:r>
              <a:rPr spc="-5" dirty="0"/>
              <a:t>Hamming</a:t>
            </a:r>
            <a:r>
              <a:rPr spc="-20" dirty="0"/>
              <a:t> </a:t>
            </a:r>
            <a:r>
              <a:rPr dirty="0"/>
              <a:t>Codes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24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205740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5400" y="1955814"/>
            <a:ext cx="8071485" cy="12241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17780" algn="just">
              <a:lnSpc>
                <a:spcPts val="3170"/>
              </a:lnSpc>
              <a:spcBef>
                <a:spcPts val="2225"/>
              </a:spcBef>
              <a:tabLst>
                <a:tab pos="2166620" algn="l"/>
              </a:tabLst>
            </a:pPr>
            <a:r>
              <a:rPr sz="2650" spc="-150" dirty="0">
                <a:solidFill>
                  <a:srgbClr val="9B0707"/>
                </a:solidFill>
                <a:cs typeface="Arial MT"/>
              </a:rPr>
              <a:t>To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highlight>
                  <a:srgbClr val="FFFF00"/>
                </a:highlight>
                <a:cs typeface="Arial MT"/>
              </a:rPr>
              <a:t>correct</a:t>
            </a:r>
            <a:r>
              <a:rPr sz="2650" spc="-25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lang="en-US" sz="2950" i="1" spc="155" dirty="0">
                <a:solidFill>
                  <a:srgbClr val="9B0707"/>
                </a:solidFill>
                <a:cs typeface="Times New Roman"/>
              </a:rPr>
              <a:t> 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single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bit </a:t>
            </a:r>
            <a:r>
              <a:rPr sz="2650" dirty="0">
                <a:solidFill>
                  <a:srgbClr val="9B0707"/>
                </a:solidFill>
                <a:cs typeface="Arial MT"/>
              </a:rPr>
              <a:t>errors,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 the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code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must </a:t>
            </a:r>
            <a:r>
              <a:rPr sz="2650" spc="-20" dirty="0">
                <a:solidFill>
                  <a:srgbClr val="9B0707"/>
                </a:solidFill>
                <a:cs typeface="Arial MT"/>
              </a:rPr>
              <a:t>have </a:t>
            </a:r>
            <a:r>
              <a:rPr sz="2650" spc="-72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distance</a:t>
            </a:r>
            <a:r>
              <a:rPr sz="2650" spc="20" dirty="0">
                <a:solidFill>
                  <a:srgbClr val="9B0707"/>
                </a:solidFill>
                <a:cs typeface="Arial MT"/>
              </a:rPr>
              <a:t> </a:t>
            </a:r>
            <a:r>
              <a:rPr sz="2950" spc="10" dirty="0">
                <a:solidFill>
                  <a:srgbClr val="9B0707"/>
                </a:solidFill>
                <a:cs typeface="Times New Roman"/>
              </a:rPr>
              <a:t>2</a:t>
            </a:r>
            <a:r>
              <a:rPr sz="2950" i="1" spc="10" dirty="0">
                <a:solidFill>
                  <a:srgbClr val="9B0707"/>
                </a:solidFill>
                <a:cs typeface="Times New Roman"/>
              </a:rPr>
              <a:t>d</a:t>
            </a:r>
            <a:r>
              <a:rPr lang="en-US" sz="2950" i="1" spc="10" dirty="0">
                <a:solidFill>
                  <a:srgbClr val="9B0707"/>
                </a:solidFill>
                <a:cs typeface="Times New Roman"/>
              </a:rPr>
              <a:t>+</a:t>
            </a:r>
            <a:r>
              <a:rPr sz="2950" spc="10" dirty="0">
                <a:solidFill>
                  <a:srgbClr val="9B0707"/>
                </a:solidFill>
                <a:cs typeface="Times New Roman"/>
              </a:rPr>
              <a:t>1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,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to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ensure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that the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original 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codeword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is closer</a:t>
            </a:r>
            <a:r>
              <a:rPr sz="2650" spc="-2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than</a:t>
            </a:r>
            <a:r>
              <a:rPr sz="2650" dirty="0">
                <a:solidFill>
                  <a:srgbClr val="9B0707"/>
                </a:solidFill>
                <a:cs typeface="Arial MT"/>
              </a:rPr>
              <a:t> any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other</a:t>
            </a:r>
            <a:endParaRPr sz="2650" dirty="0"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94E90-EED4-0063-E2D7-EA43339EFE29}"/>
              </a:ext>
            </a:extLst>
          </p:cNvPr>
          <p:cNvSpPr txBox="1"/>
          <p:nvPr/>
        </p:nvSpPr>
        <p:spPr>
          <a:xfrm>
            <a:off x="1905000" y="3286035"/>
            <a:ext cx="7118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Times-Roman"/>
              </a:rPr>
              <a:t>0000000000, 0000011111, 1111100000, and 1111111111</a:t>
            </a:r>
          </a:p>
          <a:p>
            <a:endParaRPr lang="en-US" sz="2400" dirty="0">
              <a:latin typeface="Times-Roman"/>
            </a:endParaRPr>
          </a:p>
          <a:p>
            <a:pPr algn="ctr"/>
            <a:r>
              <a:rPr lang="en-US" sz="2400" dirty="0">
                <a:latin typeface="Times-Roman"/>
              </a:rPr>
              <a:t>But the arrived</a:t>
            </a:r>
            <a:r>
              <a:rPr lang="en-US" sz="2400" b="0" i="0" u="none" strike="noStrike" baseline="0" dirty="0">
                <a:latin typeface="Times-Roman"/>
              </a:rPr>
              <a:t> codeword is 0000000111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C60DC-44EE-6ED3-47C7-5FDA7DE76E85}"/>
              </a:ext>
            </a:extLst>
          </p:cNvPr>
          <p:cNvSpPr txBox="1"/>
          <p:nvPr/>
        </p:nvSpPr>
        <p:spPr>
          <a:xfrm>
            <a:off x="1310640" y="5029200"/>
            <a:ext cx="82143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Here, Hamming distance: 5 ( value of d=2)</a:t>
            </a:r>
          </a:p>
          <a:p>
            <a:r>
              <a:rPr lang="en-US" sz="2800" dirty="0"/>
              <a:t>So double bit error can be corrected. So, the original must have been 0000011111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22097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56346"/>
            <a:ext cx="5353685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Hamming</a:t>
            </a:r>
            <a:r>
              <a:rPr spc="-20" dirty="0"/>
              <a:t> </a:t>
            </a:r>
            <a:r>
              <a:rPr dirty="0"/>
              <a:t>Codes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25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308977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6049" y="409408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6049" y="556322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1978" y="5926480"/>
            <a:ext cx="188976" cy="3535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79372" y="1871040"/>
            <a:ext cx="7942580" cy="4415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Attaining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a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code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with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minimal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latin typeface="Times New Roman"/>
                <a:cs typeface="Times New Roman"/>
              </a:rPr>
              <a:t>n</a:t>
            </a:r>
            <a:endParaRPr sz="2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50" dirty="0">
              <a:latin typeface="Times New Roman"/>
              <a:cs typeface="Times New Roman"/>
            </a:endParaRPr>
          </a:p>
          <a:p>
            <a:pPr marL="403225">
              <a:lnSpc>
                <a:spcPct val="100000"/>
              </a:lnSpc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Bits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1, 2, 4, 8, 16, .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are used as parity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bits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00" dirty="0">
              <a:latin typeface="Arial MT"/>
              <a:cs typeface="Arial MT"/>
            </a:endParaRPr>
          </a:p>
          <a:p>
            <a:pPr marL="403225" marR="1029335" indent="-635">
              <a:lnSpc>
                <a:spcPct val="100000"/>
              </a:lnSpc>
              <a:spcBef>
                <a:spcPts val="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Bits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3, 5, 6, 7, 9, 10,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11, .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.</a:t>
            </a:r>
            <a:r>
              <a:rPr sz="2650" spc="-2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are used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for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message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00" dirty="0">
              <a:latin typeface="Arial MT"/>
              <a:cs typeface="Arial MT"/>
            </a:endParaRPr>
          </a:p>
          <a:p>
            <a:pPr marL="403225" marR="81280">
              <a:lnSpc>
                <a:spcPct val="102000"/>
              </a:lnSpc>
              <a:tabLst>
                <a:tab pos="1632585" algn="l"/>
                <a:tab pos="3958590" algn="l"/>
              </a:tabLst>
            </a:pPr>
            <a:r>
              <a:rPr sz="2650" spc="-75" dirty="0">
                <a:solidFill>
                  <a:srgbClr val="9B0707"/>
                </a:solidFill>
                <a:latin typeface="Arial MT"/>
                <a:cs typeface="Arial MT"/>
              </a:rPr>
              <a:t>F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o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r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latin typeface="Times New Roman"/>
                <a:cs typeface="Times New Roman"/>
              </a:rPr>
              <a:t>k</a:t>
            </a:r>
            <a:r>
              <a:rPr sz="2950" i="1" dirty="0">
                <a:solidFill>
                  <a:srgbClr val="9B0707"/>
                </a:solidFill>
                <a:latin typeface="Times New Roman"/>
                <a:cs typeface="Times New Roman"/>
              </a:rPr>
              <a:t>	</a:t>
            </a:r>
            <a:r>
              <a:rPr sz="4425" spc="22" baseline="-3766" dirty="0">
                <a:solidFill>
                  <a:srgbClr val="9B0707"/>
                </a:solidFill>
                <a:latin typeface="Symbol"/>
                <a:cs typeface="Symbol"/>
              </a:rPr>
              <a:t></a:t>
            </a:r>
            <a:r>
              <a:rPr sz="4425" spc="-622" baseline="-3766" dirty="0">
                <a:solidFill>
                  <a:srgbClr val="9B0707"/>
                </a:solidFill>
                <a:latin typeface="Times New Roman"/>
                <a:cs typeface="Times New Roman"/>
              </a:rPr>
              <a:t> </a:t>
            </a:r>
            <a:r>
              <a:rPr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c</a:t>
            </a:r>
            <a:r>
              <a:rPr sz="3375" i="1" spc="150" baseline="-11111" dirty="0">
                <a:solidFill>
                  <a:srgbClr val="9B0707"/>
                </a:solidFill>
                <a:latin typeface="Times New Roman"/>
                <a:cs typeface="Times New Roman"/>
              </a:rPr>
              <a:t>i</a:t>
            </a:r>
            <a:r>
              <a:rPr sz="2950" spc="10" dirty="0">
                <a:solidFill>
                  <a:srgbClr val="9B0707"/>
                </a:solidFill>
                <a:latin typeface="Times New Roman"/>
                <a:cs typeface="Times New Roman"/>
              </a:rPr>
              <a:t>2</a:t>
            </a:r>
            <a:r>
              <a:rPr sz="3375" i="1" spc="150" baseline="27160" dirty="0">
                <a:solidFill>
                  <a:srgbClr val="9B0707"/>
                </a:solidFill>
                <a:latin typeface="Times New Roman"/>
                <a:cs typeface="Times New Roman"/>
              </a:rPr>
              <a:t>i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, bit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is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positio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n </a:t>
            </a:r>
            <a:r>
              <a:rPr sz="2950" i="1" spc="10" dirty="0">
                <a:solidFill>
                  <a:srgbClr val="9B0707"/>
                </a:solidFill>
                <a:latin typeface="Times New Roman"/>
                <a:cs typeface="Times New Roman"/>
              </a:rPr>
              <a:t>k</a:t>
            </a:r>
            <a:r>
              <a:rPr sz="2950" i="1" spc="60" dirty="0">
                <a:solidFill>
                  <a:srgbClr val="9B0707"/>
                </a:solidFill>
                <a:latin typeface="Times New Roman"/>
                <a:cs typeface="Times New Roman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is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che</a:t>
            </a:r>
            <a:r>
              <a:rPr sz="2650" spc="-50" dirty="0">
                <a:solidFill>
                  <a:srgbClr val="9B0707"/>
                </a:solidFill>
                <a:latin typeface="Arial MT"/>
                <a:cs typeface="Arial MT"/>
              </a:rPr>
              <a:t>c</a:t>
            </a:r>
            <a:r>
              <a:rPr sz="2650" spc="-40" dirty="0">
                <a:solidFill>
                  <a:srgbClr val="9B0707"/>
                </a:solidFill>
                <a:latin typeface="Arial MT"/>
                <a:cs typeface="Arial MT"/>
              </a:rPr>
              <a:t>k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e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d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40" dirty="0">
                <a:solidFill>
                  <a:srgbClr val="9B0707"/>
                </a:solidFill>
                <a:latin typeface="Arial MT"/>
                <a:cs typeface="Arial MT"/>
              </a:rPr>
              <a:t>b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y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bit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in  positions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950" spc="10" dirty="0">
                <a:solidFill>
                  <a:srgbClr val="9B0707"/>
                </a:solidFill>
                <a:latin typeface="Times New Roman"/>
                <a:cs typeface="Times New Roman"/>
              </a:rPr>
              <a:t>2</a:t>
            </a:r>
            <a:r>
              <a:rPr sz="3375" i="1" spc="15" baseline="27160" dirty="0">
                <a:solidFill>
                  <a:srgbClr val="9B0707"/>
                </a:solidFill>
                <a:latin typeface="Times New Roman"/>
                <a:cs typeface="Times New Roman"/>
              </a:rPr>
              <a:t>i</a:t>
            </a:r>
            <a:r>
              <a:rPr sz="3375" i="1" spc="442" baseline="27160" dirty="0">
                <a:solidFill>
                  <a:srgbClr val="9B0707"/>
                </a:solidFill>
                <a:latin typeface="Times New Roman"/>
                <a:cs typeface="Times New Roman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where</a:t>
            </a:r>
            <a:r>
              <a:rPr sz="2650" spc="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c</a:t>
            </a:r>
            <a:r>
              <a:rPr sz="3375" i="1" spc="7" baseline="-11111" dirty="0">
                <a:solidFill>
                  <a:srgbClr val="9B0707"/>
                </a:solidFill>
                <a:latin typeface="Times New Roman"/>
                <a:cs typeface="Times New Roman"/>
              </a:rPr>
              <a:t>i	</a:t>
            </a:r>
            <a:r>
              <a:rPr sz="2950" spc="10" dirty="0">
                <a:solidFill>
                  <a:srgbClr val="9B0707"/>
                </a:solidFill>
                <a:latin typeface="Times New Roman"/>
                <a:cs typeface="Times New Roman"/>
              </a:rPr>
              <a:t>0</a:t>
            </a:r>
            <a:endParaRPr sz="2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357" y="284424"/>
            <a:ext cx="5353685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Hamming</a:t>
            </a:r>
            <a:r>
              <a:rPr spc="-20" dirty="0"/>
              <a:t> </a:t>
            </a:r>
            <a:r>
              <a:rPr dirty="0"/>
              <a:t>Codes</a:t>
            </a:r>
            <a:r>
              <a:rPr spc="-20" dirty="0"/>
              <a:t> </a:t>
            </a:r>
            <a:r>
              <a:rPr dirty="0"/>
              <a:t>(</a:t>
            </a:r>
            <a:r>
              <a:rPr lang="en-US" dirty="0"/>
              <a:t>5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8)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26</a:t>
            </a:fld>
            <a:r>
              <a:rPr spc="10" dirty="0"/>
              <a:t>/69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E3D88-F39E-9BB6-4CE6-DA65D4AC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100137"/>
            <a:ext cx="4929530" cy="30908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5B0302-29CA-040A-7551-0FD980026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082826"/>
            <a:ext cx="3640270" cy="5606747"/>
          </a:xfrm>
          <a:prstGeom prst="rect">
            <a:avLst/>
          </a:prstGeom>
        </p:spPr>
      </p:pic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C2DBACB-EB97-571E-023F-702764A09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85753"/>
              </p:ext>
            </p:extLst>
          </p:nvPr>
        </p:nvGraphicFramePr>
        <p:xfrm>
          <a:off x="585788" y="4648200"/>
          <a:ext cx="5353689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6699">
                  <a:extLst>
                    <a:ext uri="{9D8B030D-6E8A-4147-A177-3AD203B41FA5}">
                      <a16:colId xmlns:a16="http://schemas.microsoft.com/office/drawing/2014/main" val="2496275721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3718242496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4128892922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1486309498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3335653472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4136690477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563851975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3331793043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3090512446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590774086"/>
                    </a:ext>
                  </a:extLst>
                </a:gridCol>
                <a:gridCol w="486699">
                  <a:extLst>
                    <a:ext uri="{9D8B030D-6E8A-4147-A177-3AD203B41FA5}">
                      <a16:colId xmlns:a16="http://schemas.microsoft.com/office/drawing/2014/main" val="2222483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1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41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D99BD1-16E3-DD10-E445-6FC97B29D1A2}"/>
              </a:ext>
            </a:extLst>
          </p:cNvPr>
          <p:cNvSpPr txBox="1"/>
          <p:nvPr/>
        </p:nvSpPr>
        <p:spPr>
          <a:xfrm>
            <a:off x="1055078" y="5887720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P1: 10001( p1 will be 0 to make it even) </a:t>
            </a:r>
          </a:p>
          <a:p>
            <a:r>
              <a:rPr lang="en-US" dirty="0"/>
              <a:t>P2: 10001(p2 will be 0 to make it even parity)</a:t>
            </a:r>
          </a:p>
          <a:p>
            <a:r>
              <a:rPr lang="en-US" dirty="0"/>
              <a:t>P4: 000( p4 =0)</a:t>
            </a:r>
          </a:p>
          <a:p>
            <a:r>
              <a:rPr lang="en-US" dirty="0"/>
              <a:t>P8: 001( p8=1)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357" y="284424"/>
            <a:ext cx="5353685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Hamming</a:t>
            </a:r>
            <a:r>
              <a:rPr spc="-20" dirty="0"/>
              <a:t> </a:t>
            </a:r>
            <a:r>
              <a:rPr dirty="0"/>
              <a:t>Codes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27</a:t>
            </a:fld>
            <a:r>
              <a:rPr spc="10" dirty="0"/>
              <a:t>/69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5B0302-29CA-040A-7551-0FD980026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000" y="1082826"/>
            <a:ext cx="3640270" cy="5606747"/>
          </a:xfrm>
          <a:prstGeom prst="rect">
            <a:avLst/>
          </a:prstGeom>
        </p:spPr>
      </p:pic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C2DBACB-EB97-571E-023F-702764A09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204084"/>
              </p:ext>
            </p:extLst>
          </p:nvPr>
        </p:nvGraphicFramePr>
        <p:xfrm>
          <a:off x="152408" y="3694173"/>
          <a:ext cx="596059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4962757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1824249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12889292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48630949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3356534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3669047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6385197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33179304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090512446"/>
                    </a:ext>
                  </a:extLst>
                </a:gridCol>
                <a:gridCol w="694320">
                  <a:extLst>
                    <a:ext uri="{9D8B030D-6E8A-4147-A177-3AD203B41FA5}">
                      <a16:colId xmlns:a16="http://schemas.microsoft.com/office/drawing/2014/main" val="590774086"/>
                    </a:ext>
                  </a:extLst>
                </a:gridCol>
                <a:gridCol w="541872">
                  <a:extLst>
                    <a:ext uri="{9D8B030D-6E8A-4147-A177-3AD203B41FA5}">
                      <a16:colId xmlns:a16="http://schemas.microsoft.com/office/drawing/2014/main" val="2222483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1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41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8D99BD1-16E3-DD10-E445-6FC97B29D1A2}"/>
              </a:ext>
            </a:extLst>
          </p:cNvPr>
          <p:cNvSpPr txBox="1"/>
          <p:nvPr/>
        </p:nvSpPr>
        <p:spPr>
          <a:xfrm>
            <a:off x="550400" y="4841516"/>
            <a:ext cx="5562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Similar Even parity calculation to </a:t>
            </a:r>
            <a:r>
              <a:rPr lang="en-US" sz="2000" b="1" dirty="0"/>
              <a:t>find the position:</a:t>
            </a:r>
          </a:p>
          <a:p>
            <a:r>
              <a:rPr lang="en-US" sz="2000" dirty="0"/>
              <a:t>R1: 01</a:t>
            </a:r>
            <a:r>
              <a:rPr lang="en-US" sz="2000" dirty="0">
                <a:highlight>
                  <a:srgbClr val="FFFF00"/>
                </a:highlight>
              </a:rPr>
              <a:t>1</a:t>
            </a:r>
            <a:r>
              <a:rPr lang="en-US" sz="2000" dirty="0"/>
              <a:t>001</a:t>
            </a:r>
            <a:r>
              <a:rPr lang="en-US" dirty="0"/>
              <a:t>( R1 should be1 to make it even) </a:t>
            </a:r>
            <a:endParaRPr lang="en-US" sz="2000" dirty="0"/>
          </a:p>
          <a:p>
            <a:r>
              <a:rPr lang="en-US" sz="2000" dirty="0"/>
              <a:t>R2: 10001(</a:t>
            </a:r>
            <a:r>
              <a:rPr lang="en-US" dirty="0"/>
              <a:t>R2 should be 0 to make it even </a:t>
            </a:r>
            <a:r>
              <a:rPr lang="en-US" sz="2000" dirty="0"/>
              <a:t>)</a:t>
            </a:r>
          </a:p>
          <a:p>
            <a:r>
              <a:rPr lang="en-US" sz="2000" dirty="0"/>
              <a:t>R3: 0</a:t>
            </a:r>
            <a:r>
              <a:rPr lang="en-US" sz="2000" dirty="0">
                <a:highlight>
                  <a:srgbClr val="FFFF00"/>
                </a:highlight>
              </a:rPr>
              <a:t>1</a:t>
            </a:r>
            <a:r>
              <a:rPr lang="en-US" sz="2000" dirty="0"/>
              <a:t>00( R3 should be 1)</a:t>
            </a:r>
          </a:p>
          <a:p>
            <a:r>
              <a:rPr lang="en-US" sz="2000" dirty="0"/>
              <a:t>R4: 1001( R4 should be 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2E50B-7985-E735-0DE0-03B94DC8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11" y="1126762"/>
            <a:ext cx="4473888" cy="24066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47300F-7148-28D0-FB2B-70A7D9B4C836}"/>
              </a:ext>
            </a:extLst>
          </p:cNvPr>
          <p:cNvSpPr txBox="1"/>
          <p:nvPr/>
        </p:nvSpPr>
        <p:spPr>
          <a:xfrm>
            <a:off x="1853255" y="6636476"/>
            <a:ext cx="376064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Error found in 0101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B85329-530C-5B61-5D16-CA896723FA5E}"/>
              </a:ext>
            </a:extLst>
          </p:cNvPr>
          <p:cNvSpPr txBox="1"/>
          <p:nvPr/>
        </p:nvSpPr>
        <p:spPr>
          <a:xfrm>
            <a:off x="2247899" y="7364580"/>
            <a:ext cx="556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**R1,R2,R3 represent the redundant bits, it can also be known as parity bit </a:t>
            </a:r>
          </a:p>
        </p:txBody>
      </p:sp>
    </p:spTree>
    <p:extLst>
      <p:ext uri="{BB962C8B-B14F-4D97-AF65-F5344CB8AC3E}">
        <p14:creationId xmlns:p14="http://schemas.microsoft.com/office/powerpoint/2010/main" val="340764172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C2DBACB-EB97-571E-023F-702764A09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18436"/>
              </p:ext>
            </p:extLst>
          </p:nvPr>
        </p:nvGraphicFramePr>
        <p:xfrm>
          <a:off x="258772" y="3162830"/>
          <a:ext cx="5989632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136">
                  <a:extLst>
                    <a:ext uri="{9D8B030D-6E8A-4147-A177-3AD203B41FA5}">
                      <a16:colId xmlns:a16="http://schemas.microsoft.com/office/drawing/2014/main" val="2496275721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3718242496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4128892922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1486309498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3335653472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4136690477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563851975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3331793043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3090512446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590774086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2222483770"/>
                    </a:ext>
                  </a:extLst>
                </a:gridCol>
                <a:gridCol w="499136">
                  <a:extLst>
                    <a:ext uri="{9D8B030D-6E8A-4147-A177-3AD203B41FA5}">
                      <a16:colId xmlns:a16="http://schemas.microsoft.com/office/drawing/2014/main" val="248518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m5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1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411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D99BD1-16E3-DD10-E445-6FC97B29D1A2}"/>
                  </a:ext>
                </a:extLst>
              </p:cNvPr>
              <p:cNvSpPr txBox="1"/>
              <p:nvPr/>
            </p:nvSpPr>
            <p:spPr>
              <a:xfrm>
                <a:off x="374631" y="4532178"/>
                <a:ext cx="598963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Similar Even parity calculation to </a:t>
                </a:r>
                <a:r>
                  <a:rPr lang="en-US" sz="2000" b="1" dirty="0"/>
                  <a:t>find if any error has been occurred or not:</a:t>
                </a:r>
              </a:p>
              <a:p>
                <a:r>
                  <a:rPr lang="en-US" sz="2000" dirty="0"/>
                  <a:t>P1: 110001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will be 1 to make it even, Error detected) </a:t>
                </a:r>
                <a:endParaRPr lang="en-US" sz="2000" dirty="0"/>
              </a:p>
              <a:p>
                <a:r>
                  <a:rPr lang="en-US" sz="2000" dirty="0"/>
                  <a:t>P2: 011011(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will be 0 to make it even parity, No error)</a:t>
                </a:r>
              </a:p>
              <a:p>
                <a:r>
                  <a:rPr lang="en-US" sz="2000" dirty="0"/>
                  <a:t>P4: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010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/>
                  <a:t> =0, No error)</a:t>
                </a:r>
              </a:p>
              <a:p>
                <a:r>
                  <a:rPr lang="en-US" sz="2000" dirty="0"/>
                  <a:t>P8: 1011(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/>
                  <a:t> =1, Error detected)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D99BD1-16E3-DD10-E445-6FC97B29D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31" y="4532178"/>
                <a:ext cx="5989632" cy="1938992"/>
              </a:xfrm>
              <a:prstGeom prst="rect">
                <a:avLst/>
              </a:prstGeom>
              <a:blipFill>
                <a:blip r:embed="rId2"/>
                <a:stretch>
                  <a:fillRect l="-1017" t="-1567" r="-610" b="-4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47300F-7148-28D0-FB2B-70A7D9B4C836}"/>
                  </a:ext>
                </a:extLst>
              </p:cNvPr>
              <p:cNvSpPr txBox="1"/>
              <p:nvPr/>
            </p:nvSpPr>
            <p:spPr>
              <a:xfrm>
                <a:off x="444245" y="6705600"/>
                <a:ext cx="9410365" cy="7134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If the Calculated Parity or check bit is ‘1’, error is detected. </a:t>
                </a:r>
              </a:p>
              <a:p>
                <a:r>
                  <a:rPr lang="en-US" sz="2000" dirty="0"/>
                  <a:t>Now lets find out, where the error is.  Error found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=1001=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𝑝𝑜𝑠𝑖𝑡𝑖𝑜𝑛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47300F-7148-28D0-FB2B-70A7D9B4C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45" y="6705600"/>
                <a:ext cx="9410365" cy="713400"/>
              </a:xfrm>
              <a:prstGeom prst="rect">
                <a:avLst/>
              </a:prstGeom>
              <a:blipFill>
                <a:blip r:embed="rId3"/>
                <a:stretch>
                  <a:fillRect l="-712" t="-4274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D27B35D-44B6-BB2E-FCD0-BC28A5770765}"/>
              </a:ext>
            </a:extLst>
          </p:cNvPr>
          <p:cNvSpPr txBox="1"/>
          <p:nvPr/>
        </p:nvSpPr>
        <p:spPr>
          <a:xfrm>
            <a:off x="469054" y="895874"/>
            <a:ext cx="6529046" cy="2003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59536" algn="just">
              <a:spcBef>
                <a:spcPts val="48"/>
              </a:spcBef>
              <a:spcAft>
                <a:spcPts val="0"/>
              </a:spcAft>
            </a:pPr>
            <a:r>
              <a:rPr lang="en-US" sz="2000" dirty="0"/>
              <a:t>Sender and Receiver have agreed upon Hamming code for error  correction. Now at a certain time receiver has received the following message. </a:t>
            </a:r>
          </a:p>
          <a:p>
            <a:pPr marR="2764536" algn="ctr">
              <a:spcBef>
                <a:spcPts val="480"/>
              </a:spcBef>
              <a:spcAft>
                <a:spcPts val="0"/>
              </a:spcAft>
            </a:pPr>
            <a:r>
              <a:rPr lang="en-US" sz="2000" dirty="0"/>
              <a:t>101101010110 </a:t>
            </a:r>
          </a:p>
          <a:p>
            <a:pPr marR="911352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Find out the position in which the error occurred if any error is detected.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2107D-3709-6026-8E53-0426064C570C}"/>
              </a:ext>
            </a:extLst>
          </p:cNvPr>
          <p:cNvSpPr txBox="1"/>
          <p:nvPr/>
        </p:nvSpPr>
        <p:spPr>
          <a:xfrm>
            <a:off x="6850876" y="5340436"/>
            <a:ext cx="2535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P1/R1</a:t>
            </a:r>
            <a:r>
              <a:rPr lang="en-US" dirty="0">
                <a:sym typeface="Wingdings" panose="05000000000000000000" pitchFamily="2" charset="2"/>
              </a:rPr>
              <a:t> 1,3,5,7,9,11</a:t>
            </a:r>
          </a:p>
          <a:p>
            <a:r>
              <a:rPr lang="en-US" dirty="0">
                <a:sym typeface="Wingdings" panose="05000000000000000000" pitchFamily="2" charset="2"/>
              </a:rPr>
              <a:t>P2/R2 2,3,6,7,10,11</a:t>
            </a:r>
          </a:p>
          <a:p>
            <a:r>
              <a:rPr lang="en-US" dirty="0">
                <a:sym typeface="Wingdings" panose="05000000000000000000" pitchFamily="2" charset="2"/>
              </a:rPr>
              <a:t>P4/R3 4,5,6,7,12</a:t>
            </a:r>
          </a:p>
          <a:p>
            <a:r>
              <a:rPr lang="en-US" dirty="0">
                <a:sym typeface="Wingdings" panose="05000000000000000000" pitchFamily="2" charset="2"/>
              </a:rPr>
              <a:t>P8/R4 8,9,10,11,12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DBBC98-D470-A3BF-FB1C-A7ABE9DB4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517529"/>
            <a:ext cx="3551228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9254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29</a:t>
            </a:fld>
            <a:r>
              <a:rPr spc="10" dirty="0"/>
              <a:t>/69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C2DBACB-EB97-571E-023F-702764A099FA}"/>
              </a:ext>
            </a:extLst>
          </p:cNvPr>
          <p:cNvGraphicFramePr>
            <a:graphicFrameLocks noGrp="1"/>
          </p:cNvGraphicFramePr>
          <p:nvPr/>
        </p:nvGraphicFramePr>
        <p:xfrm>
          <a:off x="654856" y="3162830"/>
          <a:ext cx="5353692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141">
                  <a:extLst>
                    <a:ext uri="{9D8B030D-6E8A-4147-A177-3AD203B41FA5}">
                      <a16:colId xmlns:a16="http://schemas.microsoft.com/office/drawing/2014/main" val="2496275721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3718242496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4128892922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1486309498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3335653472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4136690477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563851975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3331793043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3090512446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590774086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2222483770"/>
                    </a:ext>
                  </a:extLst>
                </a:gridCol>
                <a:gridCol w="446141">
                  <a:extLst>
                    <a:ext uri="{9D8B030D-6E8A-4147-A177-3AD203B41FA5}">
                      <a16:colId xmlns:a16="http://schemas.microsoft.com/office/drawing/2014/main" val="248518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41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8441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D99BD1-16E3-DD10-E445-6FC97B29D1A2}"/>
                  </a:ext>
                </a:extLst>
              </p:cNvPr>
              <p:cNvSpPr txBox="1"/>
              <p:nvPr/>
            </p:nvSpPr>
            <p:spPr>
              <a:xfrm>
                <a:off x="550400" y="4841516"/>
                <a:ext cx="55626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Similar Even parity calculation to </a:t>
                </a:r>
                <a:r>
                  <a:rPr lang="en-US" sz="2000" b="1" dirty="0"/>
                  <a:t>find the position:</a:t>
                </a:r>
              </a:p>
              <a:p>
                <a:r>
                  <a:rPr lang="en-US" sz="2000" dirty="0"/>
                  <a:t>R1: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10001( R1 will be 0 to make it even) </a:t>
                </a:r>
              </a:p>
              <a:p>
                <a:r>
                  <a:rPr lang="en-US" sz="2000" dirty="0"/>
                  <a:t>R2: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11011(R2 will be 0 to make it even parity)</a:t>
                </a:r>
              </a:p>
              <a:p>
                <a:r>
                  <a:rPr lang="en-US" sz="2000" dirty="0"/>
                  <a:t>R4: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010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/>
                  <a:t> =1)</a:t>
                </a:r>
              </a:p>
              <a:p>
                <a:r>
                  <a:rPr lang="en-US" sz="2000" dirty="0"/>
                  <a:t>R8: 011(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000" dirty="0"/>
                  <a:t> =0)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D99BD1-16E3-DD10-E445-6FC97B29D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00" y="4841516"/>
                <a:ext cx="5562600" cy="1631216"/>
              </a:xfrm>
              <a:prstGeom prst="rect">
                <a:avLst/>
              </a:prstGeom>
              <a:blipFill>
                <a:blip r:embed="rId2"/>
                <a:stretch>
                  <a:fillRect l="-1095" t="-1866" r="-110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47300F-7148-28D0-FB2B-70A7D9B4C836}"/>
              </a:ext>
            </a:extLst>
          </p:cNvPr>
          <p:cNvSpPr txBox="1"/>
          <p:nvPr/>
        </p:nvSpPr>
        <p:spPr>
          <a:xfrm>
            <a:off x="1853255" y="6636476"/>
            <a:ext cx="376064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Error found in 0100 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7B35D-44B6-BB2E-FCD0-BC28A5770765}"/>
              </a:ext>
            </a:extLst>
          </p:cNvPr>
          <p:cNvSpPr txBox="1"/>
          <p:nvPr/>
        </p:nvSpPr>
        <p:spPr>
          <a:xfrm>
            <a:off x="469054" y="895874"/>
            <a:ext cx="6529046" cy="2003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59536" algn="just">
              <a:spcBef>
                <a:spcPts val="48"/>
              </a:spcBef>
              <a:spcAft>
                <a:spcPts val="0"/>
              </a:spcAft>
            </a:pPr>
            <a:r>
              <a:rPr lang="en-US" sz="2000" dirty="0"/>
              <a:t>Sender and Receiver have agreed upon Hamming code for error  correction. Now at a certain time receiver has received the following message. </a:t>
            </a:r>
          </a:p>
          <a:p>
            <a:pPr marR="2764536" algn="ctr">
              <a:spcBef>
                <a:spcPts val="480"/>
              </a:spcBef>
              <a:spcAft>
                <a:spcPts val="0"/>
              </a:spcAft>
            </a:pPr>
            <a:r>
              <a:rPr lang="en-US" sz="2000" dirty="0"/>
              <a:t>101101010110 </a:t>
            </a:r>
          </a:p>
          <a:p>
            <a:pPr marR="911352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Find out the position in which the error occurred if any error is detected.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7AFE-3E7C-9223-09CF-BB783E7D6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517529"/>
            <a:ext cx="3551228" cy="47629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2AE5E1-3D5E-8726-6BA7-3FA6D0C9AD89}"/>
              </a:ext>
            </a:extLst>
          </p:cNvPr>
          <p:cNvSpPr txBox="1"/>
          <p:nvPr/>
        </p:nvSpPr>
        <p:spPr>
          <a:xfrm>
            <a:off x="6850876" y="5340436"/>
            <a:ext cx="2535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P1/R1</a:t>
            </a:r>
            <a:r>
              <a:rPr lang="en-US" dirty="0">
                <a:sym typeface="Wingdings" panose="05000000000000000000" pitchFamily="2" charset="2"/>
              </a:rPr>
              <a:t> 1,3,5,7,9,11</a:t>
            </a:r>
          </a:p>
          <a:p>
            <a:r>
              <a:rPr lang="en-US" dirty="0">
                <a:sym typeface="Wingdings" panose="05000000000000000000" pitchFamily="2" charset="2"/>
              </a:rPr>
              <a:t>P2/R2 2,3,6,7,10,11</a:t>
            </a:r>
          </a:p>
          <a:p>
            <a:r>
              <a:rPr lang="en-US" dirty="0">
                <a:sym typeface="Wingdings" panose="05000000000000000000" pitchFamily="2" charset="2"/>
              </a:rPr>
              <a:t>P4/R3 4,5,6,7,12</a:t>
            </a:r>
          </a:p>
          <a:p>
            <a:r>
              <a:rPr lang="en-US" dirty="0">
                <a:sym typeface="Wingdings" panose="05000000000000000000" pitchFamily="2" charset="2"/>
              </a:rPr>
              <a:t>P8/R4 8,9,10,11,12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172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836" y="685800"/>
            <a:ext cx="5312728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10" dirty="0"/>
              <a:t>3.3 </a:t>
            </a:r>
            <a:r>
              <a:rPr spc="10" dirty="0"/>
              <a:t>Elementary</a:t>
            </a:r>
            <a:r>
              <a:rPr spc="-85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30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854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70023" y="1908830"/>
            <a:ext cx="100647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Utopia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6049" y="367193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70023" y="3495314"/>
            <a:ext cx="347408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Simplex</a:t>
            </a:r>
            <a:r>
              <a:rPr sz="2650" spc="-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Stop-and-Wait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6049" y="525842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0023" y="5081798"/>
            <a:ext cx="717359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Positive</a:t>
            </a:r>
            <a:r>
              <a:rPr sz="2650" spc="-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Acknowledgement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with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Retransmission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50403" y="7273475"/>
            <a:ext cx="558800" cy="1784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2633"/>
            <a:ext cx="143827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Utopia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240790" y="1721598"/>
            <a:ext cx="3788410" cy="5121274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90"/>
              </a:spcBef>
              <a:buNone/>
            </a:pPr>
            <a:r>
              <a:rPr b="1" spc="-5" dirty="0">
                <a:latin typeface="Arial"/>
                <a:cs typeface="Arial"/>
              </a:rPr>
              <a:t>void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spc="15" dirty="0"/>
              <a:t>sender1(</a:t>
            </a:r>
            <a:r>
              <a:rPr spc="-20" dirty="0"/>
              <a:t> </a:t>
            </a:r>
            <a:r>
              <a:rPr b="1" spc="-5" dirty="0">
                <a:latin typeface="Arial"/>
                <a:cs typeface="Arial"/>
              </a:rPr>
              <a:t>void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900"/>
              </a:spcBef>
              <a:buNone/>
            </a:pPr>
            <a:r>
              <a:rPr spc="10" dirty="0"/>
              <a:t>{</a:t>
            </a:r>
          </a:p>
          <a:p>
            <a:pPr marL="107315" marR="1787525" indent="0">
              <a:lnSpc>
                <a:spcPct val="133600"/>
              </a:lnSpc>
              <a:spcBef>
                <a:spcPts val="15"/>
              </a:spcBef>
              <a:buNone/>
            </a:pPr>
            <a:r>
              <a:rPr lang="en-US" spc="5" dirty="0"/>
              <a:t> </a:t>
            </a:r>
            <a:r>
              <a:rPr spc="5" dirty="0"/>
              <a:t>frame </a:t>
            </a:r>
            <a:r>
              <a:rPr spc="10" dirty="0"/>
              <a:t>s; </a:t>
            </a:r>
            <a:r>
              <a:rPr spc="15" dirty="0"/>
              <a:t> </a:t>
            </a:r>
            <a:r>
              <a:rPr lang="en-US" spc="15" dirty="0"/>
              <a:t>   </a:t>
            </a:r>
            <a:r>
              <a:rPr spc="-10" dirty="0"/>
              <a:t>packet</a:t>
            </a:r>
            <a:r>
              <a:rPr spc="-35" dirty="0"/>
              <a:t> </a:t>
            </a:r>
            <a:r>
              <a:rPr dirty="0"/>
              <a:t>buffer;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 dirty="0"/>
          </a:p>
          <a:p>
            <a:pPr marL="295275" marR="5080" indent="0">
              <a:lnSpc>
                <a:spcPct val="133900"/>
              </a:lnSpc>
              <a:buNone/>
            </a:pPr>
            <a:r>
              <a:rPr b="1" spc="10" dirty="0">
                <a:latin typeface="Arial"/>
                <a:cs typeface="Arial"/>
              </a:rPr>
              <a:t>while</a:t>
            </a:r>
            <a:r>
              <a:rPr spc="10" dirty="0"/>
              <a:t>( </a:t>
            </a:r>
            <a:r>
              <a:rPr b="1" spc="10" dirty="0">
                <a:latin typeface="Arial"/>
                <a:cs typeface="Arial"/>
              </a:rPr>
              <a:t>true </a:t>
            </a:r>
            <a:r>
              <a:rPr spc="10" dirty="0"/>
              <a:t>) { </a:t>
            </a:r>
            <a:r>
              <a:rPr spc="15" dirty="0"/>
              <a:t> </a:t>
            </a:r>
            <a:r>
              <a:rPr dirty="0"/>
              <a:t>from_net_layer(</a:t>
            </a:r>
            <a:r>
              <a:rPr spc="10" dirty="0"/>
              <a:t> </a:t>
            </a:r>
            <a:r>
              <a:rPr spc="-10" dirty="0"/>
              <a:t>&amp;buffer </a:t>
            </a:r>
            <a:r>
              <a:rPr spc="5" dirty="0"/>
              <a:t>); </a:t>
            </a:r>
            <a:r>
              <a:rPr spc="-595" dirty="0"/>
              <a:t> </a:t>
            </a:r>
            <a:r>
              <a:rPr spc="-10" dirty="0"/>
              <a:t>s.info</a:t>
            </a:r>
            <a:r>
              <a:rPr dirty="0"/>
              <a:t> </a:t>
            </a:r>
            <a:r>
              <a:rPr spc="15" dirty="0"/>
              <a:t>=</a:t>
            </a:r>
            <a:r>
              <a:rPr spc="10" dirty="0"/>
              <a:t> </a:t>
            </a:r>
            <a:r>
              <a:rPr dirty="0"/>
              <a:t>buffer; </a:t>
            </a:r>
            <a:r>
              <a:rPr spc="5" dirty="0"/>
              <a:t> </a:t>
            </a:r>
            <a:r>
              <a:rPr spc="-10" dirty="0"/>
              <a:t>to_phy_layer(</a:t>
            </a:r>
            <a:r>
              <a:rPr spc="50" dirty="0"/>
              <a:t> </a:t>
            </a:r>
            <a:r>
              <a:rPr spc="15" dirty="0"/>
              <a:t>&amp;s</a:t>
            </a:r>
            <a:r>
              <a:rPr spc="5" dirty="0"/>
              <a:t> );</a:t>
            </a:r>
          </a:p>
          <a:p>
            <a:pPr marL="107315" indent="0">
              <a:lnSpc>
                <a:spcPct val="100000"/>
              </a:lnSpc>
              <a:spcBef>
                <a:spcPts val="900"/>
              </a:spcBef>
              <a:buNone/>
            </a:pPr>
            <a:r>
              <a:rPr spc="1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890"/>
              </a:spcBef>
              <a:buNone/>
            </a:pPr>
            <a:r>
              <a:rPr spc="10" dirty="0"/>
              <a:t>}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6101582" y="1721598"/>
            <a:ext cx="3693795" cy="451675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b="1" spc="-5" dirty="0">
                <a:latin typeface="Arial"/>
                <a:cs typeface="Arial"/>
              </a:rPr>
              <a:t>void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receiver1(</a:t>
            </a:r>
            <a:r>
              <a:rPr spc="25" dirty="0"/>
              <a:t> </a:t>
            </a:r>
            <a:r>
              <a:rPr b="1" spc="-5" dirty="0">
                <a:latin typeface="Arial"/>
                <a:cs typeface="Arial"/>
              </a:rPr>
              <a:t>void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spc="10" dirty="0"/>
              <a:t>)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pc="10" dirty="0"/>
              <a:t>{</a:t>
            </a:r>
          </a:p>
          <a:p>
            <a:pPr marL="295910" marR="1191260">
              <a:lnSpc>
                <a:spcPct val="133600"/>
              </a:lnSpc>
              <a:spcBef>
                <a:spcPts val="15"/>
              </a:spcBef>
            </a:pPr>
            <a:r>
              <a:rPr spc="5" dirty="0"/>
              <a:t>frame </a:t>
            </a:r>
            <a:r>
              <a:rPr spc="40" dirty="0"/>
              <a:t>r; </a:t>
            </a:r>
            <a:r>
              <a:rPr spc="45" dirty="0"/>
              <a:t> </a:t>
            </a:r>
            <a:r>
              <a:rPr spc="-10" dirty="0"/>
              <a:t>event_type</a:t>
            </a:r>
            <a:r>
              <a:rPr spc="25" dirty="0"/>
              <a:t> </a:t>
            </a:r>
            <a:r>
              <a:rPr spc="-20" dirty="0"/>
              <a:t>event;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 dirty="0"/>
          </a:p>
          <a:p>
            <a:pPr marL="579120" marR="5080" indent="-283845">
              <a:lnSpc>
                <a:spcPct val="133900"/>
              </a:lnSpc>
            </a:pPr>
            <a:r>
              <a:rPr b="1" spc="10" dirty="0">
                <a:latin typeface="Arial"/>
                <a:cs typeface="Arial"/>
              </a:rPr>
              <a:t>while</a:t>
            </a:r>
            <a:r>
              <a:rPr spc="10" dirty="0"/>
              <a:t>( </a:t>
            </a:r>
            <a:r>
              <a:rPr b="1" spc="10" dirty="0">
                <a:latin typeface="Arial"/>
                <a:cs typeface="Arial"/>
              </a:rPr>
              <a:t>true </a:t>
            </a:r>
            <a:r>
              <a:rPr spc="10" dirty="0"/>
              <a:t>) { </a:t>
            </a:r>
            <a:r>
              <a:rPr spc="15" dirty="0"/>
              <a:t> </a:t>
            </a:r>
            <a:r>
              <a:rPr spc="-10" dirty="0"/>
              <a:t>wait_for_event(</a:t>
            </a:r>
            <a:r>
              <a:rPr spc="30" dirty="0"/>
              <a:t> </a:t>
            </a:r>
            <a:r>
              <a:rPr spc="-15" dirty="0"/>
              <a:t>&amp;event</a:t>
            </a:r>
            <a:r>
              <a:rPr spc="10" dirty="0"/>
              <a:t> </a:t>
            </a:r>
            <a:r>
              <a:rPr spc="5" dirty="0"/>
              <a:t>); </a:t>
            </a:r>
            <a:r>
              <a:rPr spc="-600" dirty="0"/>
              <a:t> </a:t>
            </a:r>
            <a:r>
              <a:rPr spc="-5" dirty="0"/>
              <a:t>from_phys_layer(</a:t>
            </a:r>
            <a:r>
              <a:rPr spc="45" dirty="0"/>
              <a:t> </a:t>
            </a:r>
            <a:r>
              <a:rPr spc="10" dirty="0"/>
              <a:t>&amp;r</a:t>
            </a:r>
            <a:r>
              <a:rPr spc="-5" dirty="0"/>
              <a:t> </a:t>
            </a:r>
            <a:r>
              <a:rPr spc="5" dirty="0"/>
              <a:t>); </a:t>
            </a:r>
            <a:r>
              <a:rPr spc="10" dirty="0"/>
              <a:t> </a:t>
            </a:r>
            <a:r>
              <a:rPr spc="-5" dirty="0"/>
              <a:t>to_net_layer(</a:t>
            </a:r>
            <a:r>
              <a:rPr spc="35" dirty="0"/>
              <a:t> </a:t>
            </a:r>
            <a:r>
              <a:rPr spc="-20" dirty="0"/>
              <a:t>&amp;r.info</a:t>
            </a:r>
            <a:r>
              <a:rPr dirty="0"/>
              <a:t> </a:t>
            </a:r>
            <a:r>
              <a:rPr spc="5" dirty="0"/>
              <a:t>);</a:t>
            </a:r>
          </a:p>
          <a:p>
            <a:pPr marL="295910">
              <a:lnSpc>
                <a:spcPct val="100000"/>
              </a:lnSpc>
              <a:spcBef>
                <a:spcPts val="900"/>
              </a:spcBef>
            </a:pPr>
            <a:r>
              <a:rPr spc="10" dirty="0"/>
              <a:t>}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31</a:t>
            </a:fld>
            <a:r>
              <a:rPr spc="10" dirty="0"/>
              <a:t>/69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0403" y="7273475"/>
            <a:ext cx="558800" cy="1784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2062" y="6526848"/>
            <a:ext cx="12065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313245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Stop-and-Wait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32</a:t>
            </a:fld>
            <a:r>
              <a:rPr spc="10" dirty="0"/>
              <a:t>/69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0403" y="7273475"/>
            <a:ext cx="558800" cy="1784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BD4895-8038-4487-DDEA-BF07047E7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295400"/>
            <a:ext cx="6538913" cy="556453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313245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Stop-and-Wait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b="1" spc="-5" dirty="0">
                <a:latin typeface="Arial"/>
                <a:cs typeface="Arial"/>
              </a:rPr>
              <a:t>void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spc="15" dirty="0"/>
              <a:t>sender2(</a:t>
            </a:r>
            <a:r>
              <a:rPr spc="-20" dirty="0"/>
              <a:t> </a:t>
            </a:r>
            <a:r>
              <a:rPr b="1" spc="-5" dirty="0">
                <a:latin typeface="Arial"/>
                <a:cs typeface="Arial"/>
              </a:rPr>
              <a:t>void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0" dirty="0"/>
              <a:t>)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pc="10" dirty="0"/>
              <a:t>{</a:t>
            </a:r>
          </a:p>
          <a:p>
            <a:pPr marL="295910" marR="1787525">
              <a:lnSpc>
                <a:spcPts val="2360"/>
              </a:lnSpc>
              <a:spcBef>
                <a:spcPts val="1215"/>
              </a:spcBef>
            </a:pPr>
            <a:r>
              <a:rPr spc="5" dirty="0"/>
              <a:t>frame </a:t>
            </a:r>
            <a:r>
              <a:rPr spc="10" dirty="0"/>
              <a:t>s; </a:t>
            </a:r>
            <a:r>
              <a:rPr spc="15" dirty="0"/>
              <a:t> </a:t>
            </a:r>
            <a:r>
              <a:rPr spc="-10" dirty="0"/>
              <a:t>packet</a:t>
            </a:r>
            <a:r>
              <a:rPr spc="-35" dirty="0"/>
              <a:t> </a:t>
            </a:r>
            <a:r>
              <a:rPr dirty="0"/>
              <a:t>buffer;</a:t>
            </a:r>
          </a:p>
          <a:p>
            <a:pPr marL="295910">
              <a:lnSpc>
                <a:spcPts val="2335"/>
              </a:lnSpc>
            </a:pPr>
            <a:r>
              <a:rPr spc="-10" dirty="0"/>
              <a:t>event_type</a:t>
            </a:r>
            <a:r>
              <a:rPr spc="40" dirty="0"/>
              <a:t> </a:t>
            </a:r>
            <a:r>
              <a:rPr spc="-20" dirty="0"/>
              <a:t>event;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 dirty="0"/>
          </a:p>
          <a:p>
            <a:pPr marL="579120" marR="5080" indent="-283845">
              <a:lnSpc>
                <a:spcPct val="89800"/>
              </a:lnSpc>
            </a:pPr>
            <a:r>
              <a:rPr b="1" spc="10" dirty="0">
                <a:latin typeface="Arial"/>
                <a:cs typeface="Arial"/>
              </a:rPr>
              <a:t>while</a:t>
            </a:r>
            <a:r>
              <a:rPr spc="10" dirty="0"/>
              <a:t>( </a:t>
            </a:r>
            <a:r>
              <a:rPr b="1" spc="10" dirty="0">
                <a:latin typeface="Arial"/>
                <a:cs typeface="Arial"/>
              </a:rPr>
              <a:t>true </a:t>
            </a:r>
            <a:r>
              <a:rPr spc="10" dirty="0"/>
              <a:t>) { </a:t>
            </a:r>
            <a:r>
              <a:rPr spc="15" dirty="0"/>
              <a:t> </a:t>
            </a:r>
            <a:r>
              <a:rPr dirty="0"/>
              <a:t>from_net_layer(</a:t>
            </a:r>
            <a:r>
              <a:rPr spc="10" dirty="0"/>
              <a:t> </a:t>
            </a:r>
            <a:r>
              <a:rPr spc="-10" dirty="0"/>
              <a:t>&amp;buffer </a:t>
            </a:r>
            <a:r>
              <a:rPr spc="5" dirty="0"/>
              <a:t>); </a:t>
            </a:r>
            <a:r>
              <a:rPr spc="-595" dirty="0"/>
              <a:t> </a:t>
            </a:r>
            <a:r>
              <a:rPr spc="-10" dirty="0"/>
              <a:t>s.info</a:t>
            </a:r>
            <a:r>
              <a:rPr dirty="0"/>
              <a:t> </a:t>
            </a:r>
            <a:r>
              <a:rPr spc="15" dirty="0"/>
              <a:t>=</a:t>
            </a:r>
            <a:r>
              <a:rPr spc="10" dirty="0"/>
              <a:t> </a:t>
            </a:r>
            <a:r>
              <a:rPr dirty="0"/>
              <a:t>buffer; </a:t>
            </a:r>
            <a:r>
              <a:rPr spc="5" dirty="0"/>
              <a:t> </a:t>
            </a:r>
            <a:r>
              <a:rPr spc="-10" dirty="0"/>
              <a:t>to_phy_layer(</a:t>
            </a:r>
            <a:r>
              <a:rPr spc="50" dirty="0"/>
              <a:t> </a:t>
            </a:r>
            <a:r>
              <a:rPr spc="15" dirty="0"/>
              <a:t>&amp;s</a:t>
            </a:r>
            <a:r>
              <a:rPr spc="5" dirty="0"/>
              <a:t> ); </a:t>
            </a:r>
            <a:r>
              <a:rPr spc="10" dirty="0"/>
              <a:t> </a:t>
            </a:r>
            <a:r>
              <a:rPr spc="-10" dirty="0"/>
              <a:t>wait_for_event(</a:t>
            </a:r>
            <a:r>
              <a:rPr spc="40" dirty="0"/>
              <a:t> </a:t>
            </a:r>
            <a:r>
              <a:rPr spc="-15" dirty="0"/>
              <a:t>&amp;event</a:t>
            </a:r>
            <a:r>
              <a:rPr spc="10" dirty="0"/>
              <a:t> </a:t>
            </a:r>
            <a:r>
              <a:rPr spc="5" dirty="0"/>
              <a:t>);</a:t>
            </a:r>
          </a:p>
          <a:p>
            <a:pPr marL="295910">
              <a:lnSpc>
                <a:spcPts val="2365"/>
              </a:lnSpc>
            </a:pPr>
            <a:r>
              <a:rPr spc="10" dirty="0"/>
              <a:t>}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pc="10" dirty="0"/>
              <a:t>}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b="1" spc="-5" dirty="0">
                <a:latin typeface="Arial"/>
                <a:cs typeface="Arial"/>
              </a:rPr>
              <a:t>void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receiver2(</a:t>
            </a:r>
            <a:r>
              <a:rPr spc="25" dirty="0"/>
              <a:t> </a:t>
            </a:r>
            <a:r>
              <a:rPr b="1" spc="-5" dirty="0">
                <a:latin typeface="Arial"/>
                <a:cs typeface="Arial"/>
              </a:rPr>
              <a:t>void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spc="10" dirty="0"/>
              <a:t>)</a:t>
            </a: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pc="10" dirty="0"/>
              <a:t>{</a:t>
            </a:r>
          </a:p>
          <a:p>
            <a:pPr marL="295910" marR="1191260">
              <a:lnSpc>
                <a:spcPts val="2360"/>
              </a:lnSpc>
              <a:spcBef>
                <a:spcPts val="1215"/>
              </a:spcBef>
            </a:pPr>
            <a:r>
              <a:rPr spc="5" dirty="0"/>
              <a:t>frame </a:t>
            </a:r>
            <a:r>
              <a:rPr spc="-20" dirty="0"/>
              <a:t>r,s; </a:t>
            </a:r>
            <a:r>
              <a:rPr spc="-15" dirty="0"/>
              <a:t> </a:t>
            </a:r>
            <a:r>
              <a:rPr spc="-10" dirty="0"/>
              <a:t>event_type</a:t>
            </a:r>
            <a:r>
              <a:rPr spc="25" dirty="0"/>
              <a:t> </a:t>
            </a:r>
            <a:r>
              <a:rPr spc="-20" dirty="0"/>
              <a:t>event;</a:t>
            </a:r>
          </a:p>
          <a:p>
            <a:pPr>
              <a:lnSpc>
                <a:spcPct val="100000"/>
              </a:lnSpc>
            </a:pPr>
            <a:endParaRPr sz="2500"/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/>
          </a:p>
          <a:p>
            <a:pPr marL="579120" marR="5080" indent="-283845">
              <a:lnSpc>
                <a:spcPct val="89800"/>
              </a:lnSpc>
            </a:pPr>
            <a:r>
              <a:rPr b="1" spc="10" dirty="0">
                <a:latin typeface="Arial"/>
                <a:cs typeface="Arial"/>
              </a:rPr>
              <a:t>while</a:t>
            </a:r>
            <a:r>
              <a:rPr spc="10" dirty="0"/>
              <a:t>( </a:t>
            </a:r>
            <a:r>
              <a:rPr b="1" spc="10" dirty="0">
                <a:latin typeface="Arial"/>
                <a:cs typeface="Arial"/>
              </a:rPr>
              <a:t>true </a:t>
            </a:r>
            <a:r>
              <a:rPr spc="10" dirty="0"/>
              <a:t>) { </a:t>
            </a:r>
            <a:r>
              <a:rPr spc="15" dirty="0"/>
              <a:t> </a:t>
            </a:r>
            <a:r>
              <a:rPr spc="-10" dirty="0"/>
              <a:t>wait_for_event(</a:t>
            </a:r>
            <a:r>
              <a:rPr spc="30" dirty="0"/>
              <a:t> </a:t>
            </a:r>
            <a:r>
              <a:rPr spc="-15" dirty="0"/>
              <a:t>&amp;event</a:t>
            </a:r>
            <a:r>
              <a:rPr spc="10" dirty="0"/>
              <a:t> </a:t>
            </a:r>
            <a:r>
              <a:rPr spc="5" dirty="0"/>
              <a:t>); </a:t>
            </a:r>
            <a:r>
              <a:rPr spc="-600" dirty="0"/>
              <a:t> </a:t>
            </a:r>
            <a:r>
              <a:rPr spc="-5" dirty="0"/>
              <a:t>from_phys_layer(</a:t>
            </a:r>
            <a:r>
              <a:rPr spc="45" dirty="0"/>
              <a:t> </a:t>
            </a:r>
            <a:r>
              <a:rPr spc="10" dirty="0"/>
              <a:t>&amp;r</a:t>
            </a:r>
            <a:r>
              <a:rPr spc="-5" dirty="0"/>
              <a:t> </a:t>
            </a:r>
            <a:r>
              <a:rPr spc="5" dirty="0"/>
              <a:t>); </a:t>
            </a:r>
            <a:r>
              <a:rPr spc="10" dirty="0"/>
              <a:t> </a:t>
            </a:r>
            <a:r>
              <a:rPr spc="-5" dirty="0"/>
              <a:t>to_net_layer(</a:t>
            </a:r>
            <a:r>
              <a:rPr spc="35" dirty="0"/>
              <a:t> </a:t>
            </a:r>
            <a:r>
              <a:rPr spc="-20" dirty="0"/>
              <a:t>&amp;r.info</a:t>
            </a:r>
            <a:r>
              <a:rPr dirty="0"/>
              <a:t> </a:t>
            </a:r>
            <a:r>
              <a:rPr spc="5" dirty="0"/>
              <a:t>); </a:t>
            </a:r>
            <a:r>
              <a:rPr spc="10" dirty="0"/>
              <a:t> </a:t>
            </a:r>
            <a:r>
              <a:rPr spc="-10" dirty="0"/>
              <a:t>to_phy_layer(</a:t>
            </a:r>
            <a:r>
              <a:rPr spc="50" dirty="0"/>
              <a:t> </a:t>
            </a:r>
            <a:r>
              <a:rPr spc="15" dirty="0"/>
              <a:t>&amp;s</a:t>
            </a:r>
            <a:r>
              <a:rPr spc="5" dirty="0"/>
              <a:t> );</a:t>
            </a:r>
          </a:p>
          <a:p>
            <a:pPr marL="295910">
              <a:lnSpc>
                <a:spcPts val="2365"/>
              </a:lnSpc>
            </a:pPr>
            <a:r>
              <a:rPr spc="10" dirty="0"/>
              <a:t>}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33</a:t>
            </a:fld>
            <a:r>
              <a:rPr spc="10" dirty="0"/>
              <a:t>/69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0403" y="7273475"/>
            <a:ext cx="558800" cy="1784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2056" y="6240309"/>
            <a:ext cx="12065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82976223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0545" y="342467"/>
            <a:ext cx="7094855" cy="605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Stop-and-Wait</a:t>
            </a:r>
            <a:r>
              <a:rPr lang="en-US" spc="-15" dirty="0"/>
              <a:t> Noisy Channel</a:t>
            </a:r>
            <a:endParaRPr spc="-1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34</a:t>
            </a:fld>
            <a:r>
              <a:rPr spc="10" dirty="0"/>
              <a:t>/69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250403" y="7273475"/>
            <a:ext cx="558800" cy="1784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1</a:t>
            </a:r>
            <a:r>
              <a:rPr sz="1050" spc="275" dirty="0">
                <a:latin typeface="Arial MT"/>
                <a:cs typeface="Arial MT"/>
              </a:rPr>
              <a:t> </a:t>
            </a:r>
            <a:r>
              <a:rPr sz="1050" spc="15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D29161-8E30-6EFE-118D-CEE238C75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736" y="863224"/>
            <a:ext cx="5252864" cy="671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17403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065" marR="5080">
              <a:lnSpc>
                <a:spcPts val="4120"/>
              </a:lnSpc>
              <a:spcBef>
                <a:spcPts val="660"/>
              </a:spcBef>
            </a:pPr>
            <a:r>
              <a:rPr spc="-45" dirty="0"/>
              <a:t>Positive </a:t>
            </a:r>
            <a:r>
              <a:rPr spc="-10" dirty="0"/>
              <a:t>Acknowledgement </a:t>
            </a:r>
            <a:r>
              <a:rPr spc="-1055" dirty="0"/>
              <a:t> </a:t>
            </a:r>
            <a:r>
              <a:rPr spc="-5" dirty="0"/>
              <a:t>with</a:t>
            </a:r>
            <a:r>
              <a:rPr spc="-20" dirty="0"/>
              <a:t> </a:t>
            </a:r>
            <a:r>
              <a:rPr spc="-5" dirty="0"/>
              <a:t>Retransmission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2072" y="2023403"/>
            <a:ext cx="3526154" cy="5318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714"/>
              </a:lnSpc>
              <a:spcBef>
                <a:spcPts val="135"/>
              </a:spcBef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1450" b="1" spc="-2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sender3(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1450" b="1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00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1450">
              <a:latin typeface="Arial MT"/>
              <a:cs typeface="Arial MT"/>
            </a:endParaRPr>
          </a:p>
          <a:p>
            <a:pPr marL="201295" marR="922019">
              <a:lnSpc>
                <a:spcPts val="1689"/>
              </a:lnSpc>
              <a:spcBef>
                <a:spcPts val="80"/>
              </a:spcBef>
            </a:pP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seq_nr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next_frame_to_send;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s;</a:t>
            </a:r>
            <a:endParaRPr sz="1450">
              <a:latin typeface="Arial MT"/>
              <a:cs typeface="Arial MT"/>
            </a:endParaRPr>
          </a:p>
          <a:p>
            <a:pPr marL="201295" marR="1846580">
              <a:lnSpc>
                <a:spcPts val="1689"/>
              </a:lnSpc>
              <a:spcBef>
                <a:spcPts val="5"/>
              </a:spcBef>
            </a:pP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packet buffer;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event_type</a:t>
            </a:r>
            <a:r>
              <a:rPr sz="1450" spc="-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event;</a:t>
            </a:r>
            <a:endParaRPr sz="1450">
              <a:latin typeface="Arial MT"/>
              <a:cs typeface="Arial MT"/>
            </a:endParaRPr>
          </a:p>
          <a:p>
            <a:pPr marL="201295" marR="1186180" algn="just">
              <a:lnSpc>
                <a:spcPts val="1689"/>
              </a:lnSpc>
              <a:spcBef>
                <a:spcPts val="940"/>
              </a:spcBef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next_frame_to_send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=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0;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from_net_layer(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&amp;buffer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b="1" spc="10" dirty="0">
                <a:solidFill>
                  <a:srgbClr val="9B0707"/>
                </a:solidFill>
                <a:latin typeface="Arial"/>
                <a:cs typeface="Arial"/>
              </a:rPr>
              <a:t>while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b="1" spc="10" dirty="0">
                <a:solidFill>
                  <a:srgbClr val="9B0707"/>
                </a:solidFill>
                <a:latin typeface="Arial"/>
                <a:cs typeface="Arial"/>
              </a:rPr>
              <a:t>true</a:t>
            </a:r>
            <a:r>
              <a:rPr sz="1450" b="1" spc="2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 {</a:t>
            </a:r>
            <a:endParaRPr sz="1450">
              <a:latin typeface="Arial MT"/>
              <a:cs typeface="Arial MT"/>
            </a:endParaRPr>
          </a:p>
          <a:p>
            <a:pPr marL="390525">
              <a:lnSpc>
                <a:spcPts val="1630"/>
              </a:lnSpc>
            </a:pP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s.info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buffer;</a:t>
            </a:r>
            <a:endParaRPr sz="1450">
              <a:latin typeface="Arial MT"/>
              <a:cs typeface="Arial MT"/>
            </a:endParaRPr>
          </a:p>
          <a:p>
            <a:pPr marL="390525" marR="699770">
              <a:lnSpc>
                <a:spcPts val="1689"/>
              </a:lnSpc>
              <a:spcBef>
                <a:spcPts val="80"/>
              </a:spcBef>
            </a:pP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s.seq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=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next_frame_to_send;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to_phy_layer(</a:t>
            </a:r>
            <a:r>
              <a:rPr sz="1450" spc="1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&amp;s</a:t>
            </a:r>
            <a:r>
              <a:rPr sz="1450" spc="1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set_timer(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s.seq );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wait_for_event( &amp;event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);</a:t>
            </a:r>
            <a:endParaRPr sz="1450">
              <a:latin typeface="Arial MT"/>
              <a:cs typeface="Arial MT"/>
            </a:endParaRPr>
          </a:p>
          <a:p>
            <a:pPr marL="579120" marR="792480" indent="-189230">
              <a:lnSpc>
                <a:spcPts val="1689"/>
              </a:lnSpc>
              <a:spcBef>
                <a:spcPts val="10"/>
              </a:spcBef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( 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event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==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frame_arrival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from_phys_layer(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&amp;s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1450">
              <a:latin typeface="Arial MT"/>
              <a:cs typeface="Arial MT"/>
            </a:endParaRPr>
          </a:p>
          <a:p>
            <a:pPr marL="579120">
              <a:lnSpc>
                <a:spcPts val="1630"/>
              </a:lnSpc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s.ack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==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next_frame_to_send )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1450">
              <a:latin typeface="Arial MT"/>
              <a:cs typeface="Arial MT"/>
            </a:endParaRPr>
          </a:p>
          <a:p>
            <a:pPr marL="768350" marR="513715">
              <a:lnSpc>
                <a:spcPts val="1689"/>
              </a:lnSpc>
              <a:spcBef>
                <a:spcPts val="80"/>
              </a:spcBef>
            </a:pP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stop_timer(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s.ack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from_net_layer(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&amp;buffer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inc(</a:t>
            </a:r>
            <a:r>
              <a:rPr sz="1450" spc="-4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next_frame_to_send</a:t>
            </a:r>
            <a:r>
              <a:rPr sz="14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1450">
              <a:latin typeface="Arial MT"/>
              <a:cs typeface="Arial MT"/>
            </a:endParaRPr>
          </a:p>
          <a:p>
            <a:pPr marL="579120">
              <a:lnSpc>
                <a:spcPts val="1625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390525">
              <a:lnSpc>
                <a:spcPts val="1689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201295">
              <a:lnSpc>
                <a:spcPts val="1689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14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46262" y="2561385"/>
            <a:ext cx="3135630" cy="42437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714"/>
              </a:lnSpc>
              <a:spcBef>
                <a:spcPts val="135"/>
              </a:spcBef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1450" b="1" spc="-1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receiver3(</a:t>
            </a:r>
            <a:r>
              <a:rPr sz="14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1450" b="1" spc="-1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689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1450">
              <a:latin typeface="Arial MT"/>
              <a:cs typeface="Arial MT"/>
            </a:endParaRPr>
          </a:p>
          <a:p>
            <a:pPr marL="201295" marR="897890">
              <a:lnSpc>
                <a:spcPts val="1700"/>
              </a:lnSpc>
              <a:spcBef>
                <a:spcPts val="65"/>
              </a:spcBef>
            </a:pP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seq_nr</a:t>
            </a:r>
            <a:r>
              <a:rPr sz="1450" spc="-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frame_expected;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-15" dirty="0">
                <a:solidFill>
                  <a:srgbClr val="9B0707"/>
                </a:solidFill>
                <a:latin typeface="Arial MT"/>
                <a:cs typeface="Arial MT"/>
              </a:rPr>
              <a:t>r,s;</a:t>
            </a:r>
            <a:endParaRPr sz="1450">
              <a:latin typeface="Arial MT"/>
              <a:cs typeface="Arial MT"/>
            </a:endParaRPr>
          </a:p>
          <a:p>
            <a:pPr marL="201295">
              <a:lnSpc>
                <a:spcPts val="1645"/>
              </a:lnSpc>
            </a:pP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event_type</a:t>
            </a:r>
            <a:r>
              <a:rPr sz="14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event;</a:t>
            </a:r>
            <a:endParaRPr sz="1450">
              <a:latin typeface="Arial MT"/>
              <a:cs typeface="Arial MT"/>
            </a:endParaRPr>
          </a:p>
          <a:p>
            <a:pPr marL="201295">
              <a:lnSpc>
                <a:spcPts val="1714"/>
              </a:lnSpc>
              <a:spcBef>
                <a:spcPts val="890"/>
              </a:spcBef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frame_expected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14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0;</a:t>
            </a:r>
            <a:endParaRPr sz="1450">
              <a:latin typeface="Arial MT"/>
              <a:cs typeface="Arial MT"/>
            </a:endParaRPr>
          </a:p>
          <a:p>
            <a:pPr marL="390525" marR="669290" indent="-189230">
              <a:lnSpc>
                <a:spcPts val="1689"/>
              </a:lnSpc>
              <a:spcBef>
                <a:spcPts val="75"/>
              </a:spcBef>
            </a:pPr>
            <a:r>
              <a:rPr sz="1450" b="1" spc="10" dirty="0">
                <a:solidFill>
                  <a:srgbClr val="9B0707"/>
                </a:solidFill>
                <a:latin typeface="Arial"/>
                <a:cs typeface="Arial"/>
              </a:rPr>
              <a:t>while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b="1" spc="10" dirty="0">
                <a:solidFill>
                  <a:srgbClr val="9B0707"/>
                </a:solidFill>
                <a:latin typeface="Arial"/>
                <a:cs typeface="Arial"/>
              </a:rPr>
              <a:t>true</a:t>
            </a:r>
            <a:r>
              <a:rPr sz="1450" b="1" spc="2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wait_for_event(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&amp;event</a:t>
            </a:r>
            <a:r>
              <a:rPr sz="14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1450">
              <a:latin typeface="Arial MT"/>
              <a:cs typeface="Arial MT"/>
            </a:endParaRPr>
          </a:p>
          <a:p>
            <a:pPr marL="579120" marR="401320" indent="-189230">
              <a:lnSpc>
                <a:spcPts val="1689"/>
              </a:lnSpc>
              <a:spcBef>
                <a:spcPts val="5"/>
              </a:spcBef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event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==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frame_arrival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 {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from_phys_layer(</a:t>
            </a:r>
            <a:r>
              <a:rPr sz="14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&amp;r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);</a:t>
            </a:r>
            <a:endParaRPr sz="1450">
              <a:latin typeface="Arial MT"/>
              <a:cs typeface="Arial MT"/>
            </a:endParaRPr>
          </a:p>
          <a:p>
            <a:pPr marL="579120">
              <a:lnSpc>
                <a:spcPts val="1630"/>
              </a:lnSpc>
            </a:pPr>
            <a:r>
              <a:rPr sz="145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r.seq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==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 frame_expected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1450">
              <a:latin typeface="Arial MT"/>
              <a:cs typeface="Arial MT"/>
            </a:endParaRPr>
          </a:p>
          <a:p>
            <a:pPr marL="768350" marR="489584">
              <a:lnSpc>
                <a:spcPts val="1689"/>
              </a:lnSpc>
              <a:spcBef>
                <a:spcPts val="80"/>
              </a:spcBef>
            </a:pP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to_net_layer( </a:t>
            </a:r>
            <a:r>
              <a:rPr sz="1450" spc="-10" dirty="0">
                <a:solidFill>
                  <a:srgbClr val="9B0707"/>
                </a:solidFill>
                <a:latin typeface="Arial MT"/>
                <a:cs typeface="Arial MT"/>
              </a:rPr>
              <a:t>&amp;r.info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1450" spc="-3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5" dirty="0">
                <a:solidFill>
                  <a:srgbClr val="9B0707"/>
                </a:solidFill>
                <a:latin typeface="Arial MT"/>
                <a:cs typeface="Arial MT"/>
              </a:rPr>
              <a:t>inc(</a:t>
            </a:r>
            <a:r>
              <a:rPr sz="1450" spc="-4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frame_expected</a:t>
            </a:r>
            <a:r>
              <a:rPr sz="14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1450">
              <a:latin typeface="Arial MT"/>
              <a:cs typeface="Arial MT"/>
            </a:endParaRPr>
          </a:p>
          <a:p>
            <a:pPr marL="579120">
              <a:lnSpc>
                <a:spcPts val="1620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579120" marR="186055">
              <a:lnSpc>
                <a:spcPts val="1689"/>
              </a:lnSpc>
              <a:spcBef>
                <a:spcPts val="70"/>
              </a:spcBef>
            </a:pP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s.ack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14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1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–</a:t>
            </a:r>
            <a:r>
              <a:rPr sz="14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frame_expected; </a:t>
            </a:r>
            <a:r>
              <a:rPr sz="1450" spc="-38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to_phy_layer(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20" dirty="0">
                <a:solidFill>
                  <a:srgbClr val="9B0707"/>
                </a:solidFill>
                <a:latin typeface="Arial MT"/>
                <a:cs typeface="Arial MT"/>
              </a:rPr>
              <a:t>&amp;s</a:t>
            </a:r>
            <a:r>
              <a:rPr sz="14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145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1450">
              <a:latin typeface="Arial MT"/>
              <a:cs typeface="Arial MT"/>
            </a:endParaRPr>
          </a:p>
          <a:p>
            <a:pPr marL="390525">
              <a:lnSpc>
                <a:spcPts val="1620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201295">
              <a:lnSpc>
                <a:spcPts val="1700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ts val="1720"/>
              </a:lnSpc>
            </a:pPr>
            <a:r>
              <a:rPr sz="145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8923" y="7226156"/>
            <a:ext cx="1066165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5" dirty="0">
                <a:solidFill>
                  <a:srgbClr val="0099CC"/>
                </a:solidFill>
                <a:latin typeface="Times New Roman"/>
                <a:cs typeface="Times New Roman"/>
              </a:rPr>
              <a:t>Chapter</a:t>
            </a:r>
            <a:r>
              <a:rPr sz="1000" spc="15" dirty="0">
                <a:solidFill>
                  <a:srgbClr val="0099CC"/>
                </a:solidFill>
                <a:latin typeface="Times New Roman"/>
                <a:cs typeface="Times New Roman"/>
              </a:rPr>
              <a:t> 3</a:t>
            </a:r>
            <a:r>
              <a:rPr sz="1000" spc="-15" dirty="0">
                <a:solidFill>
                  <a:srgbClr val="0099CC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0099CC"/>
                </a:solidFill>
                <a:latin typeface="Times New Roman"/>
                <a:cs typeface="Times New Roman"/>
              </a:rPr>
              <a:t>–</a:t>
            </a:r>
            <a:r>
              <a:rPr sz="1000" spc="-5" dirty="0">
                <a:solidFill>
                  <a:srgbClr val="0099CC"/>
                </a:solidFill>
                <a:latin typeface="Times New Roman"/>
                <a:cs typeface="Times New Roman"/>
              </a:rPr>
              <a:t> </a:t>
            </a:r>
            <a:r>
              <a:rPr sz="1000" spc="5" dirty="0">
                <a:solidFill>
                  <a:srgbClr val="0099CC"/>
                </a:solidFill>
                <a:latin typeface="Times New Roman"/>
                <a:cs typeface="Times New Roman"/>
              </a:rPr>
              <a:t>p.35/69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56346"/>
            <a:ext cx="6280912" cy="572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**3.4 </a:t>
            </a:r>
            <a:r>
              <a:rPr spc="-10" dirty="0"/>
              <a:t>Sliding</a:t>
            </a:r>
            <a:r>
              <a:rPr spc="10" dirty="0"/>
              <a:t> </a:t>
            </a:r>
            <a:r>
              <a:rPr spc="-15" dirty="0"/>
              <a:t>Window</a:t>
            </a:r>
            <a:r>
              <a:rPr spc="-2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36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2606649" y="2059579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06649" y="3178817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82709" y="436221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06649" y="54814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1800" y="2036527"/>
            <a:ext cx="3590290" cy="36993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Piggybacking</a:t>
            </a:r>
            <a:endParaRPr sz="2650" dirty="0">
              <a:latin typeface="Arial MT"/>
              <a:cs typeface="Arial MT"/>
            </a:endParaRPr>
          </a:p>
          <a:p>
            <a:pPr marL="12700" marR="5080">
              <a:lnSpc>
                <a:spcPct val="294700"/>
              </a:lnSpc>
              <a:spcBef>
                <a:spcPts val="1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One-Bit</a:t>
            </a:r>
            <a:r>
              <a:rPr sz="2650" spc="-5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Sliding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Window </a:t>
            </a:r>
            <a:r>
              <a:rPr sz="2650" spc="-7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Go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Back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N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Selective</a:t>
            </a:r>
            <a:r>
              <a:rPr sz="2650" spc="-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Repeat</a:t>
            </a:r>
            <a:endParaRPr sz="26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292798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Piggybacking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37</a:t>
            </a:fld>
            <a:r>
              <a:rPr spc="10" dirty="0"/>
              <a:t>/69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0C879D-D9B2-EA7B-1981-7C2C7C96E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7800"/>
            <a:ext cx="8699562" cy="501253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292798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Piggybacking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38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930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6049" y="308062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6049" y="446899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16049" y="585887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70007" y="1916450"/>
            <a:ext cx="7661909" cy="4199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Wasted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bandwidth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on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ACK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channel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50" dirty="0">
              <a:latin typeface="Arial MT"/>
              <a:cs typeface="Arial MT"/>
            </a:endParaRPr>
          </a:p>
          <a:p>
            <a:pPr marL="12700" marR="994410" indent="-635">
              <a:lnSpc>
                <a:spcPts val="3170"/>
              </a:lnSpc>
            </a:pP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Interleave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ACKs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reverse</a:t>
            </a:r>
            <a:r>
              <a:rPr sz="2650" spc="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data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channel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(it’s </a:t>
            </a:r>
            <a:r>
              <a:rPr sz="2650" spc="-7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probably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there)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950" dirty="0">
              <a:latin typeface="Arial MT"/>
              <a:cs typeface="Arial MT"/>
            </a:endParaRPr>
          </a:p>
          <a:p>
            <a:pPr marL="12700" marR="69215">
              <a:lnSpc>
                <a:spcPts val="3170"/>
              </a:lnSpc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Piggybacking–add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ACKs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header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of outgoing </a:t>
            </a:r>
            <a:r>
              <a:rPr sz="2650" spc="-7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data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packets</a:t>
            </a:r>
            <a:endParaRPr sz="26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Issue:</a:t>
            </a:r>
            <a:r>
              <a:rPr sz="2650" spc="18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how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long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wait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for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an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outgoing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data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packet</a:t>
            </a:r>
            <a:endParaRPr sz="26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04236391"/>
      </p:ext>
    </p:extLst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5681"/>
            <a:ext cx="539242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Sliding</a:t>
            </a:r>
            <a:r>
              <a:rPr spc="10" dirty="0"/>
              <a:t> </a:t>
            </a:r>
            <a:r>
              <a:rPr spc="-15" dirty="0"/>
              <a:t>Window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0" dirty="0"/>
              <a:t>Size</a:t>
            </a:r>
            <a:r>
              <a:rPr spc="-5" dirty="0"/>
              <a:t> </a:t>
            </a:r>
            <a:r>
              <a:rPr dirty="0"/>
              <a:t>1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39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2740672" y="2440647"/>
            <a:ext cx="1011555" cy="1011555"/>
          </a:xfrm>
          <a:custGeom>
            <a:avLst/>
            <a:gdLst/>
            <a:ahLst/>
            <a:cxnLst/>
            <a:rect l="l" t="t" r="r" b="b"/>
            <a:pathLst>
              <a:path w="1011554" h="1011554">
                <a:moveTo>
                  <a:pt x="505726" y="1011440"/>
                </a:moveTo>
                <a:lnTo>
                  <a:pt x="554430" y="1009125"/>
                </a:lnTo>
                <a:lnTo>
                  <a:pt x="601824" y="1002321"/>
                </a:lnTo>
                <a:lnTo>
                  <a:pt x="647697" y="991240"/>
                </a:lnTo>
                <a:lnTo>
                  <a:pt x="691836" y="976094"/>
                </a:lnTo>
                <a:lnTo>
                  <a:pt x="734030" y="957094"/>
                </a:lnTo>
                <a:lnTo>
                  <a:pt x="774066" y="934454"/>
                </a:lnTo>
                <a:lnTo>
                  <a:pt x="811733" y="908384"/>
                </a:lnTo>
                <a:lnTo>
                  <a:pt x="846818" y="879097"/>
                </a:lnTo>
                <a:lnTo>
                  <a:pt x="879110" y="846805"/>
                </a:lnTo>
                <a:lnTo>
                  <a:pt x="908397" y="811720"/>
                </a:lnTo>
                <a:lnTo>
                  <a:pt x="934467" y="774053"/>
                </a:lnTo>
                <a:lnTo>
                  <a:pt x="957107" y="734017"/>
                </a:lnTo>
                <a:lnTo>
                  <a:pt x="976106" y="691823"/>
                </a:lnTo>
                <a:lnTo>
                  <a:pt x="991253" y="647684"/>
                </a:lnTo>
                <a:lnTo>
                  <a:pt x="1002334" y="601812"/>
                </a:lnTo>
                <a:lnTo>
                  <a:pt x="1009138" y="554417"/>
                </a:lnTo>
                <a:lnTo>
                  <a:pt x="1011453" y="505714"/>
                </a:lnTo>
                <a:lnTo>
                  <a:pt x="1009138" y="457010"/>
                </a:lnTo>
                <a:lnTo>
                  <a:pt x="1002334" y="409616"/>
                </a:lnTo>
                <a:lnTo>
                  <a:pt x="991253" y="363744"/>
                </a:lnTo>
                <a:lnTo>
                  <a:pt x="976106" y="319606"/>
                </a:lnTo>
                <a:lnTo>
                  <a:pt x="957107" y="277413"/>
                </a:lnTo>
                <a:lnTo>
                  <a:pt x="934467" y="237378"/>
                </a:lnTo>
                <a:lnTo>
                  <a:pt x="908397" y="199712"/>
                </a:lnTo>
                <a:lnTo>
                  <a:pt x="879110" y="164628"/>
                </a:lnTo>
                <a:lnTo>
                  <a:pt x="846818" y="132337"/>
                </a:lnTo>
                <a:lnTo>
                  <a:pt x="811733" y="103051"/>
                </a:lnTo>
                <a:lnTo>
                  <a:pt x="774066" y="76982"/>
                </a:lnTo>
                <a:lnTo>
                  <a:pt x="734030" y="54343"/>
                </a:lnTo>
                <a:lnTo>
                  <a:pt x="691836" y="35344"/>
                </a:lnTo>
                <a:lnTo>
                  <a:pt x="647697" y="20199"/>
                </a:lnTo>
                <a:lnTo>
                  <a:pt x="601824" y="9118"/>
                </a:lnTo>
                <a:lnTo>
                  <a:pt x="554430" y="2315"/>
                </a:lnTo>
                <a:lnTo>
                  <a:pt x="505726" y="0"/>
                </a:lnTo>
                <a:lnTo>
                  <a:pt x="457022" y="2315"/>
                </a:lnTo>
                <a:lnTo>
                  <a:pt x="409628" y="9118"/>
                </a:lnTo>
                <a:lnTo>
                  <a:pt x="363756" y="20199"/>
                </a:lnTo>
                <a:lnTo>
                  <a:pt x="319616" y="35344"/>
                </a:lnTo>
                <a:lnTo>
                  <a:pt x="277423" y="54343"/>
                </a:lnTo>
                <a:lnTo>
                  <a:pt x="237387" y="76982"/>
                </a:lnTo>
                <a:lnTo>
                  <a:pt x="199720" y="103051"/>
                </a:lnTo>
                <a:lnTo>
                  <a:pt x="164634" y="132337"/>
                </a:lnTo>
                <a:lnTo>
                  <a:pt x="132342" y="164628"/>
                </a:lnTo>
                <a:lnTo>
                  <a:pt x="103055" y="199712"/>
                </a:lnTo>
                <a:lnTo>
                  <a:pt x="76986" y="237378"/>
                </a:lnTo>
                <a:lnTo>
                  <a:pt x="54345" y="277413"/>
                </a:lnTo>
                <a:lnTo>
                  <a:pt x="35346" y="319606"/>
                </a:lnTo>
                <a:lnTo>
                  <a:pt x="20200" y="363744"/>
                </a:lnTo>
                <a:lnTo>
                  <a:pt x="9119" y="409616"/>
                </a:lnTo>
                <a:lnTo>
                  <a:pt x="2315" y="457010"/>
                </a:lnTo>
                <a:lnTo>
                  <a:pt x="0" y="505714"/>
                </a:lnTo>
                <a:lnTo>
                  <a:pt x="2315" y="554417"/>
                </a:lnTo>
                <a:lnTo>
                  <a:pt x="9119" y="601812"/>
                </a:lnTo>
                <a:lnTo>
                  <a:pt x="20200" y="647684"/>
                </a:lnTo>
                <a:lnTo>
                  <a:pt x="35346" y="691823"/>
                </a:lnTo>
                <a:lnTo>
                  <a:pt x="54345" y="734017"/>
                </a:lnTo>
                <a:lnTo>
                  <a:pt x="76986" y="774053"/>
                </a:lnTo>
                <a:lnTo>
                  <a:pt x="103055" y="811720"/>
                </a:lnTo>
                <a:lnTo>
                  <a:pt x="132342" y="846805"/>
                </a:lnTo>
                <a:lnTo>
                  <a:pt x="164634" y="879097"/>
                </a:lnTo>
                <a:lnTo>
                  <a:pt x="199720" y="908384"/>
                </a:lnTo>
                <a:lnTo>
                  <a:pt x="237387" y="934454"/>
                </a:lnTo>
                <a:lnTo>
                  <a:pt x="277423" y="957094"/>
                </a:lnTo>
                <a:lnTo>
                  <a:pt x="319616" y="976094"/>
                </a:lnTo>
                <a:lnTo>
                  <a:pt x="363756" y="991240"/>
                </a:lnTo>
                <a:lnTo>
                  <a:pt x="409628" y="1002321"/>
                </a:lnTo>
                <a:lnTo>
                  <a:pt x="457022" y="1009125"/>
                </a:lnTo>
                <a:lnTo>
                  <a:pt x="505726" y="1011440"/>
                </a:lnTo>
                <a:close/>
              </a:path>
              <a:path w="1011554" h="1011554">
                <a:moveTo>
                  <a:pt x="230505" y="226987"/>
                </a:moveTo>
                <a:lnTo>
                  <a:pt x="74053" y="70535"/>
                </a:lnTo>
              </a:path>
              <a:path w="1011554" h="1011554">
                <a:moveTo>
                  <a:pt x="230505" y="763384"/>
                </a:moveTo>
                <a:lnTo>
                  <a:pt x="74053" y="919835"/>
                </a:lnTo>
              </a:path>
              <a:path w="1011554" h="1011554">
                <a:moveTo>
                  <a:pt x="766902" y="763384"/>
                </a:moveTo>
                <a:lnTo>
                  <a:pt x="923353" y="919835"/>
                </a:lnTo>
              </a:path>
              <a:path w="1011554" h="1011554">
                <a:moveTo>
                  <a:pt x="766902" y="226987"/>
                </a:moveTo>
                <a:lnTo>
                  <a:pt x="923353" y="70523"/>
                </a:lnTo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589731" y="2435380"/>
            <a:ext cx="1022350" cy="1022350"/>
            <a:chOff x="4589731" y="2435380"/>
            <a:chExt cx="1022350" cy="1022350"/>
          </a:xfrm>
        </p:grpSpPr>
        <p:sp>
          <p:nvSpPr>
            <p:cNvPr id="5" name="object 5"/>
            <p:cNvSpPr/>
            <p:nvPr/>
          </p:nvSpPr>
          <p:spPr>
            <a:xfrm>
              <a:off x="5098961" y="2437574"/>
              <a:ext cx="358140" cy="507365"/>
            </a:xfrm>
            <a:custGeom>
              <a:avLst/>
              <a:gdLst/>
              <a:ahLst/>
              <a:cxnLst/>
              <a:rect l="l" t="t" r="r" b="b"/>
              <a:pathLst>
                <a:path w="358139" h="507364">
                  <a:moveTo>
                    <a:pt x="358038" y="147688"/>
                  </a:moveTo>
                  <a:lnTo>
                    <a:pt x="322183" y="115323"/>
                  </a:lnTo>
                  <a:lnTo>
                    <a:pt x="283348" y="86461"/>
                  </a:lnTo>
                  <a:lnTo>
                    <a:pt x="241783" y="61353"/>
                  </a:lnTo>
                  <a:lnTo>
                    <a:pt x="197737" y="40249"/>
                  </a:lnTo>
                  <a:lnTo>
                    <a:pt x="151462" y="23399"/>
                  </a:lnTo>
                  <a:lnTo>
                    <a:pt x="103208" y="11053"/>
                  </a:lnTo>
                  <a:lnTo>
                    <a:pt x="53225" y="3462"/>
                  </a:lnTo>
                  <a:lnTo>
                    <a:pt x="1765" y="876"/>
                  </a:lnTo>
                  <a:lnTo>
                    <a:pt x="0" y="0"/>
                  </a:lnTo>
                  <a:lnTo>
                    <a:pt x="0" y="507034"/>
                  </a:lnTo>
                  <a:lnTo>
                    <a:pt x="358000" y="149034"/>
                  </a:lnTo>
                  <a:lnTo>
                    <a:pt x="358038" y="14768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94999" y="2440647"/>
              <a:ext cx="1011555" cy="1011555"/>
            </a:xfrm>
            <a:custGeom>
              <a:avLst/>
              <a:gdLst/>
              <a:ahLst/>
              <a:cxnLst/>
              <a:rect l="l" t="t" r="r" b="b"/>
              <a:pathLst>
                <a:path w="1011554" h="1011554">
                  <a:moveTo>
                    <a:pt x="505726" y="1011440"/>
                  </a:moveTo>
                  <a:lnTo>
                    <a:pt x="554430" y="1009125"/>
                  </a:lnTo>
                  <a:lnTo>
                    <a:pt x="601824" y="1002321"/>
                  </a:lnTo>
                  <a:lnTo>
                    <a:pt x="647696" y="991240"/>
                  </a:lnTo>
                  <a:lnTo>
                    <a:pt x="691834" y="976094"/>
                  </a:lnTo>
                  <a:lnTo>
                    <a:pt x="734027" y="957094"/>
                  </a:lnTo>
                  <a:lnTo>
                    <a:pt x="774062" y="934454"/>
                  </a:lnTo>
                  <a:lnTo>
                    <a:pt x="811728" y="908384"/>
                  </a:lnTo>
                  <a:lnTo>
                    <a:pt x="846812" y="879097"/>
                  </a:lnTo>
                  <a:lnTo>
                    <a:pt x="879103" y="846805"/>
                  </a:lnTo>
                  <a:lnTo>
                    <a:pt x="908389" y="811720"/>
                  </a:lnTo>
                  <a:lnTo>
                    <a:pt x="934458" y="774053"/>
                  </a:lnTo>
                  <a:lnTo>
                    <a:pt x="957097" y="734017"/>
                  </a:lnTo>
                  <a:lnTo>
                    <a:pt x="976095" y="691823"/>
                  </a:lnTo>
                  <a:lnTo>
                    <a:pt x="991241" y="647684"/>
                  </a:lnTo>
                  <a:lnTo>
                    <a:pt x="1002321" y="601812"/>
                  </a:lnTo>
                  <a:lnTo>
                    <a:pt x="1009125" y="554417"/>
                  </a:lnTo>
                  <a:lnTo>
                    <a:pt x="1011440" y="505714"/>
                  </a:lnTo>
                  <a:lnTo>
                    <a:pt x="1009125" y="457010"/>
                  </a:lnTo>
                  <a:lnTo>
                    <a:pt x="1002321" y="409616"/>
                  </a:lnTo>
                  <a:lnTo>
                    <a:pt x="991241" y="363744"/>
                  </a:lnTo>
                  <a:lnTo>
                    <a:pt x="976095" y="319606"/>
                  </a:lnTo>
                  <a:lnTo>
                    <a:pt x="957097" y="277413"/>
                  </a:lnTo>
                  <a:lnTo>
                    <a:pt x="934458" y="237378"/>
                  </a:lnTo>
                  <a:lnTo>
                    <a:pt x="908389" y="199712"/>
                  </a:lnTo>
                  <a:lnTo>
                    <a:pt x="879103" y="164628"/>
                  </a:lnTo>
                  <a:lnTo>
                    <a:pt x="846812" y="132337"/>
                  </a:lnTo>
                  <a:lnTo>
                    <a:pt x="811728" y="103051"/>
                  </a:lnTo>
                  <a:lnTo>
                    <a:pt x="774062" y="76982"/>
                  </a:lnTo>
                  <a:lnTo>
                    <a:pt x="734027" y="54343"/>
                  </a:lnTo>
                  <a:lnTo>
                    <a:pt x="691834" y="35344"/>
                  </a:lnTo>
                  <a:lnTo>
                    <a:pt x="647696" y="20199"/>
                  </a:lnTo>
                  <a:lnTo>
                    <a:pt x="601824" y="9118"/>
                  </a:lnTo>
                  <a:lnTo>
                    <a:pt x="554430" y="2315"/>
                  </a:lnTo>
                  <a:lnTo>
                    <a:pt x="505726" y="0"/>
                  </a:lnTo>
                  <a:lnTo>
                    <a:pt x="457020" y="2315"/>
                  </a:lnTo>
                  <a:lnTo>
                    <a:pt x="409625" y="9118"/>
                  </a:lnTo>
                  <a:lnTo>
                    <a:pt x="363751" y="20199"/>
                  </a:lnTo>
                  <a:lnTo>
                    <a:pt x="319611" y="35344"/>
                  </a:lnTo>
                  <a:lnTo>
                    <a:pt x="277417" y="54343"/>
                  </a:lnTo>
                  <a:lnTo>
                    <a:pt x="237381" y="76982"/>
                  </a:lnTo>
                  <a:lnTo>
                    <a:pt x="199714" y="103051"/>
                  </a:lnTo>
                  <a:lnTo>
                    <a:pt x="164629" y="132337"/>
                  </a:lnTo>
                  <a:lnTo>
                    <a:pt x="132338" y="164628"/>
                  </a:lnTo>
                  <a:lnTo>
                    <a:pt x="103052" y="199712"/>
                  </a:lnTo>
                  <a:lnTo>
                    <a:pt x="76983" y="237378"/>
                  </a:lnTo>
                  <a:lnTo>
                    <a:pt x="54343" y="277413"/>
                  </a:lnTo>
                  <a:lnTo>
                    <a:pt x="35344" y="319606"/>
                  </a:lnTo>
                  <a:lnTo>
                    <a:pt x="20199" y="363744"/>
                  </a:lnTo>
                  <a:lnTo>
                    <a:pt x="9118" y="409616"/>
                  </a:lnTo>
                  <a:lnTo>
                    <a:pt x="2315" y="457010"/>
                  </a:lnTo>
                  <a:lnTo>
                    <a:pt x="0" y="505714"/>
                  </a:lnTo>
                  <a:lnTo>
                    <a:pt x="2315" y="554417"/>
                  </a:lnTo>
                  <a:lnTo>
                    <a:pt x="9118" y="601812"/>
                  </a:lnTo>
                  <a:lnTo>
                    <a:pt x="20199" y="647684"/>
                  </a:lnTo>
                  <a:lnTo>
                    <a:pt x="35344" y="691823"/>
                  </a:lnTo>
                  <a:lnTo>
                    <a:pt x="54343" y="734017"/>
                  </a:lnTo>
                  <a:lnTo>
                    <a:pt x="76983" y="774053"/>
                  </a:lnTo>
                  <a:lnTo>
                    <a:pt x="103052" y="811720"/>
                  </a:lnTo>
                  <a:lnTo>
                    <a:pt x="132338" y="846805"/>
                  </a:lnTo>
                  <a:lnTo>
                    <a:pt x="164629" y="879097"/>
                  </a:lnTo>
                  <a:lnTo>
                    <a:pt x="199714" y="908384"/>
                  </a:lnTo>
                  <a:lnTo>
                    <a:pt x="237381" y="934454"/>
                  </a:lnTo>
                  <a:lnTo>
                    <a:pt x="277417" y="957094"/>
                  </a:lnTo>
                  <a:lnTo>
                    <a:pt x="319611" y="976094"/>
                  </a:lnTo>
                  <a:lnTo>
                    <a:pt x="363751" y="991240"/>
                  </a:lnTo>
                  <a:lnTo>
                    <a:pt x="409625" y="1002321"/>
                  </a:lnTo>
                  <a:lnTo>
                    <a:pt x="457020" y="1009125"/>
                  </a:lnTo>
                  <a:lnTo>
                    <a:pt x="505726" y="1011440"/>
                  </a:lnTo>
                  <a:close/>
                </a:path>
                <a:path w="1011554" h="1011554">
                  <a:moveTo>
                    <a:pt x="498703" y="505714"/>
                  </a:moveTo>
                  <a:lnTo>
                    <a:pt x="930795" y="73621"/>
                  </a:lnTo>
                </a:path>
                <a:path w="1011554" h="1011554">
                  <a:moveTo>
                    <a:pt x="230492" y="226987"/>
                  </a:moveTo>
                  <a:lnTo>
                    <a:pt x="74041" y="70535"/>
                  </a:lnTo>
                </a:path>
                <a:path w="1011554" h="1011554">
                  <a:moveTo>
                    <a:pt x="230492" y="763384"/>
                  </a:moveTo>
                  <a:lnTo>
                    <a:pt x="74041" y="919835"/>
                  </a:lnTo>
                </a:path>
                <a:path w="1011554" h="1011554">
                  <a:moveTo>
                    <a:pt x="766902" y="763384"/>
                  </a:moveTo>
                  <a:lnTo>
                    <a:pt x="923353" y="91983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444046" y="2435380"/>
            <a:ext cx="1022350" cy="1022350"/>
            <a:chOff x="6444046" y="2435380"/>
            <a:chExt cx="1022350" cy="1022350"/>
          </a:xfrm>
        </p:grpSpPr>
        <p:sp>
          <p:nvSpPr>
            <p:cNvPr id="8" name="object 8"/>
            <p:cNvSpPr/>
            <p:nvPr/>
          </p:nvSpPr>
          <p:spPr>
            <a:xfrm>
              <a:off x="6954164" y="2437574"/>
              <a:ext cx="358140" cy="507365"/>
            </a:xfrm>
            <a:custGeom>
              <a:avLst/>
              <a:gdLst/>
              <a:ahLst/>
              <a:cxnLst/>
              <a:rect l="l" t="t" r="r" b="b"/>
              <a:pathLst>
                <a:path w="358140" h="507364">
                  <a:moveTo>
                    <a:pt x="358038" y="147688"/>
                  </a:moveTo>
                  <a:lnTo>
                    <a:pt x="322183" y="115323"/>
                  </a:lnTo>
                  <a:lnTo>
                    <a:pt x="283348" y="86461"/>
                  </a:lnTo>
                  <a:lnTo>
                    <a:pt x="241782" y="61353"/>
                  </a:lnTo>
                  <a:lnTo>
                    <a:pt x="197735" y="40249"/>
                  </a:lnTo>
                  <a:lnTo>
                    <a:pt x="151459" y="23399"/>
                  </a:lnTo>
                  <a:lnTo>
                    <a:pt x="103202" y="11053"/>
                  </a:lnTo>
                  <a:lnTo>
                    <a:pt x="53217" y="3462"/>
                  </a:lnTo>
                  <a:lnTo>
                    <a:pt x="1752" y="876"/>
                  </a:lnTo>
                  <a:lnTo>
                    <a:pt x="0" y="0"/>
                  </a:lnTo>
                  <a:lnTo>
                    <a:pt x="0" y="507034"/>
                  </a:lnTo>
                  <a:lnTo>
                    <a:pt x="358000" y="149034"/>
                  </a:lnTo>
                  <a:lnTo>
                    <a:pt x="358038" y="14768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49314" y="2440647"/>
              <a:ext cx="1011555" cy="1011555"/>
            </a:xfrm>
            <a:custGeom>
              <a:avLst/>
              <a:gdLst/>
              <a:ahLst/>
              <a:cxnLst/>
              <a:rect l="l" t="t" r="r" b="b"/>
              <a:pathLst>
                <a:path w="1011554" h="1011554">
                  <a:moveTo>
                    <a:pt x="505726" y="1011440"/>
                  </a:moveTo>
                  <a:lnTo>
                    <a:pt x="554430" y="1009125"/>
                  </a:lnTo>
                  <a:lnTo>
                    <a:pt x="601824" y="1002321"/>
                  </a:lnTo>
                  <a:lnTo>
                    <a:pt x="647697" y="991240"/>
                  </a:lnTo>
                  <a:lnTo>
                    <a:pt x="691836" y="976094"/>
                  </a:lnTo>
                  <a:lnTo>
                    <a:pt x="734030" y="957094"/>
                  </a:lnTo>
                  <a:lnTo>
                    <a:pt x="774066" y="934454"/>
                  </a:lnTo>
                  <a:lnTo>
                    <a:pt x="811733" y="908384"/>
                  </a:lnTo>
                  <a:lnTo>
                    <a:pt x="846818" y="879097"/>
                  </a:lnTo>
                  <a:lnTo>
                    <a:pt x="879110" y="846805"/>
                  </a:lnTo>
                  <a:lnTo>
                    <a:pt x="908397" y="811720"/>
                  </a:lnTo>
                  <a:lnTo>
                    <a:pt x="934467" y="774053"/>
                  </a:lnTo>
                  <a:lnTo>
                    <a:pt x="957107" y="734017"/>
                  </a:lnTo>
                  <a:lnTo>
                    <a:pt x="976106" y="691823"/>
                  </a:lnTo>
                  <a:lnTo>
                    <a:pt x="991253" y="647684"/>
                  </a:lnTo>
                  <a:lnTo>
                    <a:pt x="1002334" y="601812"/>
                  </a:lnTo>
                  <a:lnTo>
                    <a:pt x="1009138" y="554417"/>
                  </a:lnTo>
                  <a:lnTo>
                    <a:pt x="1011453" y="505714"/>
                  </a:lnTo>
                  <a:lnTo>
                    <a:pt x="1009138" y="457010"/>
                  </a:lnTo>
                  <a:lnTo>
                    <a:pt x="1002334" y="409616"/>
                  </a:lnTo>
                  <a:lnTo>
                    <a:pt x="991253" y="363744"/>
                  </a:lnTo>
                  <a:lnTo>
                    <a:pt x="976106" y="319606"/>
                  </a:lnTo>
                  <a:lnTo>
                    <a:pt x="957107" y="277413"/>
                  </a:lnTo>
                  <a:lnTo>
                    <a:pt x="934467" y="237378"/>
                  </a:lnTo>
                  <a:lnTo>
                    <a:pt x="908397" y="199712"/>
                  </a:lnTo>
                  <a:lnTo>
                    <a:pt x="879110" y="164628"/>
                  </a:lnTo>
                  <a:lnTo>
                    <a:pt x="846818" y="132337"/>
                  </a:lnTo>
                  <a:lnTo>
                    <a:pt x="811733" y="103051"/>
                  </a:lnTo>
                  <a:lnTo>
                    <a:pt x="774066" y="76982"/>
                  </a:lnTo>
                  <a:lnTo>
                    <a:pt x="734030" y="54343"/>
                  </a:lnTo>
                  <a:lnTo>
                    <a:pt x="691836" y="35344"/>
                  </a:lnTo>
                  <a:lnTo>
                    <a:pt x="647697" y="20199"/>
                  </a:lnTo>
                  <a:lnTo>
                    <a:pt x="601824" y="9118"/>
                  </a:lnTo>
                  <a:lnTo>
                    <a:pt x="554430" y="2315"/>
                  </a:lnTo>
                  <a:lnTo>
                    <a:pt x="505726" y="0"/>
                  </a:lnTo>
                  <a:lnTo>
                    <a:pt x="457022" y="2315"/>
                  </a:lnTo>
                  <a:lnTo>
                    <a:pt x="409628" y="9118"/>
                  </a:lnTo>
                  <a:lnTo>
                    <a:pt x="363756" y="20199"/>
                  </a:lnTo>
                  <a:lnTo>
                    <a:pt x="319616" y="35344"/>
                  </a:lnTo>
                  <a:lnTo>
                    <a:pt x="277423" y="54343"/>
                  </a:lnTo>
                  <a:lnTo>
                    <a:pt x="237387" y="76982"/>
                  </a:lnTo>
                  <a:lnTo>
                    <a:pt x="199720" y="103051"/>
                  </a:lnTo>
                  <a:lnTo>
                    <a:pt x="164634" y="132337"/>
                  </a:lnTo>
                  <a:lnTo>
                    <a:pt x="132342" y="164628"/>
                  </a:lnTo>
                  <a:lnTo>
                    <a:pt x="103055" y="199712"/>
                  </a:lnTo>
                  <a:lnTo>
                    <a:pt x="76986" y="237378"/>
                  </a:lnTo>
                  <a:lnTo>
                    <a:pt x="54345" y="277413"/>
                  </a:lnTo>
                  <a:lnTo>
                    <a:pt x="35346" y="319606"/>
                  </a:lnTo>
                  <a:lnTo>
                    <a:pt x="20200" y="363744"/>
                  </a:lnTo>
                  <a:lnTo>
                    <a:pt x="9119" y="409616"/>
                  </a:lnTo>
                  <a:lnTo>
                    <a:pt x="2315" y="457010"/>
                  </a:lnTo>
                  <a:lnTo>
                    <a:pt x="0" y="505714"/>
                  </a:lnTo>
                  <a:lnTo>
                    <a:pt x="2315" y="554417"/>
                  </a:lnTo>
                  <a:lnTo>
                    <a:pt x="9119" y="601812"/>
                  </a:lnTo>
                  <a:lnTo>
                    <a:pt x="20200" y="647684"/>
                  </a:lnTo>
                  <a:lnTo>
                    <a:pt x="35346" y="691823"/>
                  </a:lnTo>
                  <a:lnTo>
                    <a:pt x="54345" y="734017"/>
                  </a:lnTo>
                  <a:lnTo>
                    <a:pt x="76986" y="774053"/>
                  </a:lnTo>
                  <a:lnTo>
                    <a:pt x="103055" y="811720"/>
                  </a:lnTo>
                  <a:lnTo>
                    <a:pt x="132342" y="846805"/>
                  </a:lnTo>
                  <a:lnTo>
                    <a:pt x="164634" y="879097"/>
                  </a:lnTo>
                  <a:lnTo>
                    <a:pt x="199720" y="908384"/>
                  </a:lnTo>
                  <a:lnTo>
                    <a:pt x="237387" y="934454"/>
                  </a:lnTo>
                  <a:lnTo>
                    <a:pt x="277423" y="957094"/>
                  </a:lnTo>
                  <a:lnTo>
                    <a:pt x="319616" y="976094"/>
                  </a:lnTo>
                  <a:lnTo>
                    <a:pt x="363756" y="991240"/>
                  </a:lnTo>
                  <a:lnTo>
                    <a:pt x="409628" y="1002321"/>
                  </a:lnTo>
                  <a:lnTo>
                    <a:pt x="457022" y="1009125"/>
                  </a:lnTo>
                  <a:lnTo>
                    <a:pt x="505726" y="1011440"/>
                  </a:lnTo>
                  <a:close/>
                </a:path>
                <a:path w="1011554" h="1011554">
                  <a:moveTo>
                    <a:pt x="498703" y="505714"/>
                  </a:moveTo>
                  <a:lnTo>
                    <a:pt x="930808" y="73621"/>
                  </a:lnTo>
                </a:path>
                <a:path w="1011554" h="1011554">
                  <a:moveTo>
                    <a:pt x="230505" y="226987"/>
                  </a:moveTo>
                  <a:lnTo>
                    <a:pt x="74053" y="70535"/>
                  </a:lnTo>
                </a:path>
                <a:path w="1011554" h="1011554">
                  <a:moveTo>
                    <a:pt x="230505" y="763384"/>
                  </a:moveTo>
                  <a:lnTo>
                    <a:pt x="74053" y="919835"/>
                  </a:lnTo>
                </a:path>
                <a:path w="1011554" h="1011554">
                  <a:moveTo>
                    <a:pt x="766902" y="763384"/>
                  </a:moveTo>
                  <a:lnTo>
                    <a:pt x="923353" y="91983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638818" y="4589970"/>
            <a:ext cx="1201420" cy="1201420"/>
            <a:chOff x="2638818" y="4589970"/>
            <a:chExt cx="1201420" cy="1201420"/>
          </a:xfrm>
        </p:grpSpPr>
        <p:sp>
          <p:nvSpPr>
            <p:cNvPr id="11" name="object 11"/>
            <p:cNvSpPr/>
            <p:nvPr/>
          </p:nvSpPr>
          <p:spPr>
            <a:xfrm>
              <a:off x="3241573" y="4695329"/>
              <a:ext cx="358140" cy="507365"/>
            </a:xfrm>
            <a:custGeom>
              <a:avLst/>
              <a:gdLst/>
              <a:ahLst/>
              <a:cxnLst/>
              <a:rect l="l" t="t" r="r" b="b"/>
              <a:pathLst>
                <a:path w="358139" h="507364">
                  <a:moveTo>
                    <a:pt x="358038" y="147688"/>
                  </a:moveTo>
                  <a:lnTo>
                    <a:pt x="322183" y="115327"/>
                  </a:lnTo>
                  <a:lnTo>
                    <a:pt x="283346" y="86467"/>
                  </a:lnTo>
                  <a:lnTo>
                    <a:pt x="241779" y="61359"/>
                  </a:lnTo>
                  <a:lnTo>
                    <a:pt x="197731" y="40254"/>
                  </a:lnTo>
                  <a:lnTo>
                    <a:pt x="151453" y="23402"/>
                  </a:lnTo>
                  <a:lnTo>
                    <a:pt x="103197" y="11055"/>
                  </a:lnTo>
                  <a:lnTo>
                    <a:pt x="53213" y="3462"/>
                  </a:lnTo>
                  <a:lnTo>
                    <a:pt x="1752" y="876"/>
                  </a:lnTo>
                  <a:lnTo>
                    <a:pt x="0" y="0"/>
                  </a:lnTo>
                  <a:lnTo>
                    <a:pt x="0" y="507034"/>
                  </a:lnTo>
                  <a:lnTo>
                    <a:pt x="358000" y="149034"/>
                  </a:lnTo>
                  <a:lnTo>
                    <a:pt x="358038" y="14768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38818" y="458997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607580" y="1116812"/>
                  </a:moveTo>
                  <a:lnTo>
                    <a:pt x="656284" y="1114497"/>
                  </a:lnTo>
                  <a:lnTo>
                    <a:pt x="703678" y="1107693"/>
                  </a:lnTo>
                  <a:lnTo>
                    <a:pt x="749551" y="1096612"/>
                  </a:lnTo>
                  <a:lnTo>
                    <a:pt x="793690" y="1081466"/>
                  </a:lnTo>
                  <a:lnTo>
                    <a:pt x="835884" y="1062466"/>
                  </a:lnTo>
                  <a:lnTo>
                    <a:pt x="875920" y="1039826"/>
                  </a:lnTo>
                  <a:lnTo>
                    <a:pt x="913587" y="1013756"/>
                  </a:lnTo>
                  <a:lnTo>
                    <a:pt x="948672" y="984469"/>
                  </a:lnTo>
                  <a:lnTo>
                    <a:pt x="980964" y="952177"/>
                  </a:lnTo>
                  <a:lnTo>
                    <a:pt x="1010251" y="917092"/>
                  </a:lnTo>
                  <a:lnTo>
                    <a:pt x="1036321" y="879425"/>
                  </a:lnTo>
                  <a:lnTo>
                    <a:pt x="1058961" y="839389"/>
                  </a:lnTo>
                  <a:lnTo>
                    <a:pt x="1077960" y="797195"/>
                  </a:lnTo>
                  <a:lnTo>
                    <a:pt x="1093107" y="753056"/>
                  </a:lnTo>
                  <a:lnTo>
                    <a:pt x="1104188" y="707183"/>
                  </a:lnTo>
                  <a:lnTo>
                    <a:pt x="1110992" y="659789"/>
                  </a:lnTo>
                  <a:lnTo>
                    <a:pt x="1113307" y="611085"/>
                  </a:lnTo>
                  <a:lnTo>
                    <a:pt x="1110992" y="562382"/>
                  </a:lnTo>
                  <a:lnTo>
                    <a:pt x="1104188" y="514987"/>
                  </a:lnTo>
                  <a:lnTo>
                    <a:pt x="1093107" y="469115"/>
                  </a:lnTo>
                  <a:lnTo>
                    <a:pt x="1077960" y="424976"/>
                  </a:lnTo>
                  <a:lnTo>
                    <a:pt x="1058961" y="382782"/>
                  </a:lnTo>
                  <a:lnTo>
                    <a:pt x="1036321" y="342746"/>
                  </a:lnTo>
                  <a:lnTo>
                    <a:pt x="1010251" y="305079"/>
                  </a:lnTo>
                  <a:lnTo>
                    <a:pt x="980964" y="269994"/>
                  </a:lnTo>
                  <a:lnTo>
                    <a:pt x="948672" y="237702"/>
                  </a:lnTo>
                  <a:lnTo>
                    <a:pt x="913587" y="208415"/>
                  </a:lnTo>
                  <a:lnTo>
                    <a:pt x="875920" y="182345"/>
                  </a:lnTo>
                  <a:lnTo>
                    <a:pt x="835884" y="159705"/>
                  </a:lnTo>
                  <a:lnTo>
                    <a:pt x="793690" y="140705"/>
                  </a:lnTo>
                  <a:lnTo>
                    <a:pt x="749551" y="125559"/>
                  </a:lnTo>
                  <a:lnTo>
                    <a:pt x="703678" y="114478"/>
                  </a:lnTo>
                  <a:lnTo>
                    <a:pt x="656284" y="107674"/>
                  </a:lnTo>
                  <a:lnTo>
                    <a:pt x="607580" y="105359"/>
                  </a:lnTo>
                  <a:lnTo>
                    <a:pt x="558876" y="107674"/>
                  </a:lnTo>
                  <a:lnTo>
                    <a:pt x="511482" y="114478"/>
                  </a:lnTo>
                  <a:lnTo>
                    <a:pt x="465610" y="125559"/>
                  </a:lnTo>
                  <a:lnTo>
                    <a:pt x="421470" y="140705"/>
                  </a:lnTo>
                  <a:lnTo>
                    <a:pt x="379277" y="159705"/>
                  </a:lnTo>
                  <a:lnTo>
                    <a:pt x="339241" y="182345"/>
                  </a:lnTo>
                  <a:lnTo>
                    <a:pt x="301574" y="208415"/>
                  </a:lnTo>
                  <a:lnTo>
                    <a:pt x="266488" y="237702"/>
                  </a:lnTo>
                  <a:lnTo>
                    <a:pt x="234196" y="269994"/>
                  </a:lnTo>
                  <a:lnTo>
                    <a:pt x="204909" y="305079"/>
                  </a:lnTo>
                  <a:lnTo>
                    <a:pt x="178840" y="342746"/>
                  </a:lnTo>
                  <a:lnTo>
                    <a:pt x="156199" y="382782"/>
                  </a:lnTo>
                  <a:lnTo>
                    <a:pt x="137200" y="424976"/>
                  </a:lnTo>
                  <a:lnTo>
                    <a:pt x="122054" y="469115"/>
                  </a:lnTo>
                  <a:lnTo>
                    <a:pt x="110973" y="514987"/>
                  </a:lnTo>
                  <a:lnTo>
                    <a:pt x="104169" y="562382"/>
                  </a:lnTo>
                  <a:lnTo>
                    <a:pt x="101854" y="611085"/>
                  </a:lnTo>
                  <a:lnTo>
                    <a:pt x="104169" y="659789"/>
                  </a:lnTo>
                  <a:lnTo>
                    <a:pt x="110973" y="707183"/>
                  </a:lnTo>
                  <a:lnTo>
                    <a:pt x="122054" y="753056"/>
                  </a:lnTo>
                  <a:lnTo>
                    <a:pt x="137200" y="797195"/>
                  </a:lnTo>
                  <a:lnTo>
                    <a:pt x="156199" y="839389"/>
                  </a:lnTo>
                  <a:lnTo>
                    <a:pt x="178840" y="879425"/>
                  </a:lnTo>
                  <a:lnTo>
                    <a:pt x="204909" y="917092"/>
                  </a:lnTo>
                  <a:lnTo>
                    <a:pt x="234196" y="952177"/>
                  </a:lnTo>
                  <a:lnTo>
                    <a:pt x="266488" y="984469"/>
                  </a:lnTo>
                  <a:lnTo>
                    <a:pt x="301574" y="1013756"/>
                  </a:lnTo>
                  <a:lnTo>
                    <a:pt x="339241" y="1039826"/>
                  </a:lnTo>
                  <a:lnTo>
                    <a:pt x="379277" y="1062466"/>
                  </a:lnTo>
                  <a:lnTo>
                    <a:pt x="421470" y="1081466"/>
                  </a:lnTo>
                  <a:lnTo>
                    <a:pt x="465610" y="1096612"/>
                  </a:lnTo>
                  <a:lnTo>
                    <a:pt x="511482" y="1107693"/>
                  </a:lnTo>
                  <a:lnTo>
                    <a:pt x="558876" y="1114497"/>
                  </a:lnTo>
                  <a:lnTo>
                    <a:pt x="607580" y="1116812"/>
                  </a:lnTo>
                  <a:close/>
                </a:path>
                <a:path w="1201420" h="1201420">
                  <a:moveTo>
                    <a:pt x="605828" y="611085"/>
                  </a:moveTo>
                  <a:lnTo>
                    <a:pt x="605828" y="0"/>
                  </a:lnTo>
                </a:path>
                <a:path w="1201420" h="1201420">
                  <a:moveTo>
                    <a:pt x="605828" y="611085"/>
                  </a:moveTo>
                  <a:lnTo>
                    <a:pt x="1037920" y="178981"/>
                  </a:lnTo>
                </a:path>
                <a:path w="1201420" h="1201420">
                  <a:moveTo>
                    <a:pt x="332359" y="332346"/>
                  </a:moveTo>
                  <a:lnTo>
                    <a:pt x="175907" y="175895"/>
                  </a:lnTo>
                </a:path>
                <a:path w="1201420" h="1201420">
                  <a:moveTo>
                    <a:pt x="221259" y="611085"/>
                  </a:moveTo>
                  <a:lnTo>
                    <a:pt x="0" y="611085"/>
                  </a:lnTo>
                </a:path>
                <a:path w="1201420" h="1201420">
                  <a:moveTo>
                    <a:pt x="332359" y="868743"/>
                  </a:moveTo>
                  <a:lnTo>
                    <a:pt x="175907" y="1025194"/>
                  </a:lnTo>
                </a:path>
                <a:path w="1201420" h="1201420">
                  <a:moveTo>
                    <a:pt x="605828" y="979843"/>
                  </a:moveTo>
                  <a:lnTo>
                    <a:pt x="605828" y="1201102"/>
                  </a:lnTo>
                </a:path>
                <a:path w="1201420" h="1201420">
                  <a:moveTo>
                    <a:pt x="868756" y="868743"/>
                  </a:moveTo>
                  <a:lnTo>
                    <a:pt x="1025207" y="1025194"/>
                  </a:lnTo>
                </a:path>
                <a:path w="1201420" h="1201420">
                  <a:moveTo>
                    <a:pt x="979855" y="611085"/>
                  </a:moveTo>
                  <a:lnTo>
                    <a:pt x="1201102" y="61108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99145" y="2101334"/>
            <a:ext cx="56959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Sender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99145" y="4197982"/>
            <a:ext cx="6908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5" dirty="0">
                <a:latin typeface="Arial MT"/>
                <a:cs typeface="Arial MT"/>
              </a:rPr>
              <a:t>Receiver</a:t>
            </a:r>
            <a:endParaRPr sz="130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512250" y="2193210"/>
          <a:ext cx="6993880" cy="152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0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35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2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7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0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940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01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924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5494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</a:tblGrid>
              <a:tr h="36332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7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7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7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6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ts val="150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7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50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9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6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6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6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6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40" algn="r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40" algn="r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R="2540" algn="r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ts val="15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540" algn="r">
                        <a:lnSpc>
                          <a:spcPts val="148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ts val="1480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2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9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4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4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4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165" algn="ctr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4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25"/>
                        </a:lnSpc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3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8285200" y="2445905"/>
            <a:ext cx="1011555" cy="1011555"/>
          </a:xfrm>
          <a:custGeom>
            <a:avLst/>
            <a:gdLst/>
            <a:ahLst/>
            <a:cxnLst/>
            <a:rect l="l" t="t" r="r" b="b"/>
            <a:pathLst>
              <a:path w="1011554" h="1011554">
                <a:moveTo>
                  <a:pt x="505726" y="1011453"/>
                </a:moveTo>
                <a:lnTo>
                  <a:pt x="554430" y="1009138"/>
                </a:lnTo>
                <a:lnTo>
                  <a:pt x="601824" y="1002334"/>
                </a:lnTo>
                <a:lnTo>
                  <a:pt x="647697" y="991253"/>
                </a:lnTo>
                <a:lnTo>
                  <a:pt x="691836" y="976106"/>
                </a:lnTo>
                <a:lnTo>
                  <a:pt x="734030" y="957107"/>
                </a:lnTo>
                <a:lnTo>
                  <a:pt x="774066" y="934467"/>
                </a:lnTo>
                <a:lnTo>
                  <a:pt x="811733" y="908397"/>
                </a:lnTo>
                <a:lnTo>
                  <a:pt x="846818" y="879110"/>
                </a:lnTo>
                <a:lnTo>
                  <a:pt x="879110" y="846818"/>
                </a:lnTo>
                <a:lnTo>
                  <a:pt x="908397" y="811733"/>
                </a:lnTo>
                <a:lnTo>
                  <a:pt x="934467" y="774066"/>
                </a:lnTo>
                <a:lnTo>
                  <a:pt x="957107" y="734030"/>
                </a:lnTo>
                <a:lnTo>
                  <a:pt x="976106" y="691836"/>
                </a:lnTo>
                <a:lnTo>
                  <a:pt x="991253" y="647697"/>
                </a:lnTo>
                <a:lnTo>
                  <a:pt x="1002334" y="601824"/>
                </a:lnTo>
                <a:lnTo>
                  <a:pt x="1009138" y="554430"/>
                </a:lnTo>
                <a:lnTo>
                  <a:pt x="1011453" y="505726"/>
                </a:lnTo>
                <a:lnTo>
                  <a:pt x="1009138" y="457022"/>
                </a:lnTo>
                <a:lnTo>
                  <a:pt x="1002334" y="409628"/>
                </a:lnTo>
                <a:lnTo>
                  <a:pt x="991253" y="363756"/>
                </a:lnTo>
                <a:lnTo>
                  <a:pt x="976106" y="319616"/>
                </a:lnTo>
                <a:lnTo>
                  <a:pt x="957107" y="277423"/>
                </a:lnTo>
                <a:lnTo>
                  <a:pt x="934467" y="237387"/>
                </a:lnTo>
                <a:lnTo>
                  <a:pt x="908397" y="199720"/>
                </a:lnTo>
                <a:lnTo>
                  <a:pt x="879110" y="164634"/>
                </a:lnTo>
                <a:lnTo>
                  <a:pt x="846818" y="132342"/>
                </a:lnTo>
                <a:lnTo>
                  <a:pt x="811733" y="103055"/>
                </a:lnTo>
                <a:lnTo>
                  <a:pt x="774066" y="76986"/>
                </a:lnTo>
                <a:lnTo>
                  <a:pt x="734030" y="54345"/>
                </a:lnTo>
                <a:lnTo>
                  <a:pt x="691836" y="35346"/>
                </a:lnTo>
                <a:lnTo>
                  <a:pt x="647697" y="20200"/>
                </a:lnTo>
                <a:lnTo>
                  <a:pt x="601824" y="9119"/>
                </a:lnTo>
                <a:lnTo>
                  <a:pt x="554430" y="2315"/>
                </a:lnTo>
                <a:lnTo>
                  <a:pt x="505726" y="0"/>
                </a:lnTo>
                <a:lnTo>
                  <a:pt x="457022" y="2315"/>
                </a:lnTo>
                <a:lnTo>
                  <a:pt x="409628" y="9119"/>
                </a:lnTo>
                <a:lnTo>
                  <a:pt x="363756" y="20200"/>
                </a:lnTo>
                <a:lnTo>
                  <a:pt x="319616" y="35346"/>
                </a:lnTo>
                <a:lnTo>
                  <a:pt x="277423" y="54345"/>
                </a:lnTo>
                <a:lnTo>
                  <a:pt x="237387" y="76986"/>
                </a:lnTo>
                <a:lnTo>
                  <a:pt x="199720" y="103055"/>
                </a:lnTo>
                <a:lnTo>
                  <a:pt x="164634" y="132342"/>
                </a:lnTo>
                <a:lnTo>
                  <a:pt x="132342" y="164634"/>
                </a:lnTo>
                <a:lnTo>
                  <a:pt x="103055" y="199720"/>
                </a:lnTo>
                <a:lnTo>
                  <a:pt x="76986" y="237387"/>
                </a:lnTo>
                <a:lnTo>
                  <a:pt x="54345" y="277423"/>
                </a:lnTo>
                <a:lnTo>
                  <a:pt x="35346" y="319616"/>
                </a:lnTo>
                <a:lnTo>
                  <a:pt x="20200" y="363756"/>
                </a:lnTo>
                <a:lnTo>
                  <a:pt x="9119" y="409628"/>
                </a:lnTo>
                <a:lnTo>
                  <a:pt x="2315" y="457022"/>
                </a:lnTo>
                <a:lnTo>
                  <a:pt x="0" y="505726"/>
                </a:lnTo>
                <a:lnTo>
                  <a:pt x="2315" y="554430"/>
                </a:lnTo>
                <a:lnTo>
                  <a:pt x="9119" y="601824"/>
                </a:lnTo>
                <a:lnTo>
                  <a:pt x="20200" y="647697"/>
                </a:lnTo>
                <a:lnTo>
                  <a:pt x="35346" y="691836"/>
                </a:lnTo>
                <a:lnTo>
                  <a:pt x="54345" y="734030"/>
                </a:lnTo>
                <a:lnTo>
                  <a:pt x="76986" y="774066"/>
                </a:lnTo>
                <a:lnTo>
                  <a:pt x="103055" y="811733"/>
                </a:lnTo>
                <a:lnTo>
                  <a:pt x="132342" y="846818"/>
                </a:lnTo>
                <a:lnTo>
                  <a:pt x="164634" y="879110"/>
                </a:lnTo>
                <a:lnTo>
                  <a:pt x="199720" y="908397"/>
                </a:lnTo>
                <a:lnTo>
                  <a:pt x="237387" y="934467"/>
                </a:lnTo>
                <a:lnTo>
                  <a:pt x="277423" y="957107"/>
                </a:lnTo>
                <a:lnTo>
                  <a:pt x="319616" y="976106"/>
                </a:lnTo>
                <a:lnTo>
                  <a:pt x="363756" y="991253"/>
                </a:lnTo>
                <a:lnTo>
                  <a:pt x="409628" y="1002334"/>
                </a:lnTo>
                <a:lnTo>
                  <a:pt x="457022" y="1009138"/>
                </a:lnTo>
                <a:lnTo>
                  <a:pt x="505726" y="1011453"/>
                </a:lnTo>
                <a:close/>
              </a:path>
              <a:path w="1011554" h="1011554">
                <a:moveTo>
                  <a:pt x="498703" y="505726"/>
                </a:moveTo>
                <a:lnTo>
                  <a:pt x="930808" y="73621"/>
                </a:lnTo>
              </a:path>
              <a:path w="1011554" h="1011554">
                <a:moveTo>
                  <a:pt x="230505" y="226987"/>
                </a:moveTo>
                <a:lnTo>
                  <a:pt x="74053" y="70535"/>
                </a:lnTo>
              </a:path>
              <a:path w="1011554" h="1011554">
                <a:moveTo>
                  <a:pt x="230505" y="763397"/>
                </a:moveTo>
                <a:lnTo>
                  <a:pt x="74053" y="919848"/>
                </a:lnTo>
              </a:path>
              <a:path w="1011554" h="1011554">
                <a:moveTo>
                  <a:pt x="766902" y="763397"/>
                </a:moveTo>
                <a:lnTo>
                  <a:pt x="923353" y="919848"/>
                </a:lnTo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493145" y="4589970"/>
            <a:ext cx="1201420" cy="1201420"/>
            <a:chOff x="4493145" y="4589970"/>
            <a:chExt cx="1201420" cy="1201420"/>
          </a:xfrm>
        </p:grpSpPr>
        <p:sp>
          <p:nvSpPr>
            <p:cNvPr id="18" name="object 18"/>
            <p:cNvSpPr/>
            <p:nvPr/>
          </p:nvSpPr>
          <p:spPr>
            <a:xfrm>
              <a:off x="5098961" y="4692256"/>
              <a:ext cx="358140" cy="507365"/>
            </a:xfrm>
            <a:custGeom>
              <a:avLst/>
              <a:gdLst/>
              <a:ahLst/>
              <a:cxnLst/>
              <a:rect l="l" t="t" r="r" b="b"/>
              <a:pathLst>
                <a:path w="358139" h="507364">
                  <a:moveTo>
                    <a:pt x="358038" y="147688"/>
                  </a:moveTo>
                  <a:lnTo>
                    <a:pt x="322183" y="115327"/>
                  </a:lnTo>
                  <a:lnTo>
                    <a:pt x="283348" y="86467"/>
                  </a:lnTo>
                  <a:lnTo>
                    <a:pt x="241783" y="61359"/>
                  </a:lnTo>
                  <a:lnTo>
                    <a:pt x="197737" y="40254"/>
                  </a:lnTo>
                  <a:lnTo>
                    <a:pt x="151462" y="23402"/>
                  </a:lnTo>
                  <a:lnTo>
                    <a:pt x="103208" y="11055"/>
                  </a:lnTo>
                  <a:lnTo>
                    <a:pt x="53225" y="3462"/>
                  </a:lnTo>
                  <a:lnTo>
                    <a:pt x="1765" y="876"/>
                  </a:lnTo>
                  <a:lnTo>
                    <a:pt x="0" y="0"/>
                  </a:lnTo>
                  <a:lnTo>
                    <a:pt x="0" y="507034"/>
                  </a:lnTo>
                  <a:lnTo>
                    <a:pt x="358000" y="149034"/>
                  </a:lnTo>
                  <a:lnTo>
                    <a:pt x="358038" y="147688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93145" y="458997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607580" y="1116812"/>
                  </a:moveTo>
                  <a:lnTo>
                    <a:pt x="656284" y="1114497"/>
                  </a:lnTo>
                  <a:lnTo>
                    <a:pt x="703678" y="1107693"/>
                  </a:lnTo>
                  <a:lnTo>
                    <a:pt x="749550" y="1096612"/>
                  </a:lnTo>
                  <a:lnTo>
                    <a:pt x="793688" y="1081466"/>
                  </a:lnTo>
                  <a:lnTo>
                    <a:pt x="835881" y="1062466"/>
                  </a:lnTo>
                  <a:lnTo>
                    <a:pt x="875916" y="1039826"/>
                  </a:lnTo>
                  <a:lnTo>
                    <a:pt x="913582" y="1013756"/>
                  </a:lnTo>
                  <a:lnTo>
                    <a:pt x="948666" y="984469"/>
                  </a:lnTo>
                  <a:lnTo>
                    <a:pt x="980957" y="952177"/>
                  </a:lnTo>
                  <a:lnTo>
                    <a:pt x="1010243" y="917092"/>
                  </a:lnTo>
                  <a:lnTo>
                    <a:pt x="1036312" y="879425"/>
                  </a:lnTo>
                  <a:lnTo>
                    <a:pt x="1058951" y="839389"/>
                  </a:lnTo>
                  <a:lnTo>
                    <a:pt x="1077949" y="797195"/>
                  </a:lnTo>
                  <a:lnTo>
                    <a:pt x="1093095" y="753056"/>
                  </a:lnTo>
                  <a:lnTo>
                    <a:pt x="1104175" y="707183"/>
                  </a:lnTo>
                  <a:lnTo>
                    <a:pt x="1110979" y="659789"/>
                  </a:lnTo>
                  <a:lnTo>
                    <a:pt x="1113294" y="611085"/>
                  </a:lnTo>
                  <a:lnTo>
                    <a:pt x="1110979" y="562382"/>
                  </a:lnTo>
                  <a:lnTo>
                    <a:pt x="1104175" y="514987"/>
                  </a:lnTo>
                  <a:lnTo>
                    <a:pt x="1093095" y="469115"/>
                  </a:lnTo>
                  <a:lnTo>
                    <a:pt x="1077949" y="424976"/>
                  </a:lnTo>
                  <a:lnTo>
                    <a:pt x="1058951" y="382782"/>
                  </a:lnTo>
                  <a:lnTo>
                    <a:pt x="1036312" y="342746"/>
                  </a:lnTo>
                  <a:lnTo>
                    <a:pt x="1010243" y="305079"/>
                  </a:lnTo>
                  <a:lnTo>
                    <a:pt x="980957" y="269994"/>
                  </a:lnTo>
                  <a:lnTo>
                    <a:pt x="948666" y="237702"/>
                  </a:lnTo>
                  <a:lnTo>
                    <a:pt x="913582" y="208415"/>
                  </a:lnTo>
                  <a:lnTo>
                    <a:pt x="875916" y="182345"/>
                  </a:lnTo>
                  <a:lnTo>
                    <a:pt x="835881" y="159705"/>
                  </a:lnTo>
                  <a:lnTo>
                    <a:pt x="793688" y="140705"/>
                  </a:lnTo>
                  <a:lnTo>
                    <a:pt x="749550" y="125559"/>
                  </a:lnTo>
                  <a:lnTo>
                    <a:pt x="703678" y="114478"/>
                  </a:lnTo>
                  <a:lnTo>
                    <a:pt x="656284" y="107674"/>
                  </a:lnTo>
                  <a:lnTo>
                    <a:pt x="607580" y="105359"/>
                  </a:lnTo>
                  <a:lnTo>
                    <a:pt x="558874" y="107674"/>
                  </a:lnTo>
                  <a:lnTo>
                    <a:pt x="511479" y="114478"/>
                  </a:lnTo>
                  <a:lnTo>
                    <a:pt x="465605" y="125559"/>
                  </a:lnTo>
                  <a:lnTo>
                    <a:pt x="421465" y="140705"/>
                  </a:lnTo>
                  <a:lnTo>
                    <a:pt x="379271" y="159705"/>
                  </a:lnTo>
                  <a:lnTo>
                    <a:pt x="339235" y="182345"/>
                  </a:lnTo>
                  <a:lnTo>
                    <a:pt x="301568" y="208415"/>
                  </a:lnTo>
                  <a:lnTo>
                    <a:pt x="266483" y="237702"/>
                  </a:lnTo>
                  <a:lnTo>
                    <a:pt x="234192" y="269994"/>
                  </a:lnTo>
                  <a:lnTo>
                    <a:pt x="204906" y="305079"/>
                  </a:lnTo>
                  <a:lnTo>
                    <a:pt x="178837" y="342746"/>
                  </a:lnTo>
                  <a:lnTo>
                    <a:pt x="156197" y="382782"/>
                  </a:lnTo>
                  <a:lnTo>
                    <a:pt x="137198" y="424976"/>
                  </a:lnTo>
                  <a:lnTo>
                    <a:pt x="122053" y="469115"/>
                  </a:lnTo>
                  <a:lnTo>
                    <a:pt x="110972" y="514987"/>
                  </a:lnTo>
                  <a:lnTo>
                    <a:pt x="104169" y="562382"/>
                  </a:lnTo>
                  <a:lnTo>
                    <a:pt x="101854" y="611085"/>
                  </a:lnTo>
                  <a:lnTo>
                    <a:pt x="104169" y="659789"/>
                  </a:lnTo>
                  <a:lnTo>
                    <a:pt x="110972" y="707183"/>
                  </a:lnTo>
                  <a:lnTo>
                    <a:pt x="122053" y="753056"/>
                  </a:lnTo>
                  <a:lnTo>
                    <a:pt x="137198" y="797195"/>
                  </a:lnTo>
                  <a:lnTo>
                    <a:pt x="156197" y="839389"/>
                  </a:lnTo>
                  <a:lnTo>
                    <a:pt x="178837" y="879425"/>
                  </a:lnTo>
                  <a:lnTo>
                    <a:pt x="204906" y="917092"/>
                  </a:lnTo>
                  <a:lnTo>
                    <a:pt x="234192" y="952177"/>
                  </a:lnTo>
                  <a:lnTo>
                    <a:pt x="266483" y="984469"/>
                  </a:lnTo>
                  <a:lnTo>
                    <a:pt x="301568" y="1013756"/>
                  </a:lnTo>
                  <a:lnTo>
                    <a:pt x="339235" y="1039826"/>
                  </a:lnTo>
                  <a:lnTo>
                    <a:pt x="379271" y="1062466"/>
                  </a:lnTo>
                  <a:lnTo>
                    <a:pt x="421465" y="1081466"/>
                  </a:lnTo>
                  <a:lnTo>
                    <a:pt x="465605" y="1096612"/>
                  </a:lnTo>
                  <a:lnTo>
                    <a:pt x="511479" y="1107693"/>
                  </a:lnTo>
                  <a:lnTo>
                    <a:pt x="558874" y="1114497"/>
                  </a:lnTo>
                  <a:lnTo>
                    <a:pt x="607580" y="1116812"/>
                  </a:lnTo>
                  <a:close/>
                </a:path>
                <a:path w="1201420" h="1201420">
                  <a:moveTo>
                    <a:pt x="605815" y="611085"/>
                  </a:moveTo>
                  <a:lnTo>
                    <a:pt x="605815" y="0"/>
                  </a:lnTo>
                </a:path>
                <a:path w="1201420" h="1201420">
                  <a:moveTo>
                    <a:pt x="600557" y="611085"/>
                  </a:moveTo>
                  <a:lnTo>
                    <a:pt x="1032649" y="178981"/>
                  </a:lnTo>
                </a:path>
                <a:path w="1201420" h="1201420">
                  <a:moveTo>
                    <a:pt x="332346" y="332346"/>
                  </a:moveTo>
                  <a:lnTo>
                    <a:pt x="175895" y="175895"/>
                  </a:lnTo>
                </a:path>
                <a:path w="1201420" h="1201420">
                  <a:moveTo>
                    <a:pt x="221259" y="611085"/>
                  </a:moveTo>
                  <a:lnTo>
                    <a:pt x="0" y="611085"/>
                  </a:lnTo>
                </a:path>
                <a:path w="1201420" h="1201420">
                  <a:moveTo>
                    <a:pt x="332346" y="868743"/>
                  </a:moveTo>
                  <a:lnTo>
                    <a:pt x="175895" y="1025194"/>
                  </a:lnTo>
                </a:path>
                <a:path w="1201420" h="1201420">
                  <a:moveTo>
                    <a:pt x="600544" y="979843"/>
                  </a:moveTo>
                  <a:lnTo>
                    <a:pt x="600544" y="1201102"/>
                  </a:lnTo>
                </a:path>
                <a:path w="1201420" h="1201420">
                  <a:moveTo>
                    <a:pt x="868756" y="868743"/>
                  </a:moveTo>
                  <a:lnTo>
                    <a:pt x="1025207" y="1025194"/>
                  </a:lnTo>
                </a:path>
                <a:path w="1201420" h="1201420">
                  <a:moveTo>
                    <a:pt x="979843" y="611085"/>
                  </a:moveTo>
                  <a:lnTo>
                    <a:pt x="1201102" y="61108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342075" y="4689932"/>
            <a:ext cx="1223010" cy="1106805"/>
            <a:chOff x="6342075" y="4689932"/>
            <a:chExt cx="1223010" cy="1106805"/>
          </a:xfrm>
        </p:grpSpPr>
        <p:sp>
          <p:nvSpPr>
            <p:cNvPr id="21" name="object 21"/>
            <p:cNvSpPr/>
            <p:nvPr/>
          </p:nvSpPr>
          <p:spPr>
            <a:xfrm>
              <a:off x="6953605" y="4845621"/>
              <a:ext cx="507365" cy="358775"/>
            </a:xfrm>
            <a:custGeom>
              <a:avLst/>
              <a:gdLst/>
              <a:ahLst/>
              <a:cxnLst/>
              <a:rect l="l" t="t" r="r" b="b"/>
              <a:pathLst>
                <a:path w="507365" h="358775">
                  <a:moveTo>
                    <a:pt x="507276" y="357606"/>
                  </a:moveTo>
                  <a:lnTo>
                    <a:pt x="504807" y="309370"/>
                  </a:lnTo>
                  <a:lnTo>
                    <a:pt x="497753" y="261502"/>
                  </a:lnTo>
                  <a:lnTo>
                    <a:pt x="486115" y="214357"/>
                  </a:lnTo>
                  <a:lnTo>
                    <a:pt x="469892" y="168287"/>
                  </a:lnTo>
                  <a:lnTo>
                    <a:pt x="449084" y="123649"/>
                  </a:lnTo>
                  <a:lnTo>
                    <a:pt x="423692" y="80797"/>
                  </a:lnTo>
                  <a:lnTo>
                    <a:pt x="393716" y="40084"/>
                  </a:lnTo>
                  <a:lnTo>
                    <a:pt x="359156" y="1866"/>
                  </a:lnTo>
                  <a:lnTo>
                    <a:pt x="358533" y="0"/>
                  </a:lnTo>
                  <a:lnTo>
                    <a:pt x="0" y="358533"/>
                  </a:lnTo>
                  <a:lnTo>
                    <a:pt x="506285" y="358533"/>
                  </a:lnTo>
                  <a:lnTo>
                    <a:pt x="507276" y="357606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7472" y="4695329"/>
              <a:ext cx="1212215" cy="1096010"/>
            </a:xfrm>
            <a:custGeom>
              <a:avLst/>
              <a:gdLst/>
              <a:ahLst/>
              <a:cxnLst/>
              <a:rect l="l" t="t" r="r" b="b"/>
              <a:pathLst>
                <a:path w="1212215" h="1096010">
                  <a:moveTo>
                    <a:pt x="607568" y="1011453"/>
                  </a:moveTo>
                  <a:lnTo>
                    <a:pt x="656271" y="1009138"/>
                  </a:lnTo>
                  <a:lnTo>
                    <a:pt x="703666" y="1002334"/>
                  </a:lnTo>
                  <a:lnTo>
                    <a:pt x="749538" y="991253"/>
                  </a:lnTo>
                  <a:lnTo>
                    <a:pt x="793677" y="976106"/>
                  </a:lnTo>
                  <a:lnTo>
                    <a:pt x="835871" y="957107"/>
                  </a:lnTo>
                  <a:lnTo>
                    <a:pt x="875907" y="934467"/>
                  </a:lnTo>
                  <a:lnTo>
                    <a:pt x="913574" y="908397"/>
                  </a:lnTo>
                  <a:lnTo>
                    <a:pt x="948659" y="879110"/>
                  </a:lnTo>
                  <a:lnTo>
                    <a:pt x="980951" y="846818"/>
                  </a:lnTo>
                  <a:lnTo>
                    <a:pt x="1010238" y="811733"/>
                  </a:lnTo>
                  <a:lnTo>
                    <a:pt x="1036308" y="774066"/>
                  </a:lnTo>
                  <a:lnTo>
                    <a:pt x="1058948" y="734030"/>
                  </a:lnTo>
                  <a:lnTo>
                    <a:pt x="1077948" y="691836"/>
                  </a:lnTo>
                  <a:lnTo>
                    <a:pt x="1093094" y="647697"/>
                  </a:lnTo>
                  <a:lnTo>
                    <a:pt x="1104175" y="601824"/>
                  </a:lnTo>
                  <a:lnTo>
                    <a:pt x="1110979" y="554430"/>
                  </a:lnTo>
                  <a:lnTo>
                    <a:pt x="1113294" y="505726"/>
                  </a:lnTo>
                  <a:lnTo>
                    <a:pt x="1110979" y="457022"/>
                  </a:lnTo>
                  <a:lnTo>
                    <a:pt x="1104175" y="409628"/>
                  </a:lnTo>
                  <a:lnTo>
                    <a:pt x="1093094" y="363756"/>
                  </a:lnTo>
                  <a:lnTo>
                    <a:pt x="1077948" y="319616"/>
                  </a:lnTo>
                  <a:lnTo>
                    <a:pt x="1058948" y="277423"/>
                  </a:lnTo>
                  <a:lnTo>
                    <a:pt x="1036308" y="237387"/>
                  </a:lnTo>
                  <a:lnTo>
                    <a:pt x="1010238" y="199720"/>
                  </a:lnTo>
                  <a:lnTo>
                    <a:pt x="980951" y="164634"/>
                  </a:lnTo>
                  <a:lnTo>
                    <a:pt x="948659" y="132342"/>
                  </a:lnTo>
                  <a:lnTo>
                    <a:pt x="913574" y="103055"/>
                  </a:lnTo>
                  <a:lnTo>
                    <a:pt x="875907" y="76986"/>
                  </a:lnTo>
                  <a:lnTo>
                    <a:pt x="835871" y="54345"/>
                  </a:lnTo>
                  <a:lnTo>
                    <a:pt x="793677" y="35346"/>
                  </a:lnTo>
                  <a:lnTo>
                    <a:pt x="749538" y="20200"/>
                  </a:lnTo>
                  <a:lnTo>
                    <a:pt x="703666" y="9119"/>
                  </a:lnTo>
                  <a:lnTo>
                    <a:pt x="656271" y="2315"/>
                  </a:lnTo>
                  <a:lnTo>
                    <a:pt x="607568" y="0"/>
                  </a:lnTo>
                  <a:lnTo>
                    <a:pt x="558864" y="2315"/>
                  </a:lnTo>
                  <a:lnTo>
                    <a:pt x="511470" y="9119"/>
                  </a:lnTo>
                  <a:lnTo>
                    <a:pt x="465597" y="20200"/>
                  </a:lnTo>
                  <a:lnTo>
                    <a:pt x="421458" y="35346"/>
                  </a:lnTo>
                  <a:lnTo>
                    <a:pt x="379264" y="54345"/>
                  </a:lnTo>
                  <a:lnTo>
                    <a:pt x="339228" y="76986"/>
                  </a:lnTo>
                  <a:lnTo>
                    <a:pt x="301561" y="103055"/>
                  </a:lnTo>
                  <a:lnTo>
                    <a:pt x="266476" y="132342"/>
                  </a:lnTo>
                  <a:lnTo>
                    <a:pt x="234184" y="164634"/>
                  </a:lnTo>
                  <a:lnTo>
                    <a:pt x="204897" y="199720"/>
                  </a:lnTo>
                  <a:lnTo>
                    <a:pt x="178827" y="237387"/>
                  </a:lnTo>
                  <a:lnTo>
                    <a:pt x="156187" y="277423"/>
                  </a:lnTo>
                  <a:lnTo>
                    <a:pt x="137187" y="319616"/>
                  </a:lnTo>
                  <a:lnTo>
                    <a:pt x="122041" y="363756"/>
                  </a:lnTo>
                  <a:lnTo>
                    <a:pt x="110960" y="409628"/>
                  </a:lnTo>
                  <a:lnTo>
                    <a:pt x="104156" y="457022"/>
                  </a:lnTo>
                  <a:lnTo>
                    <a:pt x="101841" y="505726"/>
                  </a:lnTo>
                  <a:lnTo>
                    <a:pt x="104156" y="554430"/>
                  </a:lnTo>
                  <a:lnTo>
                    <a:pt x="110960" y="601824"/>
                  </a:lnTo>
                  <a:lnTo>
                    <a:pt x="122041" y="647697"/>
                  </a:lnTo>
                  <a:lnTo>
                    <a:pt x="137187" y="691836"/>
                  </a:lnTo>
                  <a:lnTo>
                    <a:pt x="156187" y="734030"/>
                  </a:lnTo>
                  <a:lnTo>
                    <a:pt x="178827" y="774066"/>
                  </a:lnTo>
                  <a:lnTo>
                    <a:pt x="204897" y="811733"/>
                  </a:lnTo>
                  <a:lnTo>
                    <a:pt x="234184" y="846818"/>
                  </a:lnTo>
                  <a:lnTo>
                    <a:pt x="266476" y="879110"/>
                  </a:lnTo>
                  <a:lnTo>
                    <a:pt x="301561" y="908397"/>
                  </a:lnTo>
                  <a:lnTo>
                    <a:pt x="339228" y="934467"/>
                  </a:lnTo>
                  <a:lnTo>
                    <a:pt x="379264" y="957107"/>
                  </a:lnTo>
                  <a:lnTo>
                    <a:pt x="421458" y="976106"/>
                  </a:lnTo>
                  <a:lnTo>
                    <a:pt x="465597" y="991253"/>
                  </a:lnTo>
                  <a:lnTo>
                    <a:pt x="511470" y="1002334"/>
                  </a:lnTo>
                  <a:lnTo>
                    <a:pt x="558864" y="1009138"/>
                  </a:lnTo>
                  <a:lnTo>
                    <a:pt x="607568" y="1011453"/>
                  </a:lnTo>
                  <a:close/>
                </a:path>
                <a:path w="1212215" h="1096010">
                  <a:moveTo>
                    <a:pt x="604266" y="509447"/>
                  </a:moveTo>
                  <a:lnTo>
                    <a:pt x="1036370" y="77343"/>
                  </a:lnTo>
                </a:path>
                <a:path w="1212215" h="1096010">
                  <a:moveTo>
                    <a:pt x="600544" y="505726"/>
                  </a:moveTo>
                  <a:lnTo>
                    <a:pt x="1211630" y="505726"/>
                  </a:lnTo>
                </a:path>
                <a:path w="1212215" h="1096010">
                  <a:moveTo>
                    <a:pt x="332346" y="226987"/>
                  </a:moveTo>
                  <a:lnTo>
                    <a:pt x="175895" y="70535"/>
                  </a:lnTo>
                </a:path>
                <a:path w="1212215" h="1096010">
                  <a:moveTo>
                    <a:pt x="221246" y="510984"/>
                  </a:moveTo>
                  <a:lnTo>
                    <a:pt x="0" y="510984"/>
                  </a:lnTo>
                </a:path>
                <a:path w="1212215" h="1096010">
                  <a:moveTo>
                    <a:pt x="332346" y="763384"/>
                  </a:moveTo>
                  <a:lnTo>
                    <a:pt x="175895" y="919835"/>
                  </a:lnTo>
                </a:path>
                <a:path w="1212215" h="1096010">
                  <a:moveTo>
                    <a:pt x="605815" y="874483"/>
                  </a:moveTo>
                  <a:lnTo>
                    <a:pt x="605815" y="1095743"/>
                  </a:lnTo>
                </a:path>
                <a:path w="1212215" h="1096010">
                  <a:moveTo>
                    <a:pt x="868743" y="763384"/>
                  </a:moveTo>
                  <a:lnTo>
                    <a:pt x="1025194" y="91983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963278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1841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58831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31305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37759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58466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63278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58466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17605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96168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13158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85632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92086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12793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17605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12793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83359" y="4589970"/>
            <a:ext cx="1207770" cy="1206500"/>
            <a:chOff x="8183359" y="4589970"/>
            <a:chExt cx="1207770" cy="1206500"/>
          </a:xfrm>
        </p:grpSpPr>
        <p:sp>
          <p:nvSpPr>
            <p:cNvPr id="40" name="object 40"/>
            <p:cNvSpPr/>
            <p:nvPr/>
          </p:nvSpPr>
          <p:spPr>
            <a:xfrm>
              <a:off x="8785542" y="4845621"/>
              <a:ext cx="507365" cy="358775"/>
            </a:xfrm>
            <a:custGeom>
              <a:avLst/>
              <a:gdLst/>
              <a:ahLst/>
              <a:cxnLst/>
              <a:rect l="l" t="t" r="r" b="b"/>
              <a:pathLst>
                <a:path w="507365" h="358775">
                  <a:moveTo>
                    <a:pt x="507263" y="357606"/>
                  </a:moveTo>
                  <a:lnTo>
                    <a:pt x="504795" y="309370"/>
                  </a:lnTo>
                  <a:lnTo>
                    <a:pt x="497742" y="261502"/>
                  </a:lnTo>
                  <a:lnTo>
                    <a:pt x="486106" y="214357"/>
                  </a:lnTo>
                  <a:lnTo>
                    <a:pt x="469885" y="168287"/>
                  </a:lnTo>
                  <a:lnTo>
                    <a:pt x="449080" y="123649"/>
                  </a:lnTo>
                  <a:lnTo>
                    <a:pt x="423690" y="80797"/>
                  </a:lnTo>
                  <a:lnTo>
                    <a:pt x="393715" y="40084"/>
                  </a:lnTo>
                  <a:lnTo>
                    <a:pt x="359156" y="1866"/>
                  </a:lnTo>
                  <a:lnTo>
                    <a:pt x="358533" y="0"/>
                  </a:lnTo>
                  <a:lnTo>
                    <a:pt x="0" y="358533"/>
                  </a:lnTo>
                  <a:lnTo>
                    <a:pt x="506285" y="358533"/>
                  </a:lnTo>
                  <a:lnTo>
                    <a:pt x="507263" y="357606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83359" y="4589970"/>
              <a:ext cx="1207770" cy="1206500"/>
            </a:xfrm>
            <a:custGeom>
              <a:avLst/>
              <a:gdLst/>
              <a:ahLst/>
              <a:cxnLst/>
              <a:rect l="l" t="t" r="r" b="b"/>
              <a:pathLst>
                <a:path w="1207770" h="1206500">
                  <a:moveTo>
                    <a:pt x="600316" y="614807"/>
                  </a:moveTo>
                  <a:lnTo>
                    <a:pt x="1032421" y="182702"/>
                  </a:lnTo>
                </a:path>
                <a:path w="1207770" h="1206500">
                  <a:moveTo>
                    <a:pt x="596595" y="611085"/>
                  </a:moveTo>
                  <a:lnTo>
                    <a:pt x="1207681" y="611085"/>
                  </a:lnTo>
                </a:path>
                <a:path w="1207770" h="1206500">
                  <a:moveTo>
                    <a:pt x="607568" y="1122070"/>
                  </a:moveTo>
                  <a:lnTo>
                    <a:pt x="656271" y="1119755"/>
                  </a:lnTo>
                  <a:lnTo>
                    <a:pt x="703666" y="1112951"/>
                  </a:lnTo>
                  <a:lnTo>
                    <a:pt x="749538" y="1101871"/>
                  </a:lnTo>
                  <a:lnTo>
                    <a:pt x="793677" y="1086725"/>
                  </a:lnTo>
                  <a:lnTo>
                    <a:pt x="835871" y="1067727"/>
                  </a:lnTo>
                  <a:lnTo>
                    <a:pt x="875907" y="1045087"/>
                  </a:lnTo>
                  <a:lnTo>
                    <a:pt x="913574" y="1019019"/>
                  </a:lnTo>
                  <a:lnTo>
                    <a:pt x="948659" y="989733"/>
                  </a:lnTo>
                  <a:lnTo>
                    <a:pt x="980951" y="957442"/>
                  </a:lnTo>
                  <a:lnTo>
                    <a:pt x="1010238" y="922358"/>
                  </a:lnTo>
                  <a:lnTo>
                    <a:pt x="1036308" y="884692"/>
                  </a:lnTo>
                  <a:lnTo>
                    <a:pt x="1058948" y="844657"/>
                  </a:lnTo>
                  <a:lnTo>
                    <a:pt x="1077948" y="802464"/>
                  </a:lnTo>
                  <a:lnTo>
                    <a:pt x="1093094" y="758325"/>
                  </a:lnTo>
                  <a:lnTo>
                    <a:pt x="1104175" y="712453"/>
                  </a:lnTo>
                  <a:lnTo>
                    <a:pt x="1110979" y="665060"/>
                  </a:lnTo>
                  <a:lnTo>
                    <a:pt x="1113294" y="616356"/>
                  </a:lnTo>
                  <a:lnTo>
                    <a:pt x="1110979" y="567650"/>
                  </a:lnTo>
                  <a:lnTo>
                    <a:pt x="1104175" y="520254"/>
                  </a:lnTo>
                  <a:lnTo>
                    <a:pt x="1093094" y="474381"/>
                  </a:lnTo>
                  <a:lnTo>
                    <a:pt x="1077948" y="430241"/>
                  </a:lnTo>
                  <a:lnTo>
                    <a:pt x="1058948" y="388047"/>
                  </a:lnTo>
                  <a:lnTo>
                    <a:pt x="1036308" y="348011"/>
                  </a:lnTo>
                  <a:lnTo>
                    <a:pt x="1010238" y="310344"/>
                  </a:lnTo>
                  <a:lnTo>
                    <a:pt x="980951" y="275259"/>
                  </a:lnTo>
                  <a:lnTo>
                    <a:pt x="948659" y="242968"/>
                  </a:lnTo>
                  <a:lnTo>
                    <a:pt x="913574" y="213681"/>
                  </a:lnTo>
                  <a:lnTo>
                    <a:pt x="875907" y="187612"/>
                  </a:lnTo>
                  <a:lnTo>
                    <a:pt x="835871" y="164973"/>
                  </a:lnTo>
                  <a:lnTo>
                    <a:pt x="793677" y="145974"/>
                  </a:lnTo>
                  <a:lnTo>
                    <a:pt x="749538" y="130829"/>
                  </a:lnTo>
                  <a:lnTo>
                    <a:pt x="703666" y="119748"/>
                  </a:lnTo>
                  <a:lnTo>
                    <a:pt x="656271" y="112944"/>
                  </a:lnTo>
                  <a:lnTo>
                    <a:pt x="607568" y="110629"/>
                  </a:lnTo>
                  <a:lnTo>
                    <a:pt x="558864" y="112944"/>
                  </a:lnTo>
                  <a:lnTo>
                    <a:pt x="511470" y="119748"/>
                  </a:lnTo>
                  <a:lnTo>
                    <a:pt x="465597" y="130829"/>
                  </a:lnTo>
                  <a:lnTo>
                    <a:pt x="421458" y="145974"/>
                  </a:lnTo>
                  <a:lnTo>
                    <a:pt x="379264" y="164973"/>
                  </a:lnTo>
                  <a:lnTo>
                    <a:pt x="339228" y="187612"/>
                  </a:lnTo>
                  <a:lnTo>
                    <a:pt x="301561" y="213681"/>
                  </a:lnTo>
                  <a:lnTo>
                    <a:pt x="266476" y="242968"/>
                  </a:lnTo>
                  <a:lnTo>
                    <a:pt x="234184" y="275259"/>
                  </a:lnTo>
                  <a:lnTo>
                    <a:pt x="204897" y="310344"/>
                  </a:lnTo>
                  <a:lnTo>
                    <a:pt x="178827" y="348011"/>
                  </a:lnTo>
                  <a:lnTo>
                    <a:pt x="156187" y="388047"/>
                  </a:lnTo>
                  <a:lnTo>
                    <a:pt x="137187" y="430241"/>
                  </a:lnTo>
                  <a:lnTo>
                    <a:pt x="122041" y="474381"/>
                  </a:lnTo>
                  <a:lnTo>
                    <a:pt x="110960" y="520254"/>
                  </a:lnTo>
                  <a:lnTo>
                    <a:pt x="104156" y="567650"/>
                  </a:lnTo>
                  <a:lnTo>
                    <a:pt x="101841" y="616356"/>
                  </a:lnTo>
                  <a:lnTo>
                    <a:pt x="104156" y="665060"/>
                  </a:lnTo>
                  <a:lnTo>
                    <a:pt x="110960" y="712453"/>
                  </a:lnTo>
                  <a:lnTo>
                    <a:pt x="122041" y="758325"/>
                  </a:lnTo>
                  <a:lnTo>
                    <a:pt x="137187" y="802464"/>
                  </a:lnTo>
                  <a:lnTo>
                    <a:pt x="156187" y="844657"/>
                  </a:lnTo>
                  <a:lnTo>
                    <a:pt x="178827" y="884692"/>
                  </a:lnTo>
                  <a:lnTo>
                    <a:pt x="204897" y="922358"/>
                  </a:lnTo>
                  <a:lnTo>
                    <a:pt x="234184" y="957442"/>
                  </a:lnTo>
                  <a:lnTo>
                    <a:pt x="266476" y="989733"/>
                  </a:lnTo>
                  <a:lnTo>
                    <a:pt x="301561" y="1019019"/>
                  </a:lnTo>
                  <a:lnTo>
                    <a:pt x="339228" y="1045087"/>
                  </a:lnTo>
                  <a:lnTo>
                    <a:pt x="379264" y="1067727"/>
                  </a:lnTo>
                  <a:lnTo>
                    <a:pt x="421458" y="1086725"/>
                  </a:lnTo>
                  <a:lnTo>
                    <a:pt x="465597" y="1101871"/>
                  </a:lnTo>
                  <a:lnTo>
                    <a:pt x="511470" y="1112951"/>
                  </a:lnTo>
                  <a:lnTo>
                    <a:pt x="558864" y="1119755"/>
                  </a:lnTo>
                  <a:lnTo>
                    <a:pt x="607568" y="1122070"/>
                  </a:lnTo>
                  <a:close/>
                </a:path>
                <a:path w="1207770" h="1206500">
                  <a:moveTo>
                    <a:pt x="332346" y="337616"/>
                  </a:moveTo>
                  <a:lnTo>
                    <a:pt x="175895" y="181165"/>
                  </a:lnTo>
                </a:path>
                <a:path w="1207770" h="1206500">
                  <a:moveTo>
                    <a:pt x="221246" y="616343"/>
                  </a:moveTo>
                  <a:lnTo>
                    <a:pt x="0" y="616343"/>
                  </a:lnTo>
                </a:path>
                <a:path w="1207770" h="1206500">
                  <a:moveTo>
                    <a:pt x="332346" y="874014"/>
                  </a:moveTo>
                  <a:lnTo>
                    <a:pt x="175895" y="1030465"/>
                  </a:lnTo>
                </a:path>
                <a:path w="1207770" h="1206500">
                  <a:moveTo>
                    <a:pt x="604939" y="985113"/>
                  </a:moveTo>
                  <a:lnTo>
                    <a:pt x="604939" y="1206360"/>
                  </a:lnTo>
                </a:path>
                <a:path w="1207770" h="1206500">
                  <a:moveTo>
                    <a:pt x="605370" y="0"/>
                  </a:moveTo>
                  <a:lnTo>
                    <a:pt x="605370" y="221259"/>
                  </a:lnTo>
                </a:path>
                <a:path w="1207770" h="1206500">
                  <a:moveTo>
                    <a:pt x="868743" y="874014"/>
                  </a:moveTo>
                  <a:lnTo>
                    <a:pt x="1025194" y="1030465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71919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250482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67472" y="483013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39947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46400" y="5362201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67107" y="4419236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71919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67107" y="5746762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957238" y="4589970"/>
            <a:ext cx="0" cy="221615"/>
          </a:xfrm>
          <a:custGeom>
            <a:avLst/>
            <a:gdLst/>
            <a:ahLst/>
            <a:cxnLst/>
            <a:rect l="l" t="t" r="r" b="b"/>
            <a:pathLst>
              <a:path h="221614">
                <a:moveTo>
                  <a:pt x="0" y="0"/>
                </a:moveTo>
                <a:lnTo>
                  <a:pt x="0" y="221259"/>
                </a:lnTo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8507806" y="4424494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086369" y="483539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403359" y="4835395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75833" y="536745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382287" y="5367459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002994" y="4424494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07806" y="575202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002994" y="575202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92072" y="6022716"/>
            <a:ext cx="7315834" cy="12865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544320">
              <a:lnSpc>
                <a:spcPct val="100000"/>
              </a:lnSpc>
              <a:spcBef>
                <a:spcPts val="775"/>
              </a:spcBef>
              <a:tabLst>
                <a:tab pos="3408679" algn="l"/>
                <a:tab pos="5267960" algn="l"/>
                <a:tab pos="7096125" algn="l"/>
              </a:tabLst>
            </a:pPr>
            <a:r>
              <a:rPr sz="1300" spc="10" dirty="0">
                <a:latin typeface="Arial MT"/>
                <a:cs typeface="Arial MT"/>
              </a:rPr>
              <a:t>(a)	(b)	(c)	(d)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Arial MT"/>
              <a:cs typeface="Arial MT"/>
            </a:endParaRPr>
          </a:p>
          <a:p>
            <a:pPr marL="12700" marR="113664" indent="-635">
              <a:lnSpc>
                <a:spcPts val="3170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(a)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initial;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(b)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after first frame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sent;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(c)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first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frame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received; (d)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first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acknowledged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75"/>
              </a:spcBef>
            </a:pPr>
            <a:r>
              <a:rPr spc="-5" dirty="0"/>
              <a:t>One-Bit </a:t>
            </a:r>
            <a:r>
              <a:rPr spc="-10" dirty="0"/>
              <a:t>Sliding </a:t>
            </a:r>
            <a:r>
              <a:rPr spc="-15" dirty="0"/>
              <a:t>Window </a:t>
            </a:r>
            <a:r>
              <a:rPr spc="-1055" dirty="0"/>
              <a:t> </a:t>
            </a:r>
            <a:r>
              <a:rPr spc="-10" dirty="0"/>
              <a:t>Initialization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40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2072" y="1948454"/>
            <a:ext cx="7232015" cy="5293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175"/>
              </a:lnSpc>
              <a:spcBef>
                <a:spcPts val="125"/>
              </a:spcBef>
            </a:pPr>
            <a:r>
              <a:rPr sz="2650" b="1" spc="-1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2650" b="1" spc="5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protocol4(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b="1" spc="-15" dirty="0">
                <a:solidFill>
                  <a:srgbClr val="9B0707"/>
                </a:solidFill>
                <a:latin typeface="Arial"/>
                <a:cs typeface="Arial"/>
              </a:rPr>
              <a:t>void</a:t>
            </a:r>
            <a:r>
              <a:rPr sz="2650" b="1" spc="10" dirty="0">
                <a:solidFill>
                  <a:srgbClr val="9B0707"/>
                </a:solidFill>
                <a:latin typeface="Arial"/>
                <a:cs typeface="Arial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ts val="3170"/>
              </a:lnSpc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2650">
              <a:latin typeface="Arial MT"/>
              <a:cs typeface="Arial MT"/>
            </a:endParaRPr>
          </a:p>
          <a:p>
            <a:pPr marL="295910" marR="5080">
              <a:lnSpc>
                <a:spcPts val="2750"/>
              </a:lnSpc>
              <a:spcBef>
                <a:spcPts val="44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seq_nr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next_frame_to_send,</a:t>
            </a:r>
            <a:r>
              <a:rPr sz="2650" spc="4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frame_expected;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65" dirty="0">
                <a:solidFill>
                  <a:srgbClr val="9B0707"/>
                </a:solidFill>
                <a:latin typeface="Arial MT"/>
                <a:cs typeface="Arial MT"/>
              </a:rPr>
              <a:t>r,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s;</a:t>
            </a:r>
            <a:endParaRPr sz="2650">
              <a:latin typeface="Arial MT"/>
              <a:cs typeface="Arial MT"/>
            </a:endParaRPr>
          </a:p>
          <a:p>
            <a:pPr marL="295910" marR="4286250">
              <a:lnSpc>
                <a:spcPts val="2750"/>
              </a:lnSpc>
              <a:spcBef>
                <a:spcPts val="10"/>
              </a:spcBef>
            </a:pP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packet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buffer;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event_type</a:t>
            </a:r>
            <a:r>
              <a:rPr sz="2650" spc="-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event;</a:t>
            </a:r>
            <a:endParaRPr sz="2650">
              <a:latin typeface="Arial MT"/>
              <a:cs typeface="Arial MT"/>
            </a:endParaRPr>
          </a:p>
          <a:p>
            <a:pPr marL="295910">
              <a:lnSpc>
                <a:spcPts val="2965"/>
              </a:lnSpc>
              <a:spcBef>
                <a:spcPts val="1225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next_frame_to_send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0;</a:t>
            </a:r>
            <a:endParaRPr sz="2650">
              <a:latin typeface="Arial MT"/>
              <a:cs typeface="Arial MT"/>
            </a:endParaRPr>
          </a:p>
          <a:p>
            <a:pPr marL="295910" marR="3094355">
              <a:lnSpc>
                <a:spcPts val="2750"/>
              </a:lnSpc>
              <a:spcBef>
                <a:spcPts val="234"/>
              </a:spcBef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frame_expected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0;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from_net_layer(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&amp;buffer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s.info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buffer;</a:t>
            </a:r>
            <a:endParaRPr sz="2650">
              <a:latin typeface="Arial MT"/>
              <a:cs typeface="Arial MT"/>
            </a:endParaRPr>
          </a:p>
          <a:p>
            <a:pPr marL="295910">
              <a:lnSpc>
                <a:spcPts val="2510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s.seq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next_frame_to_send;</a:t>
            </a:r>
            <a:endParaRPr sz="2650">
              <a:latin typeface="Arial MT"/>
              <a:cs typeface="Arial MT"/>
            </a:endParaRPr>
          </a:p>
          <a:p>
            <a:pPr marL="295910" marR="2748280">
              <a:lnSpc>
                <a:spcPct val="86600"/>
              </a:lnSpc>
              <a:spcBef>
                <a:spcPts val="209"/>
              </a:spcBef>
            </a:pP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s.ack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 1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-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frame_expected;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to_phys_layer(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&amp;s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);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start_timer(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s.seq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9323"/>
            <a:ext cx="7678800" cy="61234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75"/>
              </a:spcBef>
            </a:pPr>
            <a:r>
              <a:rPr spc="-5" dirty="0"/>
              <a:t>One-Bit </a:t>
            </a:r>
            <a:r>
              <a:rPr spc="-10" dirty="0"/>
              <a:t>Sliding </a:t>
            </a:r>
            <a:r>
              <a:rPr spc="-15" dirty="0"/>
              <a:t>Window </a:t>
            </a:r>
            <a:r>
              <a:rPr spc="-1055" dirty="0"/>
              <a:t> </a:t>
            </a:r>
            <a:r>
              <a:rPr dirty="0"/>
              <a:t>Main</a:t>
            </a:r>
            <a:r>
              <a:rPr spc="-20" dirty="0"/>
              <a:t> </a:t>
            </a:r>
            <a:r>
              <a:rPr spc="-5" dirty="0"/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2072" y="2037139"/>
            <a:ext cx="7505700" cy="521081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95910" marR="4099560" indent="-283845">
              <a:lnSpc>
                <a:spcPts val="2540"/>
              </a:lnSpc>
              <a:spcBef>
                <a:spcPts val="300"/>
              </a:spcBef>
            </a:pPr>
            <a:r>
              <a:rPr sz="2200" b="1" spc="10" dirty="0">
                <a:solidFill>
                  <a:srgbClr val="9B0707"/>
                </a:solidFill>
                <a:latin typeface="Arial"/>
                <a:cs typeface="Arial"/>
              </a:rPr>
              <a:t>while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( </a:t>
            </a:r>
            <a:r>
              <a:rPr sz="2200" b="1" spc="10" dirty="0">
                <a:solidFill>
                  <a:srgbClr val="9B0707"/>
                </a:solidFill>
                <a:latin typeface="Arial"/>
                <a:cs typeface="Arial"/>
              </a:rPr>
              <a:t>true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) {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wait_for_event(</a:t>
            </a:r>
            <a:r>
              <a:rPr sz="2200" spc="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9B0707"/>
                </a:solidFill>
                <a:latin typeface="Arial MT"/>
                <a:cs typeface="Arial MT"/>
              </a:rPr>
              <a:t>&amp;event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200">
              <a:latin typeface="Arial MT"/>
              <a:cs typeface="Arial MT"/>
            </a:endParaRPr>
          </a:p>
          <a:p>
            <a:pPr marL="579120" marR="3697604" indent="-283845">
              <a:lnSpc>
                <a:spcPts val="2540"/>
              </a:lnSpc>
              <a:spcBef>
                <a:spcPts val="5"/>
              </a:spcBef>
            </a:pPr>
            <a:r>
              <a:rPr sz="220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event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 ==</a:t>
            </a: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frame_arrival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{ </a:t>
            </a:r>
            <a:r>
              <a:rPr sz="2200" spc="-5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from_physical_layer(</a:t>
            </a:r>
            <a:r>
              <a:rPr sz="2200" spc="7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&amp;r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 );</a:t>
            </a:r>
            <a:endParaRPr sz="2200">
              <a:latin typeface="Arial MT"/>
              <a:cs typeface="Arial MT"/>
            </a:endParaRPr>
          </a:p>
          <a:p>
            <a:pPr marL="579120">
              <a:lnSpc>
                <a:spcPts val="2430"/>
              </a:lnSpc>
            </a:pPr>
            <a:r>
              <a:rPr sz="220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 r.seq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==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frame_expected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)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{</a:t>
            </a:r>
            <a:endParaRPr sz="2200">
              <a:latin typeface="Arial MT"/>
              <a:cs typeface="Arial MT"/>
            </a:endParaRPr>
          </a:p>
          <a:p>
            <a:pPr marL="862965">
              <a:lnSpc>
                <a:spcPts val="2545"/>
              </a:lnSpc>
            </a:pP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to_net_layer(</a:t>
            </a:r>
            <a:r>
              <a:rPr sz="2200" spc="4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&amp;r.info</a:t>
            </a:r>
            <a:r>
              <a:rPr sz="220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 inc(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frame_expected</a:t>
            </a:r>
            <a:r>
              <a:rPr sz="2200" spc="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200">
              <a:latin typeface="Arial MT"/>
              <a:cs typeface="Arial MT"/>
            </a:endParaRPr>
          </a:p>
          <a:p>
            <a:pPr marL="579120">
              <a:lnSpc>
                <a:spcPts val="2545"/>
              </a:lnSpc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862965" marR="2574290" indent="-283845">
              <a:lnSpc>
                <a:spcPts val="2540"/>
              </a:lnSpc>
              <a:spcBef>
                <a:spcPts val="120"/>
              </a:spcBef>
            </a:pPr>
            <a:r>
              <a:rPr sz="2200" b="1" spc="5" dirty="0">
                <a:solidFill>
                  <a:srgbClr val="9B0707"/>
                </a:solidFill>
                <a:latin typeface="Arial"/>
                <a:cs typeface="Arial"/>
              </a:rPr>
              <a:t>if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(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9B0707"/>
                </a:solidFill>
                <a:latin typeface="Arial MT"/>
                <a:cs typeface="Arial MT"/>
              </a:rPr>
              <a:t>r.ack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 ==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next_frame_to_send</a:t>
            </a:r>
            <a:r>
              <a:rPr sz="2200" spc="8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) { </a:t>
            </a:r>
            <a:r>
              <a:rPr sz="2200" spc="-59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stop_timer(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9B0707"/>
                </a:solidFill>
                <a:latin typeface="Arial MT"/>
                <a:cs typeface="Arial MT"/>
              </a:rPr>
              <a:t>r.ack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200">
              <a:latin typeface="Arial MT"/>
              <a:cs typeface="Arial MT"/>
            </a:endParaRPr>
          </a:p>
          <a:p>
            <a:pPr marL="862965">
              <a:lnSpc>
                <a:spcPts val="2430"/>
              </a:lnSpc>
            </a:pP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from_net_layer(</a:t>
            </a:r>
            <a:r>
              <a:rPr sz="2200" spc="4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&amp;buffer</a:t>
            </a:r>
            <a:r>
              <a:rPr sz="2200" spc="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 inc(</a:t>
            </a:r>
            <a:r>
              <a:rPr sz="2200" spc="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next_frame_to_send</a:t>
            </a:r>
            <a:r>
              <a:rPr sz="2200" spc="7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200">
              <a:latin typeface="Arial MT"/>
              <a:cs typeface="Arial MT"/>
            </a:endParaRPr>
          </a:p>
          <a:p>
            <a:pPr marL="579120">
              <a:lnSpc>
                <a:spcPts val="2545"/>
              </a:lnSpc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295910">
              <a:lnSpc>
                <a:spcPts val="2545"/>
              </a:lnSpc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295910">
              <a:lnSpc>
                <a:spcPts val="2545"/>
              </a:lnSpc>
            </a:pP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s.info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buffer;</a:t>
            </a:r>
            <a:endParaRPr sz="2200">
              <a:latin typeface="Arial MT"/>
              <a:cs typeface="Arial MT"/>
            </a:endParaRPr>
          </a:p>
          <a:p>
            <a:pPr marL="295910" marR="3568700">
              <a:lnSpc>
                <a:spcPts val="2540"/>
              </a:lnSpc>
              <a:spcBef>
                <a:spcPts val="120"/>
              </a:spcBef>
            </a:pP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s.seq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= 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next_frame_to_send; </a:t>
            </a:r>
            <a:r>
              <a:rPr sz="2200" spc="-6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9B0707"/>
                </a:solidFill>
                <a:latin typeface="Arial MT"/>
                <a:cs typeface="Arial MT"/>
              </a:rPr>
              <a:t>s.ack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1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-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frame_expected;</a:t>
            </a:r>
            <a:endParaRPr sz="2200">
              <a:latin typeface="Arial MT"/>
              <a:cs typeface="Arial MT"/>
            </a:endParaRPr>
          </a:p>
          <a:p>
            <a:pPr marL="295910">
              <a:lnSpc>
                <a:spcPts val="2470"/>
              </a:lnSpc>
            </a:pP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to_phys_layer(</a:t>
            </a:r>
            <a:r>
              <a:rPr sz="2200" spc="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&amp;s</a:t>
            </a: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r>
              <a:rPr sz="220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9B0707"/>
                </a:solidFill>
                <a:latin typeface="Arial MT"/>
                <a:cs typeface="Arial MT"/>
              </a:rPr>
              <a:t>start_timer(</a:t>
            </a:r>
            <a:r>
              <a:rPr sz="220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s.seq</a:t>
            </a:r>
            <a:r>
              <a:rPr sz="22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9B0707"/>
                </a:solidFill>
                <a:latin typeface="Arial MT"/>
                <a:cs typeface="Arial MT"/>
              </a:rPr>
              <a:t>);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2137" y="7205009"/>
            <a:ext cx="12065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10" dirty="0">
                <a:solidFill>
                  <a:srgbClr val="9B0707"/>
                </a:solidFill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8923" y="7226156"/>
            <a:ext cx="1066165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5" dirty="0">
                <a:solidFill>
                  <a:srgbClr val="0099CC"/>
                </a:solidFill>
                <a:latin typeface="Times New Roman"/>
                <a:cs typeface="Times New Roman"/>
              </a:rPr>
              <a:t>Chapter</a:t>
            </a:r>
            <a:r>
              <a:rPr sz="1000" spc="15" dirty="0">
                <a:solidFill>
                  <a:srgbClr val="0099CC"/>
                </a:solidFill>
                <a:latin typeface="Times New Roman"/>
                <a:cs typeface="Times New Roman"/>
              </a:rPr>
              <a:t> 3</a:t>
            </a:r>
            <a:r>
              <a:rPr sz="1000" spc="-15" dirty="0">
                <a:solidFill>
                  <a:srgbClr val="0099CC"/>
                </a:solidFill>
                <a:latin typeface="Times New Roman"/>
                <a:cs typeface="Times New Roman"/>
              </a:rPr>
              <a:t> </a:t>
            </a:r>
            <a:r>
              <a:rPr sz="1000" spc="15" dirty="0">
                <a:solidFill>
                  <a:srgbClr val="0099CC"/>
                </a:solidFill>
                <a:latin typeface="Times New Roman"/>
                <a:cs typeface="Times New Roman"/>
              </a:rPr>
              <a:t>–</a:t>
            </a:r>
            <a:r>
              <a:rPr sz="1000" spc="-5" dirty="0">
                <a:solidFill>
                  <a:srgbClr val="0099CC"/>
                </a:solidFill>
                <a:latin typeface="Times New Roman"/>
                <a:cs typeface="Times New Roman"/>
              </a:rPr>
              <a:t> </a:t>
            </a:r>
            <a:r>
              <a:rPr sz="1000" spc="5" dirty="0">
                <a:solidFill>
                  <a:srgbClr val="0099CC"/>
                </a:solidFill>
                <a:latin typeface="Times New Roman"/>
                <a:cs typeface="Times New Roman"/>
              </a:rPr>
              <a:t>p.41/69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95"/>
              </a:spcBef>
            </a:pPr>
            <a:r>
              <a:rPr spc="-5" dirty="0"/>
              <a:t>One-Bit </a:t>
            </a:r>
            <a:r>
              <a:rPr spc="-10" dirty="0"/>
              <a:t>Sliding </a:t>
            </a:r>
            <a:r>
              <a:rPr spc="-15" dirty="0"/>
              <a:t>Window </a:t>
            </a:r>
            <a:r>
              <a:rPr spc="-1055" dirty="0"/>
              <a:t> </a:t>
            </a:r>
            <a:r>
              <a:rPr spc="15" dirty="0"/>
              <a:t>Normal</a:t>
            </a:r>
            <a:r>
              <a:rPr spc="-20" dirty="0"/>
              <a:t> </a:t>
            </a:r>
            <a:r>
              <a:rPr spc="-5" dirty="0"/>
              <a:t>Case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42</a:t>
            </a:fld>
            <a:r>
              <a:rPr spc="10" dirty="0"/>
              <a:t>/69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257084" y="2606826"/>
            <a:ext cx="80645" cy="3926204"/>
            <a:chOff x="8157641" y="2530716"/>
            <a:chExt cx="80645" cy="3926204"/>
          </a:xfrm>
        </p:grpSpPr>
        <p:sp>
          <p:nvSpPr>
            <p:cNvPr id="4" name="object 4"/>
            <p:cNvSpPr/>
            <p:nvPr/>
          </p:nvSpPr>
          <p:spPr>
            <a:xfrm>
              <a:off x="8197964" y="2530716"/>
              <a:ext cx="0" cy="3858895"/>
            </a:xfrm>
            <a:custGeom>
              <a:avLst/>
              <a:gdLst/>
              <a:ahLst/>
              <a:cxnLst/>
              <a:rect l="l" t="t" r="r" b="b"/>
              <a:pathLst>
                <a:path h="3858895">
                  <a:moveTo>
                    <a:pt x="0" y="3858488"/>
                  </a:moveTo>
                  <a:lnTo>
                    <a:pt x="0" y="0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57641" y="6306972"/>
              <a:ext cx="80645" cy="149860"/>
            </a:xfrm>
            <a:custGeom>
              <a:avLst/>
              <a:gdLst/>
              <a:ahLst/>
              <a:cxnLst/>
              <a:rect l="l" t="t" r="r" b="b"/>
              <a:pathLst>
                <a:path w="80645" h="149860">
                  <a:moveTo>
                    <a:pt x="80022" y="0"/>
                  </a:moveTo>
                  <a:lnTo>
                    <a:pt x="0" y="0"/>
                  </a:lnTo>
                  <a:lnTo>
                    <a:pt x="39865" y="149364"/>
                  </a:lnTo>
                  <a:lnTo>
                    <a:pt x="800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7506" y="6316027"/>
              <a:ext cx="0" cy="80010"/>
            </a:xfrm>
            <a:custGeom>
              <a:avLst/>
              <a:gdLst/>
              <a:ahLst/>
              <a:cxnLst/>
              <a:rect l="l" t="t" r="r" b="b"/>
              <a:pathLst>
                <a:path h="80010">
                  <a:moveTo>
                    <a:pt x="0" y="0"/>
                  </a:moveTo>
                  <a:lnTo>
                    <a:pt x="0" y="80010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10094" y="2733450"/>
            <a:ext cx="1027430" cy="306705"/>
            <a:chOff x="4910651" y="2657340"/>
            <a:chExt cx="1027430" cy="306705"/>
          </a:xfrm>
        </p:grpSpPr>
        <p:sp>
          <p:nvSpPr>
            <p:cNvPr id="8" name="object 8"/>
            <p:cNvSpPr/>
            <p:nvPr/>
          </p:nvSpPr>
          <p:spPr>
            <a:xfrm>
              <a:off x="4922240" y="2668930"/>
              <a:ext cx="951230" cy="275590"/>
            </a:xfrm>
            <a:custGeom>
              <a:avLst/>
              <a:gdLst/>
              <a:ahLst/>
              <a:cxnLst/>
              <a:rect l="l" t="t" r="r" b="b"/>
              <a:pathLst>
                <a:path w="951229" h="275589">
                  <a:moveTo>
                    <a:pt x="950963" y="275450"/>
                  </a:moveTo>
                  <a:lnTo>
                    <a:pt x="0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83008" y="2883395"/>
              <a:ext cx="154940" cy="80645"/>
            </a:xfrm>
            <a:custGeom>
              <a:avLst/>
              <a:gdLst/>
              <a:ahLst/>
              <a:cxnLst/>
              <a:rect l="l" t="t" r="r" b="b"/>
              <a:pathLst>
                <a:path w="154939" h="80644">
                  <a:moveTo>
                    <a:pt x="154546" y="80137"/>
                  </a:moveTo>
                  <a:lnTo>
                    <a:pt x="22250" y="0"/>
                  </a:lnTo>
                  <a:lnTo>
                    <a:pt x="0" y="76860"/>
                  </a:lnTo>
                  <a:lnTo>
                    <a:pt x="154546" y="80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02795" y="2924479"/>
              <a:ext cx="76835" cy="22860"/>
            </a:xfrm>
            <a:custGeom>
              <a:avLst/>
              <a:gdLst/>
              <a:ahLst/>
              <a:cxnLst/>
              <a:rect l="l" t="t" r="r" b="b"/>
              <a:pathLst>
                <a:path w="76835" h="22860">
                  <a:moveTo>
                    <a:pt x="0" y="0"/>
                  </a:moveTo>
                  <a:lnTo>
                    <a:pt x="76835" y="22250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977645" y="3955381"/>
            <a:ext cx="1059815" cy="172720"/>
            <a:chOff x="4878202" y="3879271"/>
            <a:chExt cx="1059815" cy="172720"/>
          </a:xfrm>
        </p:grpSpPr>
        <p:sp>
          <p:nvSpPr>
            <p:cNvPr id="12" name="object 12"/>
            <p:cNvSpPr/>
            <p:nvPr/>
          </p:nvSpPr>
          <p:spPr>
            <a:xfrm>
              <a:off x="4889792" y="3890860"/>
              <a:ext cx="981710" cy="132080"/>
            </a:xfrm>
            <a:custGeom>
              <a:avLst/>
              <a:gdLst/>
              <a:ahLst/>
              <a:cxnLst/>
              <a:rect l="l" t="t" r="r" b="b"/>
              <a:pathLst>
                <a:path w="981710" h="132079">
                  <a:moveTo>
                    <a:pt x="981290" y="131483"/>
                  </a:moveTo>
                  <a:lnTo>
                    <a:pt x="0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84227" y="3972090"/>
              <a:ext cx="153670" cy="79375"/>
            </a:xfrm>
            <a:custGeom>
              <a:avLst/>
              <a:gdLst/>
              <a:ahLst/>
              <a:cxnLst/>
              <a:rect l="l" t="t" r="r" b="b"/>
              <a:pathLst>
                <a:path w="153670" h="79375">
                  <a:moveTo>
                    <a:pt x="153327" y="59639"/>
                  </a:moveTo>
                  <a:lnTo>
                    <a:pt x="10629" y="0"/>
                  </a:lnTo>
                  <a:lnTo>
                    <a:pt x="0" y="79336"/>
                  </a:lnTo>
                  <a:lnTo>
                    <a:pt x="153327" y="596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98502" y="4013098"/>
              <a:ext cx="79375" cy="10795"/>
            </a:xfrm>
            <a:custGeom>
              <a:avLst/>
              <a:gdLst/>
              <a:ahLst/>
              <a:cxnLst/>
              <a:rect l="l" t="t" r="r" b="b"/>
              <a:pathLst>
                <a:path w="79375" h="10795">
                  <a:moveTo>
                    <a:pt x="0" y="0"/>
                  </a:moveTo>
                  <a:lnTo>
                    <a:pt x="79298" y="10617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964241" y="3348118"/>
            <a:ext cx="1024890" cy="313690"/>
            <a:chOff x="4864798" y="3272008"/>
            <a:chExt cx="1024890" cy="313690"/>
          </a:xfrm>
        </p:grpSpPr>
        <p:sp>
          <p:nvSpPr>
            <p:cNvPr id="16" name="object 16"/>
            <p:cNvSpPr/>
            <p:nvPr/>
          </p:nvSpPr>
          <p:spPr>
            <a:xfrm>
              <a:off x="4929022" y="3283597"/>
              <a:ext cx="949325" cy="282575"/>
            </a:xfrm>
            <a:custGeom>
              <a:avLst/>
              <a:gdLst/>
              <a:ahLst/>
              <a:cxnLst/>
              <a:rect l="l" t="t" r="r" b="b"/>
              <a:pathLst>
                <a:path w="949325" h="282575">
                  <a:moveTo>
                    <a:pt x="0" y="282003"/>
                  </a:moveTo>
                  <a:lnTo>
                    <a:pt x="949045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64798" y="3504120"/>
              <a:ext cx="154940" cy="81280"/>
            </a:xfrm>
            <a:custGeom>
              <a:avLst/>
              <a:gdLst/>
              <a:ahLst/>
              <a:cxnLst/>
              <a:rect l="l" t="t" r="r" b="b"/>
              <a:pathLst>
                <a:path w="154939" h="81279">
                  <a:moveTo>
                    <a:pt x="154533" y="76720"/>
                  </a:moveTo>
                  <a:lnTo>
                    <a:pt x="131737" y="0"/>
                  </a:lnTo>
                  <a:lnTo>
                    <a:pt x="0" y="81038"/>
                  </a:lnTo>
                  <a:lnTo>
                    <a:pt x="154533" y="767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22596" y="3545205"/>
              <a:ext cx="76835" cy="22860"/>
            </a:xfrm>
            <a:custGeom>
              <a:avLst/>
              <a:gdLst/>
              <a:ahLst/>
              <a:cxnLst/>
              <a:rect l="l" t="t" r="r" b="b"/>
              <a:pathLst>
                <a:path w="76835" h="22860">
                  <a:moveTo>
                    <a:pt x="76695" y="0"/>
                  </a:moveTo>
                  <a:lnTo>
                    <a:pt x="0" y="22771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935285" y="4366708"/>
            <a:ext cx="1052830" cy="208915"/>
            <a:chOff x="4835842" y="4290598"/>
            <a:chExt cx="1052830" cy="208915"/>
          </a:xfrm>
        </p:grpSpPr>
        <p:sp>
          <p:nvSpPr>
            <p:cNvPr id="20" name="object 20"/>
            <p:cNvSpPr/>
            <p:nvPr/>
          </p:nvSpPr>
          <p:spPr>
            <a:xfrm>
              <a:off x="4901882" y="4302188"/>
              <a:ext cx="975360" cy="172085"/>
            </a:xfrm>
            <a:custGeom>
              <a:avLst/>
              <a:gdLst/>
              <a:ahLst/>
              <a:cxnLst/>
              <a:rect l="l" t="t" r="r" b="b"/>
              <a:pathLst>
                <a:path w="975360" h="172085">
                  <a:moveTo>
                    <a:pt x="0" y="171754"/>
                  </a:moveTo>
                  <a:lnTo>
                    <a:pt x="975055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35842" y="4420590"/>
              <a:ext cx="154305" cy="79375"/>
            </a:xfrm>
            <a:custGeom>
              <a:avLst/>
              <a:gdLst/>
              <a:ahLst/>
              <a:cxnLst/>
              <a:rect l="l" t="t" r="r" b="b"/>
              <a:pathLst>
                <a:path w="154304" h="79375">
                  <a:moveTo>
                    <a:pt x="154025" y="78828"/>
                  </a:moveTo>
                  <a:lnTo>
                    <a:pt x="140131" y="0"/>
                  </a:lnTo>
                  <a:lnTo>
                    <a:pt x="0" y="65468"/>
                  </a:lnTo>
                  <a:lnTo>
                    <a:pt x="154025" y="788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95227" y="4461713"/>
              <a:ext cx="79375" cy="13970"/>
            </a:xfrm>
            <a:custGeom>
              <a:avLst/>
              <a:gdLst/>
              <a:ahLst/>
              <a:cxnLst/>
              <a:rect l="l" t="t" r="r" b="b"/>
              <a:pathLst>
                <a:path w="79375" h="13970">
                  <a:moveTo>
                    <a:pt x="78803" y="0"/>
                  </a:moveTo>
                  <a:lnTo>
                    <a:pt x="0" y="13881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935285" y="5292602"/>
            <a:ext cx="1054100" cy="203835"/>
            <a:chOff x="4835842" y="5216492"/>
            <a:chExt cx="1054100" cy="203835"/>
          </a:xfrm>
        </p:grpSpPr>
        <p:sp>
          <p:nvSpPr>
            <p:cNvPr id="24" name="object 24"/>
            <p:cNvSpPr/>
            <p:nvPr/>
          </p:nvSpPr>
          <p:spPr>
            <a:xfrm>
              <a:off x="4901958" y="5228081"/>
              <a:ext cx="976630" cy="165735"/>
            </a:xfrm>
            <a:custGeom>
              <a:avLst/>
              <a:gdLst/>
              <a:ahLst/>
              <a:cxnLst/>
              <a:rect l="l" t="t" r="r" b="b"/>
              <a:pathLst>
                <a:path w="976629" h="165735">
                  <a:moveTo>
                    <a:pt x="0" y="165595"/>
                  </a:moveTo>
                  <a:lnTo>
                    <a:pt x="976109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35842" y="5340794"/>
              <a:ext cx="154305" cy="79375"/>
            </a:xfrm>
            <a:custGeom>
              <a:avLst/>
              <a:gdLst/>
              <a:ahLst/>
              <a:cxnLst/>
              <a:rect l="l" t="t" r="r" b="b"/>
              <a:pathLst>
                <a:path w="154304" h="79375">
                  <a:moveTo>
                    <a:pt x="153936" y="78905"/>
                  </a:moveTo>
                  <a:lnTo>
                    <a:pt x="140550" y="0"/>
                  </a:lnTo>
                  <a:lnTo>
                    <a:pt x="0" y="64566"/>
                  </a:lnTo>
                  <a:lnTo>
                    <a:pt x="153936" y="78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95291" y="5381891"/>
              <a:ext cx="79375" cy="13970"/>
            </a:xfrm>
            <a:custGeom>
              <a:avLst/>
              <a:gdLst/>
              <a:ahLst/>
              <a:cxnLst/>
              <a:rect l="l" t="t" r="r" b="b"/>
              <a:pathLst>
                <a:path w="79375" h="13970">
                  <a:moveTo>
                    <a:pt x="78892" y="0"/>
                  </a:moveTo>
                  <a:lnTo>
                    <a:pt x="0" y="13398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3987919" y="4814917"/>
            <a:ext cx="1049020" cy="227965"/>
            <a:chOff x="4888476" y="4738807"/>
            <a:chExt cx="1049020" cy="227965"/>
          </a:xfrm>
        </p:grpSpPr>
        <p:sp>
          <p:nvSpPr>
            <p:cNvPr id="28" name="object 28"/>
            <p:cNvSpPr/>
            <p:nvPr/>
          </p:nvSpPr>
          <p:spPr>
            <a:xfrm>
              <a:off x="4900066" y="4750397"/>
              <a:ext cx="971550" cy="193040"/>
            </a:xfrm>
            <a:custGeom>
              <a:avLst/>
              <a:gdLst/>
              <a:ahLst/>
              <a:cxnLst/>
              <a:rect l="l" t="t" r="r" b="b"/>
              <a:pathLst>
                <a:path w="971550" h="193039">
                  <a:moveTo>
                    <a:pt x="971105" y="192773"/>
                  </a:moveTo>
                  <a:lnTo>
                    <a:pt x="0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82652" y="4888230"/>
              <a:ext cx="154305" cy="78740"/>
            </a:xfrm>
            <a:custGeom>
              <a:avLst/>
              <a:gdLst/>
              <a:ahLst/>
              <a:cxnLst/>
              <a:rect l="l" t="t" r="r" b="b"/>
              <a:pathLst>
                <a:path w="154304" h="78739">
                  <a:moveTo>
                    <a:pt x="154292" y="68465"/>
                  </a:moveTo>
                  <a:lnTo>
                    <a:pt x="15595" y="0"/>
                  </a:lnTo>
                  <a:lnTo>
                    <a:pt x="0" y="78511"/>
                  </a:lnTo>
                  <a:lnTo>
                    <a:pt x="154292" y="68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99315" y="4929390"/>
              <a:ext cx="78740" cy="15875"/>
            </a:xfrm>
            <a:custGeom>
              <a:avLst/>
              <a:gdLst/>
              <a:ahLst/>
              <a:cxnLst/>
              <a:rect l="l" t="t" r="r" b="b"/>
              <a:pathLst>
                <a:path w="78739" h="15875">
                  <a:moveTo>
                    <a:pt x="0" y="0"/>
                  </a:moveTo>
                  <a:lnTo>
                    <a:pt x="78486" y="15570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990675" y="5713429"/>
            <a:ext cx="1046480" cy="236854"/>
            <a:chOff x="4891232" y="5637319"/>
            <a:chExt cx="1046480" cy="236854"/>
          </a:xfrm>
        </p:grpSpPr>
        <p:sp>
          <p:nvSpPr>
            <p:cNvPr id="32" name="object 32"/>
            <p:cNvSpPr/>
            <p:nvPr/>
          </p:nvSpPr>
          <p:spPr>
            <a:xfrm>
              <a:off x="4902822" y="5648909"/>
              <a:ext cx="969644" cy="202565"/>
            </a:xfrm>
            <a:custGeom>
              <a:avLst/>
              <a:gdLst/>
              <a:ahLst/>
              <a:cxnLst/>
              <a:rect l="l" t="t" r="r" b="b"/>
              <a:pathLst>
                <a:path w="969645" h="202564">
                  <a:moveTo>
                    <a:pt x="969137" y="202539"/>
                  </a:moveTo>
                  <a:lnTo>
                    <a:pt x="0" y="0"/>
                  </a:lnTo>
                </a:path>
              </a:pathLst>
            </a:custGeom>
            <a:ln w="23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83211" y="5795772"/>
              <a:ext cx="154940" cy="78740"/>
            </a:xfrm>
            <a:custGeom>
              <a:avLst/>
              <a:gdLst/>
              <a:ahLst/>
              <a:cxnLst/>
              <a:rect l="l" t="t" r="r" b="b"/>
              <a:pathLst>
                <a:path w="154939" h="78739">
                  <a:moveTo>
                    <a:pt x="154343" y="69875"/>
                  </a:moveTo>
                  <a:lnTo>
                    <a:pt x="16370" y="0"/>
                  </a:lnTo>
                  <a:lnTo>
                    <a:pt x="0" y="78359"/>
                  </a:lnTo>
                  <a:lnTo>
                    <a:pt x="154343" y="69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00217" y="5836945"/>
              <a:ext cx="78740" cy="16510"/>
            </a:xfrm>
            <a:custGeom>
              <a:avLst/>
              <a:gdLst/>
              <a:ahLst/>
              <a:cxnLst/>
              <a:rect l="l" t="t" r="r" b="b"/>
              <a:pathLst>
                <a:path w="78739" h="16510">
                  <a:moveTo>
                    <a:pt x="0" y="0"/>
                  </a:moveTo>
                  <a:lnTo>
                    <a:pt x="78308" y="16357"/>
                  </a:lnTo>
                </a:path>
              </a:pathLst>
            </a:custGeom>
            <a:ln w="144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91515" y="1767147"/>
            <a:ext cx="6890384" cy="5170646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Notation:</a:t>
            </a:r>
            <a:r>
              <a:rPr sz="2650" spc="19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(sequence,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b="1" spc="-5" dirty="0">
                <a:solidFill>
                  <a:srgbClr val="9B0707"/>
                </a:solidFill>
                <a:latin typeface="Arial MT"/>
                <a:cs typeface="Arial MT"/>
              </a:rPr>
              <a:t>ack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,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packet)</a:t>
            </a:r>
            <a:endParaRPr sz="2650" dirty="0">
              <a:latin typeface="Arial MT"/>
              <a:cs typeface="Arial MT"/>
            </a:endParaRPr>
          </a:p>
          <a:p>
            <a:pPr marL="1414145">
              <a:lnSpc>
                <a:spcPct val="100000"/>
              </a:lnSpc>
              <a:spcBef>
                <a:spcPts val="1240"/>
              </a:spcBef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10" dirty="0">
                <a:latin typeface="Arial MT"/>
                <a:cs typeface="Arial MT"/>
              </a:rPr>
              <a:t>1</a:t>
            </a:r>
            <a:r>
              <a:rPr sz="1800" spc="10" dirty="0">
                <a:latin typeface="Arial MT"/>
                <a:cs typeface="Arial MT"/>
              </a:rPr>
              <a:t>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A0)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995"/>
              </a:lnSpc>
              <a:spcBef>
                <a:spcPts val="580"/>
              </a:spcBef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10" dirty="0">
                <a:latin typeface="Arial MT"/>
                <a:cs typeface="Arial MT"/>
              </a:rPr>
              <a:t>1</a:t>
            </a:r>
            <a:r>
              <a:rPr sz="1800" spc="1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A0)*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995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B0)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975"/>
              </a:lnSpc>
              <a:spcBef>
                <a:spcPts val="919"/>
              </a:spcBef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B0)*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750"/>
              </a:lnSpc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A1)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770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A1)*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770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B1)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770"/>
              </a:lnSpc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1,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B1)*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770"/>
              </a:lnSpc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A2)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785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1,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A2)*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785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B2)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750"/>
              </a:lnSpc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B2)*</a:t>
            </a:r>
            <a:endParaRPr sz="1800" dirty="0">
              <a:latin typeface="Arial MT"/>
              <a:cs typeface="Arial MT"/>
            </a:endParaRPr>
          </a:p>
          <a:p>
            <a:pPr marL="1414145">
              <a:lnSpc>
                <a:spcPts val="1750"/>
              </a:lnSpc>
            </a:pPr>
            <a:r>
              <a:rPr sz="1800" spc="15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A3)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ts val="1935"/>
              </a:lnSpc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gets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0,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A3)*</a:t>
            </a:r>
            <a:endParaRPr sz="1800" dirty="0">
              <a:latin typeface="Arial MT"/>
              <a:cs typeface="Arial MT"/>
            </a:endParaRPr>
          </a:p>
          <a:p>
            <a:pPr marL="4471035">
              <a:lnSpc>
                <a:spcPct val="100000"/>
              </a:lnSpc>
              <a:spcBef>
                <a:spcPts val="5"/>
              </a:spcBef>
            </a:pPr>
            <a:r>
              <a:rPr sz="1800" spc="15" dirty="0">
                <a:latin typeface="Arial MT"/>
                <a:cs typeface="Arial MT"/>
              </a:rPr>
              <a:t>B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sends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(1,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1,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B3)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800" spc="10" dirty="0">
                <a:latin typeface="Arial MT"/>
                <a:cs typeface="Arial MT"/>
              </a:rPr>
              <a:t>Time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FB1F7E-FA82-DFE7-58F2-18D13F9D12D7}"/>
              </a:ext>
            </a:extLst>
          </p:cNvPr>
          <p:cNvSpPr txBox="1"/>
          <p:nvPr/>
        </p:nvSpPr>
        <p:spPr>
          <a:xfrm>
            <a:off x="1765782" y="7026483"/>
            <a:ext cx="7229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An asterisk indicates where a network layer accepts a packet.</a:t>
            </a: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91080"/>
            <a:ext cx="9214485" cy="61491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95"/>
              </a:spcBef>
            </a:pPr>
            <a:r>
              <a:rPr spc="-5" dirty="0"/>
              <a:t>One-Bit </a:t>
            </a:r>
            <a:r>
              <a:rPr spc="-10" dirty="0"/>
              <a:t>Sliding </a:t>
            </a:r>
            <a:r>
              <a:rPr spc="-15" dirty="0"/>
              <a:t>Window </a:t>
            </a:r>
            <a:r>
              <a:rPr spc="-1055" dirty="0"/>
              <a:t> </a:t>
            </a:r>
            <a:r>
              <a:rPr spc="-5" dirty="0"/>
              <a:t>Degenerate</a:t>
            </a:r>
            <a:r>
              <a:rPr spc="-45" dirty="0"/>
              <a:t> </a:t>
            </a:r>
            <a:r>
              <a:rPr spc="-5" dirty="0"/>
              <a:t>Case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43</a:t>
            </a:fld>
            <a:r>
              <a:rPr spc="10" dirty="0"/>
              <a:t>/69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19600" y="5430380"/>
            <a:ext cx="1721485" cy="312420"/>
            <a:chOff x="4747691" y="6119342"/>
            <a:chExt cx="1721485" cy="312420"/>
          </a:xfrm>
        </p:grpSpPr>
        <p:sp>
          <p:nvSpPr>
            <p:cNvPr id="4" name="object 4"/>
            <p:cNvSpPr/>
            <p:nvPr/>
          </p:nvSpPr>
          <p:spPr>
            <a:xfrm>
              <a:off x="4754803" y="6126454"/>
              <a:ext cx="1706880" cy="284480"/>
            </a:xfrm>
            <a:custGeom>
              <a:avLst/>
              <a:gdLst/>
              <a:ahLst/>
              <a:cxnLst/>
              <a:rect l="l" t="t" r="r" b="b"/>
              <a:pathLst>
                <a:path w="1706879" h="284479">
                  <a:moveTo>
                    <a:pt x="0" y="0"/>
                  </a:moveTo>
                  <a:lnTo>
                    <a:pt x="1706816" y="284467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9954" y="6305194"/>
              <a:ext cx="248436" cy="12611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348481" y="2372322"/>
            <a:ext cx="1792605" cy="2646045"/>
            <a:chOff x="4676572" y="3061284"/>
            <a:chExt cx="1792605" cy="2646045"/>
          </a:xfrm>
        </p:grpSpPr>
        <p:sp>
          <p:nvSpPr>
            <p:cNvPr id="7" name="object 7"/>
            <p:cNvSpPr/>
            <p:nvPr/>
          </p:nvSpPr>
          <p:spPr>
            <a:xfrm>
              <a:off x="4683684" y="4419638"/>
              <a:ext cx="1778000" cy="1280160"/>
            </a:xfrm>
            <a:custGeom>
              <a:avLst/>
              <a:gdLst/>
              <a:ahLst/>
              <a:cxnLst/>
              <a:rect l="l" t="t" r="r" b="b"/>
              <a:pathLst>
                <a:path w="1778000" h="1280160">
                  <a:moveTo>
                    <a:pt x="1777936" y="0"/>
                  </a:moveTo>
                  <a:lnTo>
                    <a:pt x="0" y="1280109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1222" y="5495404"/>
              <a:ext cx="231380" cy="1934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754804" y="4704105"/>
              <a:ext cx="1706880" cy="568960"/>
            </a:xfrm>
            <a:custGeom>
              <a:avLst/>
              <a:gdLst/>
              <a:ahLst/>
              <a:cxnLst/>
              <a:rect l="l" t="t" r="r" b="b"/>
              <a:pathLst>
                <a:path w="1706879" h="568960">
                  <a:moveTo>
                    <a:pt x="0" y="0"/>
                  </a:moveTo>
                  <a:lnTo>
                    <a:pt x="1706816" y="568934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90907" y="5130330"/>
              <a:ext cx="248436" cy="14034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83684" y="3068396"/>
              <a:ext cx="1778000" cy="1422400"/>
            </a:xfrm>
            <a:custGeom>
              <a:avLst/>
              <a:gdLst/>
              <a:ahLst/>
              <a:cxnLst/>
              <a:rect l="l" t="t" r="r" b="b"/>
              <a:pathLst>
                <a:path w="1778000" h="1422400">
                  <a:moveTo>
                    <a:pt x="1777936" y="0"/>
                  </a:moveTo>
                  <a:lnTo>
                    <a:pt x="0" y="1422349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0283" y="4277868"/>
              <a:ext cx="226630" cy="2010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54804" y="3281756"/>
              <a:ext cx="1706880" cy="853440"/>
            </a:xfrm>
            <a:custGeom>
              <a:avLst/>
              <a:gdLst/>
              <a:ahLst/>
              <a:cxnLst/>
              <a:rect l="l" t="t" r="r" b="b"/>
              <a:pathLst>
                <a:path w="1706879" h="853439">
                  <a:moveTo>
                    <a:pt x="0" y="0"/>
                  </a:moveTo>
                  <a:lnTo>
                    <a:pt x="1706816" y="853401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7537" y="3962108"/>
              <a:ext cx="243699" cy="16689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419600" y="1447800"/>
            <a:ext cx="1721485" cy="868044"/>
            <a:chOff x="4747691" y="2136762"/>
            <a:chExt cx="1721485" cy="868044"/>
          </a:xfrm>
        </p:grpSpPr>
        <p:sp>
          <p:nvSpPr>
            <p:cNvPr id="16" name="object 16"/>
            <p:cNvSpPr/>
            <p:nvPr/>
          </p:nvSpPr>
          <p:spPr>
            <a:xfrm>
              <a:off x="4754803" y="2214994"/>
              <a:ext cx="1706880" cy="782320"/>
            </a:xfrm>
            <a:custGeom>
              <a:avLst/>
              <a:gdLst/>
              <a:ahLst/>
              <a:cxnLst/>
              <a:rect l="l" t="t" r="r" b="b"/>
              <a:pathLst>
                <a:path w="1706879" h="782319">
                  <a:moveTo>
                    <a:pt x="1706816" y="0"/>
                  </a:moveTo>
                  <a:lnTo>
                    <a:pt x="0" y="782294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75187" y="2830868"/>
              <a:ext cx="244652" cy="1612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54803" y="2143874"/>
              <a:ext cx="1706880" cy="568960"/>
            </a:xfrm>
            <a:custGeom>
              <a:avLst/>
              <a:gdLst/>
              <a:ahLst/>
              <a:cxnLst/>
              <a:rect l="l" t="t" r="r" b="b"/>
              <a:pathLst>
                <a:path w="1706879" h="568960">
                  <a:moveTo>
                    <a:pt x="0" y="0"/>
                  </a:moveTo>
                  <a:lnTo>
                    <a:pt x="1706816" y="568934"/>
                  </a:lnTo>
                </a:path>
              </a:pathLst>
            </a:custGeom>
            <a:ln w="142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0907" y="2570099"/>
              <a:ext cx="248436" cy="14034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263069" y="1328426"/>
            <a:ext cx="2159635" cy="505971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</a:t>
            </a:r>
            <a:r>
              <a:rPr sz="2000" b="1" spc="5" dirty="0">
                <a:highlight>
                  <a:srgbClr val="FFFF00"/>
                </a:highlight>
                <a:latin typeface="Arial"/>
                <a:cs typeface="Arial"/>
              </a:rPr>
              <a:t>,</a:t>
            </a:r>
            <a:r>
              <a:rPr sz="2000" b="1" spc="-1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FFFF00"/>
                </a:highlight>
                <a:latin typeface="Arial"/>
                <a:cs typeface="Arial"/>
              </a:rPr>
              <a:t>B0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320"/>
              </a:lnSpc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A0)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*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2320"/>
              </a:lnSpc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FFFF00"/>
                </a:highlight>
                <a:latin typeface="Arial"/>
                <a:cs typeface="Arial"/>
              </a:rPr>
              <a:t>B0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A0)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B1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A1)*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,</a:t>
            </a:r>
            <a:r>
              <a:rPr sz="2000" b="1" spc="-15" dirty="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B1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A1)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10" dirty="0">
                <a:latin typeface="Arial"/>
                <a:cs typeface="Arial"/>
              </a:rPr>
              <a:t>B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B2)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0476" y="1257308"/>
            <a:ext cx="2159635" cy="157158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FFFF00"/>
                </a:highlight>
                <a:latin typeface="Arial"/>
                <a:cs typeface="Arial"/>
              </a:rPr>
              <a:t>A0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2320"/>
              </a:lnSpc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B0)*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2320"/>
              </a:lnSpc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FFFF00"/>
                </a:highlight>
                <a:latin typeface="Arial"/>
                <a:cs typeface="Arial"/>
              </a:rPr>
              <a:t>A0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0476" y="3604185"/>
            <a:ext cx="2159635" cy="19306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20"/>
              </a:lnSpc>
              <a:spcBef>
                <a:spcPts val="114"/>
              </a:spcBef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(0,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B0)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2320"/>
              </a:lnSpc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A1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gets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0,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B1)*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10" dirty="0">
                <a:latin typeface="Arial"/>
                <a:cs typeface="Arial"/>
              </a:rPr>
              <a:t>A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sends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(1,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1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,</a:t>
            </a:r>
            <a:r>
              <a:rPr sz="2000" b="1" spc="-15" dirty="0">
                <a:highlight>
                  <a:srgbClr val="00FFFF"/>
                </a:highlight>
                <a:latin typeface="Arial"/>
                <a:cs typeface="Arial"/>
              </a:rPr>
              <a:t> </a:t>
            </a:r>
            <a:r>
              <a:rPr sz="2000" b="1" spc="5" dirty="0">
                <a:highlight>
                  <a:srgbClr val="00FFFF"/>
                </a:highlight>
                <a:latin typeface="Arial"/>
                <a:cs typeface="Arial"/>
              </a:rPr>
              <a:t>A1</a:t>
            </a:r>
            <a:r>
              <a:rPr sz="2000" b="1" spc="5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A3C51A-1178-4AF8-D722-FD982858B8F1}"/>
              </a:ext>
            </a:extLst>
          </p:cNvPr>
          <p:cNvSpPr txBox="1"/>
          <p:nvPr/>
        </p:nvSpPr>
        <p:spPr>
          <a:xfrm>
            <a:off x="999553" y="6838076"/>
            <a:ext cx="8824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Times-Roman"/>
              </a:rPr>
              <a:t>H</a:t>
            </a:r>
            <a:r>
              <a:rPr lang="en-US" sz="1800" b="0" i="0" u="none" strike="noStrike" baseline="0" dirty="0">
                <a:latin typeface="Times-Roman"/>
              </a:rPr>
              <a:t>alf of the frames contain </a:t>
            </a:r>
            <a:r>
              <a:rPr lang="en-US" sz="1800" b="0" i="0" u="none" strike="noStrike" baseline="0" dirty="0">
                <a:highlight>
                  <a:srgbClr val="FFFF00"/>
                </a:highlight>
                <a:latin typeface="Times-Roman"/>
              </a:rPr>
              <a:t>duplicates</a:t>
            </a:r>
            <a:r>
              <a:rPr lang="en-US" sz="1800" b="0" i="0" u="none" strike="noStrike" baseline="0" dirty="0">
                <a:latin typeface="Times-Roman"/>
              </a:rPr>
              <a:t>, even though there are no transmission errors.</a:t>
            </a: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213995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Pipelining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44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854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55901" y="250150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16049" y="33122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5901" y="372832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55901" y="4145902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5901" y="456195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70023" y="1831273"/>
            <a:ext cx="7602220" cy="29762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Want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avoid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stalls</a:t>
            </a:r>
            <a:r>
              <a:rPr sz="2650" spc="-3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transmission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550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in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one-bit</a:t>
            </a:r>
            <a:r>
              <a:rPr sz="2200" spc="3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sliding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006699"/>
                </a:solidFill>
                <a:latin typeface="Arial MT"/>
                <a:cs typeface="Arial MT"/>
              </a:rPr>
              <a:t>window,</a:t>
            </a:r>
            <a:r>
              <a:rPr sz="2200" spc="3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we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wait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full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round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trip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between</a:t>
            </a:r>
            <a:endParaRPr sz="2200" dirty="0">
              <a:latin typeface="Arial MT"/>
              <a:cs typeface="Arial MT"/>
            </a:endParaRPr>
          </a:p>
          <a:p>
            <a:pPr marL="352425">
              <a:lnSpc>
                <a:spcPts val="2560"/>
              </a:lnSpc>
              <a:spcBef>
                <a:spcPts val="815"/>
              </a:spcBef>
            </a:pP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packet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sends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Make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sender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window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large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when:</a:t>
            </a:r>
            <a:endParaRPr sz="265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545"/>
              </a:spcBef>
            </a:pP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bandwidth</a:t>
            </a:r>
            <a:r>
              <a:rPr sz="2200" spc="2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high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or</a:t>
            </a:r>
            <a:endParaRPr sz="2200" dirty="0">
              <a:latin typeface="Arial MT"/>
              <a:cs typeface="Arial MT"/>
            </a:endParaRPr>
          </a:p>
          <a:p>
            <a:pPr marL="352425" marR="3718560">
              <a:lnSpc>
                <a:spcPct val="124100"/>
              </a:lnSpc>
              <a:spcBef>
                <a:spcPts val="10"/>
              </a:spcBef>
              <a:tabLst>
                <a:tab pos="2043430" algn="l"/>
              </a:tabLst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the round-trip time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high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bandwidth</a:t>
            </a:r>
            <a:r>
              <a:rPr lang="en-US" sz="2200" spc="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lang="en-US" sz="2200" spc="5" dirty="0">
                <a:solidFill>
                  <a:schemeClr val="accent2">
                    <a:lumMod val="75000"/>
                  </a:schemeClr>
                </a:solidFill>
                <a:latin typeface="Arial MT"/>
                <a:cs typeface="Arial MT"/>
              </a:rPr>
              <a:t>x</a:t>
            </a:r>
            <a:r>
              <a:rPr lang="en-US" sz="2200" spc="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round-trip</a:t>
            </a:r>
            <a:r>
              <a:rPr sz="2200" spc="-1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time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16049" y="493381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70023" y="4757186"/>
            <a:ext cx="2500033" cy="4238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line</a:t>
            </a:r>
            <a:r>
              <a:rPr sz="2650" spc="-10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utilization</a:t>
            </a:r>
            <a:r>
              <a:rPr lang="en-US" sz="2650" spc="5" dirty="0">
                <a:solidFill>
                  <a:srgbClr val="9B0707"/>
                </a:solidFill>
                <a:latin typeface="Arial MT"/>
                <a:cs typeface="Arial MT"/>
              </a:rPr>
              <a:t> =</a:t>
            </a:r>
            <a:endParaRPr sz="2650" dirty="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0858" y="4889652"/>
            <a:ext cx="249936" cy="25298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470056" y="4719396"/>
            <a:ext cx="1702144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2440" algn="l"/>
                <a:tab pos="995044" algn="l"/>
              </a:tabLst>
            </a:pPr>
            <a:r>
              <a:rPr lang="en-US"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l /(</a:t>
            </a:r>
            <a:r>
              <a:rPr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l	</a:t>
            </a:r>
            <a:r>
              <a:rPr sz="2950" i="1" spc="10" dirty="0" err="1">
                <a:solidFill>
                  <a:srgbClr val="9B0707"/>
                </a:solidFill>
                <a:latin typeface="Times New Roman"/>
                <a:cs typeface="Times New Roman"/>
              </a:rPr>
              <a:t>bR</a:t>
            </a:r>
            <a:r>
              <a:rPr lang="en-US" sz="2950" i="1" spc="10" dirty="0">
                <a:solidFill>
                  <a:srgbClr val="9B0707"/>
                </a:solidFill>
                <a:latin typeface="Times New Roman"/>
                <a:cs typeface="Times New Roman"/>
              </a:rPr>
              <a:t>)</a:t>
            </a:r>
            <a:endParaRPr sz="295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55901" y="535138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55901" y="5767438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5901" y="618349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16049" y="652029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70023" y="5161775"/>
            <a:ext cx="5956935" cy="16230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430"/>
              </a:spcBef>
            </a:pPr>
            <a:r>
              <a:rPr sz="2450" i="1" spc="5" dirty="0">
                <a:solidFill>
                  <a:srgbClr val="006699"/>
                </a:solidFill>
                <a:latin typeface="Times New Roman"/>
                <a:cs typeface="Times New Roman"/>
              </a:rPr>
              <a:t>l</a:t>
            </a:r>
            <a:r>
              <a:rPr sz="2450" i="1" spc="110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frame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size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(in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bits)</a:t>
            </a:r>
            <a:endParaRPr sz="2200" dirty="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335"/>
              </a:spcBef>
            </a:pPr>
            <a:r>
              <a:rPr sz="2450" i="1" spc="10" dirty="0">
                <a:solidFill>
                  <a:srgbClr val="006699"/>
                </a:solidFill>
                <a:latin typeface="Times New Roman"/>
                <a:cs typeface="Times New Roman"/>
              </a:rPr>
              <a:t>b</a:t>
            </a:r>
            <a:r>
              <a:rPr sz="2450" i="1" spc="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the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channel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capacity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(in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bits/sec)</a:t>
            </a:r>
            <a:endParaRPr sz="2200" dirty="0">
              <a:latin typeface="Arial MT"/>
              <a:cs typeface="Arial MT"/>
            </a:endParaRPr>
          </a:p>
          <a:p>
            <a:pPr marL="352425">
              <a:lnSpc>
                <a:spcPts val="2545"/>
              </a:lnSpc>
              <a:spcBef>
                <a:spcPts val="335"/>
              </a:spcBef>
            </a:pPr>
            <a:r>
              <a:rPr sz="2450" i="1" spc="15" dirty="0">
                <a:solidFill>
                  <a:srgbClr val="006699"/>
                </a:solidFill>
                <a:latin typeface="Times New Roman"/>
                <a:cs typeface="Times New Roman"/>
              </a:rPr>
              <a:t>R</a:t>
            </a:r>
            <a:r>
              <a:rPr sz="2450" i="1" spc="5" dirty="0">
                <a:solidFill>
                  <a:srgbClr val="006699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is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the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round-trip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time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(in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sec)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ts val="3145"/>
              </a:lnSpc>
              <a:tabLst>
                <a:tab pos="880110" algn="l"/>
              </a:tabLst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If </a:t>
            </a:r>
            <a:r>
              <a:rPr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l</a:t>
            </a:r>
            <a:r>
              <a:rPr lang="en-US"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&lt;</a:t>
            </a:r>
            <a:r>
              <a:rPr sz="2950" i="1" spc="10" dirty="0" err="1">
                <a:solidFill>
                  <a:srgbClr val="9B0707"/>
                </a:solidFill>
                <a:latin typeface="Times New Roman"/>
                <a:cs typeface="Times New Roman"/>
              </a:rPr>
              <a:t>bR</a:t>
            </a:r>
            <a:r>
              <a:rPr sz="2950" i="1" spc="5" dirty="0">
                <a:solidFill>
                  <a:srgbClr val="9B0707"/>
                </a:solidFill>
                <a:latin typeface="Times New Roman"/>
                <a:cs typeface="Times New Roman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the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efficiency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is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less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than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50%</a:t>
            </a:r>
            <a:endParaRPr sz="2650" dirty="0">
              <a:latin typeface="Arial MT"/>
              <a:cs typeface="Arial M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CA1E86-9498-5912-2808-709C13AD7AA1}"/>
              </a:ext>
            </a:extLst>
          </p:cNvPr>
          <p:cNvSpPr txBox="1"/>
          <p:nvPr/>
        </p:nvSpPr>
        <p:spPr>
          <a:xfrm>
            <a:off x="1934635" y="1024447"/>
            <a:ext cx="760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-Roman"/>
              </a:rPr>
              <a:t>The technique of keeping multiple frames in flight is an example of </a:t>
            </a:r>
            <a:r>
              <a:rPr lang="en-US" sz="1800" b="1" i="0" u="none" strike="noStrike" baseline="0" dirty="0">
                <a:latin typeface="Times-Bold"/>
              </a:rPr>
              <a:t>pipelining</a:t>
            </a:r>
            <a:r>
              <a:rPr lang="en-US" sz="1800" b="0" i="0" u="none" strike="noStrike" baseline="0" dirty="0">
                <a:latin typeface="Times-Roman"/>
              </a:rPr>
              <a:t>.</a:t>
            </a: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414" y="3091464"/>
            <a:ext cx="437116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5" dirty="0"/>
              <a:t>Receiver</a:t>
            </a:r>
            <a:r>
              <a:rPr sz="2800" spc="-30" dirty="0"/>
              <a:t> </a:t>
            </a:r>
            <a:r>
              <a:rPr sz="2800" spc="-15" dirty="0"/>
              <a:t>Window </a:t>
            </a:r>
            <a:r>
              <a:rPr sz="2800" spc="-20" dirty="0"/>
              <a:t>Size</a:t>
            </a:r>
            <a:r>
              <a:rPr sz="2800" dirty="0"/>
              <a:t> </a:t>
            </a:r>
            <a:r>
              <a:rPr sz="2800" spc="-5" dirty="0"/>
              <a:t>is</a:t>
            </a:r>
            <a:r>
              <a:rPr sz="2800" spc="-10" dirty="0"/>
              <a:t> </a:t>
            </a:r>
            <a:r>
              <a:rPr sz="2800" spc="-5" dirty="0">
                <a:highlight>
                  <a:srgbClr val="FFFF00"/>
                </a:highlight>
              </a:rPr>
              <a:t>One</a:t>
            </a:r>
          </a:p>
        </p:txBody>
      </p:sp>
      <p:sp>
        <p:nvSpPr>
          <p:cNvPr id="153" name="object 1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45</a:t>
            </a:fld>
            <a:r>
              <a:rPr spc="10" dirty="0"/>
              <a:t>/69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E1D1DE6-F0DE-4E95-60A6-9231FB5E4C39}"/>
              </a:ext>
            </a:extLst>
          </p:cNvPr>
          <p:cNvGrpSpPr/>
          <p:nvPr/>
        </p:nvGrpSpPr>
        <p:grpSpPr>
          <a:xfrm>
            <a:off x="1524000" y="3657600"/>
            <a:ext cx="7590942" cy="2756599"/>
            <a:chOff x="1935048" y="2077648"/>
            <a:chExt cx="7590942" cy="2756599"/>
          </a:xfrm>
        </p:grpSpPr>
        <p:sp>
          <p:nvSpPr>
            <p:cNvPr id="3" name="object 3"/>
            <p:cNvSpPr txBox="1"/>
            <p:nvPr/>
          </p:nvSpPr>
          <p:spPr>
            <a:xfrm>
              <a:off x="1935048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239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0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2366391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5905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1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619260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3025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0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3050603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59690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1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6484188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81915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2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915518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1755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3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7346860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2390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4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7778229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3025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5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8209572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3660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6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8640902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85090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7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9072245" y="3691826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3970" rIns="0" bIns="0" rtlCol="0">
              <a:spAutoFit/>
            </a:bodyPr>
            <a:lstStyle/>
            <a:p>
              <a:pPr marL="74930">
                <a:lnSpc>
                  <a:spcPct val="100000"/>
                </a:lnSpc>
                <a:spcBef>
                  <a:spcPts val="110"/>
                </a:spcBef>
              </a:pPr>
              <a:r>
                <a:rPr sz="1300" spc="15" dirty="0">
                  <a:latin typeface="Arial MT"/>
                  <a:cs typeface="Arial MT"/>
                </a:rPr>
                <a:t>8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2797746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6667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2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229089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429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3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3660431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493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4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4091775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556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5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23130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620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6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954473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6985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7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385816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366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8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817286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6032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2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6248615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6794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3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6679958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556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4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7111327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620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5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7542669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6835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6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7974000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747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7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8405342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112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8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8836711" y="2459113"/>
              <a:ext cx="253365" cy="253365"/>
            </a:xfrm>
            <a:prstGeom prst="rect">
              <a:avLst/>
            </a:prstGeom>
            <a:ln w="10535">
              <a:solidFill>
                <a:srgbClr val="000000"/>
              </a:solidFill>
            </a:ln>
          </p:spPr>
          <p:txBody>
            <a:bodyPr vert="horz" wrap="square" lIns="0" tIns="17145" rIns="0" bIns="0" rtlCol="0">
              <a:spAutoFit/>
            </a:bodyPr>
            <a:lstStyle/>
            <a:p>
              <a:pPr marL="74930">
                <a:lnSpc>
                  <a:spcPct val="100000"/>
                </a:lnSpc>
                <a:spcBef>
                  <a:spcPts val="135"/>
                </a:spcBef>
              </a:pPr>
              <a:r>
                <a:rPr sz="1300" spc="15" dirty="0">
                  <a:latin typeface="Arial MT"/>
                  <a:cs typeface="Arial MT"/>
                </a:rPr>
                <a:t>9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29" name="object 29"/>
            <p:cNvGrpSpPr/>
            <p:nvPr/>
          </p:nvGrpSpPr>
          <p:grpSpPr>
            <a:xfrm>
              <a:off x="5562269" y="4705616"/>
              <a:ext cx="727710" cy="58419"/>
              <a:chOff x="5562269" y="4705616"/>
              <a:chExt cx="727710" cy="58419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5562269" y="4734928"/>
                <a:ext cx="678815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8814">
                    <a:moveTo>
                      <a:pt x="678802" y="0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6181026" y="4705616"/>
                <a:ext cx="109220" cy="58419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58420">
                    <a:moveTo>
                      <a:pt x="108877" y="30162"/>
                    </a:moveTo>
                    <a:lnTo>
                      <a:pt x="508" y="0"/>
                    </a:lnTo>
                    <a:lnTo>
                      <a:pt x="0" y="58204"/>
                    </a:lnTo>
                    <a:lnTo>
                      <a:pt x="108877" y="3016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6187846" y="4734877"/>
                <a:ext cx="58419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635">
                    <a:moveTo>
                      <a:pt x="-5267" y="260"/>
                    </a:moveTo>
                    <a:lnTo>
                      <a:pt x="63472" y="260"/>
                    </a:lnTo>
                  </a:path>
                </a:pathLst>
              </a:custGeom>
              <a:ln w="1105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3" name="object 33"/>
            <p:cNvGrpSpPr/>
            <p:nvPr/>
          </p:nvGrpSpPr>
          <p:grpSpPr>
            <a:xfrm>
              <a:off x="3368957" y="3920147"/>
              <a:ext cx="234315" cy="267335"/>
              <a:chOff x="3368957" y="3920147"/>
              <a:chExt cx="234315" cy="267335"/>
            </a:xfrm>
          </p:grpSpPr>
          <p:sp>
            <p:nvSpPr>
              <p:cNvPr id="34" name="object 34"/>
              <p:cNvSpPr/>
              <p:nvPr/>
            </p:nvSpPr>
            <p:spPr>
              <a:xfrm>
                <a:off x="3374225" y="3956418"/>
                <a:ext cx="196850" cy="226060"/>
              </a:xfrm>
              <a:custGeom>
                <a:avLst/>
                <a:gdLst/>
                <a:ahLst/>
                <a:cxnLst/>
                <a:rect l="l" t="t" r="r" b="b"/>
                <a:pathLst>
                  <a:path w="196850" h="226060">
                    <a:moveTo>
                      <a:pt x="196316" y="0"/>
                    </a:moveTo>
                    <a:lnTo>
                      <a:pt x="0" y="225526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3509340" y="3920147"/>
                <a:ext cx="9398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93979" h="100964">
                    <a:moveTo>
                      <a:pt x="93903" y="0"/>
                    </a:moveTo>
                    <a:lnTo>
                      <a:pt x="0" y="61925"/>
                    </a:lnTo>
                    <a:lnTo>
                      <a:pt x="43586" y="100545"/>
                    </a:lnTo>
                    <a:lnTo>
                      <a:pt x="93903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3535565" y="3952963"/>
                <a:ext cx="38735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38735" h="43814">
                    <a:moveTo>
                      <a:pt x="0" y="43561"/>
                    </a:moveTo>
                    <a:lnTo>
                      <a:pt x="38595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7" name="object 37"/>
            <p:cNvGrpSpPr/>
            <p:nvPr/>
          </p:nvGrpSpPr>
          <p:grpSpPr>
            <a:xfrm>
              <a:off x="2055622" y="2706751"/>
              <a:ext cx="7138034" cy="998855"/>
              <a:chOff x="2055622" y="2706751"/>
              <a:chExt cx="7138034" cy="998855"/>
            </a:xfrm>
          </p:grpSpPr>
          <p:sp>
            <p:nvSpPr>
              <p:cNvPr id="38" name="object 38"/>
              <p:cNvSpPr/>
              <p:nvPr/>
            </p:nvSpPr>
            <p:spPr>
              <a:xfrm>
                <a:off x="2064194" y="2715361"/>
                <a:ext cx="636270" cy="932180"/>
              </a:xfrm>
              <a:custGeom>
                <a:avLst/>
                <a:gdLst/>
                <a:ahLst/>
                <a:cxnLst/>
                <a:rect l="l" t="t" r="r" b="b"/>
                <a:pathLst>
                  <a:path w="636269" h="932179">
                    <a:moveTo>
                      <a:pt x="635698" y="931583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2642235" y="3581184"/>
                <a:ext cx="8509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089" h="106679">
                    <a:moveTo>
                      <a:pt x="84543" y="106514"/>
                    </a:moveTo>
                    <a:lnTo>
                      <a:pt x="48374" y="0"/>
                    </a:lnTo>
                    <a:lnTo>
                      <a:pt x="0" y="32385"/>
                    </a:lnTo>
                    <a:lnTo>
                      <a:pt x="84543" y="10651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2669997" y="3602901"/>
                <a:ext cx="32384" cy="48895"/>
              </a:xfrm>
              <a:custGeom>
                <a:avLst/>
                <a:gdLst/>
                <a:ahLst/>
                <a:cxnLst/>
                <a:rect l="l" t="t" r="r" b="b"/>
                <a:pathLst>
                  <a:path w="32385" h="48895">
                    <a:moveTo>
                      <a:pt x="0" y="0"/>
                    </a:moveTo>
                    <a:lnTo>
                      <a:pt x="32372" y="48348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485682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3072295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3099955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19" h="48260">
                    <a:moveTo>
                      <a:pt x="0" y="0"/>
                    </a:moveTo>
                    <a:lnTo>
                      <a:pt x="32842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2727236" y="2758376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4" h="938529">
                    <a:moveTo>
                      <a:pt x="602500" y="0"/>
                    </a:moveTo>
                    <a:lnTo>
                      <a:pt x="0" y="938276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3273018" y="2716885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48" y="0"/>
                    </a:moveTo>
                    <a:lnTo>
                      <a:pt x="0" y="76441"/>
                    </a:lnTo>
                    <a:lnTo>
                      <a:pt x="49250" y="107480"/>
                    </a:lnTo>
                    <a:lnTo>
                      <a:pt x="824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3301072" y="2753995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4" h="49530">
                    <a:moveTo>
                      <a:pt x="0" y="49225"/>
                    </a:moveTo>
                    <a:lnTo>
                      <a:pt x="31013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3494366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3522027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2907766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3494366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3522027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3358819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3945432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29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29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3973067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3780904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4367491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4395139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4216311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4802886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4830546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4638370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5224970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5252643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5082882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5669458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69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5697131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5504954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60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6091555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6119215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5946825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6533413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6561074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6368897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6955498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6983158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42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6801548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63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7388148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7415783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7220902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7807490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69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7835163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7677454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88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8264055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69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8291728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8094510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75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8681110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87"/>
              <p:cNvSpPr/>
              <p:nvPr/>
            </p:nvSpPr>
            <p:spPr>
              <a:xfrm>
                <a:off x="8708758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54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8"/>
              <p:cNvSpPr/>
              <p:nvPr/>
            </p:nvSpPr>
            <p:spPr>
              <a:xfrm>
                <a:off x="8521636" y="2715323"/>
                <a:ext cx="645160" cy="925830"/>
              </a:xfrm>
              <a:custGeom>
                <a:avLst/>
                <a:gdLst/>
                <a:ahLst/>
                <a:cxnLst/>
                <a:rect l="l" t="t" r="r" b="b"/>
                <a:pathLst>
                  <a:path w="645159" h="925829">
                    <a:moveTo>
                      <a:pt x="644588" y="925474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89"/>
              <p:cNvSpPr/>
              <p:nvPr/>
            </p:nvSpPr>
            <p:spPr>
              <a:xfrm>
                <a:off x="9108262" y="3575138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44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9135909" y="3597046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42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91" name="object 91"/>
            <p:cNvGrpSpPr/>
            <p:nvPr/>
          </p:nvGrpSpPr>
          <p:grpSpPr>
            <a:xfrm>
              <a:off x="3046592" y="2081593"/>
              <a:ext cx="776605" cy="327025"/>
              <a:chOff x="3046592" y="2081593"/>
              <a:chExt cx="776605" cy="327025"/>
            </a:xfrm>
          </p:grpSpPr>
          <p:sp>
            <p:nvSpPr>
              <p:cNvPr id="92" name="object 92"/>
              <p:cNvSpPr/>
              <p:nvPr/>
            </p:nvSpPr>
            <p:spPr>
              <a:xfrm>
                <a:off x="3111195" y="2206434"/>
                <a:ext cx="706755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635">
                    <a:moveTo>
                      <a:pt x="0" y="152"/>
                    </a:moveTo>
                    <a:lnTo>
                      <a:pt x="706259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93"/>
              <p:cNvSpPr/>
              <p:nvPr/>
            </p:nvSpPr>
            <p:spPr>
              <a:xfrm>
                <a:off x="3062389" y="2177186"/>
                <a:ext cx="109220" cy="58419"/>
              </a:xfrm>
              <a:custGeom>
                <a:avLst/>
                <a:gdLst/>
                <a:ahLst/>
                <a:cxnLst/>
                <a:rect l="l" t="t" r="r" b="b"/>
                <a:pathLst>
                  <a:path w="109219" h="58419">
                    <a:moveTo>
                      <a:pt x="108877" y="58229"/>
                    </a:moveTo>
                    <a:lnTo>
                      <a:pt x="108356" y="0"/>
                    </a:lnTo>
                    <a:lnTo>
                      <a:pt x="0" y="30175"/>
                    </a:lnTo>
                    <a:lnTo>
                      <a:pt x="108877" y="5822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94"/>
              <p:cNvSpPr/>
              <p:nvPr/>
            </p:nvSpPr>
            <p:spPr>
              <a:xfrm>
                <a:off x="3106242" y="2206485"/>
                <a:ext cx="58419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58419" h="635">
                    <a:moveTo>
                      <a:pt x="-5267" y="254"/>
                    </a:moveTo>
                    <a:lnTo>
                      <a:pt x="63446" y="254"/>
                    </a:lnTo>
                  </a:path>
                </a:pathLst>
              </a:custGeom>
              <a:ln w="1104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95"/>
              <p:cNvSpPr/>
              <p:nvPr/>
            </p:nvSpPr>
            <p:spPr>
              <a:xfrm>
                <a:off x="3051860" y="2081593"/>
                <a:ext cx="0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h="327025">
                    <a:moveTo>
                      <a:pt x="0" y="326605"/>
                    </a:moveTo>
                    <a:lnTo>
                      <a:pt x="0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96" name="object 96"/>
            <p:cNvGrpSpPr/>
            <p:nvPr/>
          </p:nvGrpSpPr>
          <p:grpSpPr>
            <a:xfrm>
              <a:off x="5078272" y="2081593"/>
              <a:ext cx="746125" cy="327025"/>
              <a:chOff x="5078272" y="2081593"/>
              <a:chExt cx="746125" cy="327025"/>
            </a:xfrm>
          </p:grpSpPr>
          <p:sp>
            <p:nvSpPr>
              <p:cNvPr id="97" name="object 97"/>
              <p:cNvSpPr/>
              <p:nvPr/>
            </p:nvSpPr>
            <p:spPr>
              <a:xfrm>
                <a:off x="5078272" y="2206523"/>
                <a:ext cx="6794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79450">
                    <a:moveTo>
                      <a:pt x="678827" y="0"/>
                    </a:moveTo>
                    <a:lnTo>
                      <a:pt x="0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98"/>
              <p:cNvSpPr/>
              <p:nvPr/>
            </p:nvSpPr>
            <p:spPr>
              <a:xfrm>
                <a:off x="5697029" y="2177186"/>
                <a:ext cx="109220" cy="58419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58419">
                    <a:moveTo>
                      <a:pt x="108877" y="30175"/>
                    </a:moveTo>
                    <a:lnTo>
                      <a:pt x="520" y="0"/>
                    </a:lnTo>
                    <a:lnTo>
                      <a:pt x="0" y="58229"/>
                    </a:lnTo>
                    <a:lnTo>
                      <a:pt x="108877" y="301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5703875" y="2206485"/>
                <a:ext cx="58419" cy="63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635">
                    <a:moveTo>
                      <a:pt x="-5267" y="254"/>
                    </a:moveTo>
                    <a:lnTo>
                      <a:pt x="63446" y="254"/>
                    </a:lnTo>
                  </a:path>
                </a:pathLst>
              </a:custGeom>
              <a:ln w="1104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100"/>
              <p:cNvSpPr/>
              <p:nvPr/>
            </p:nvSpPr>
            <p:spPr>
              <a:xfrm>
                <a:off x="5818860" y="2081593"/>
                <a:ext cx="0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h="327025">
                    <a:moveTo>
                      <a:pt x="0" y="326605"/>
                    </a:moveTo>
                    <a:lnTo>
                      <a:pt x="0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1" name="object 101"/>
            <p:cNvSpPr txBox="1"/>
            <p:nvPr/>
          </p:nvSpPr>
          <p:spPr>
            <a:xfrm>
              <a:off x="3823347" y="2077648"/>
              <a:ext cx="1224915" cy="2279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300" spc="10" dirty="0">
                  <a:latin typeface="Arial MT"/>
                  <a:cs typeface="Arial MT"/>
                </a:rPr>
                <a:t>Timeout</a:t>
              </a:r>
              <a:r>
                <a:rPr sz="1300" spc="-45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interval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02" name="object 102"/>
            <p:cNvSpPr txBox="1"/>
            <p:nvPr/>
          </p:nvSpPr>
          <p:spPr>
            <a:xfrm>
              <a:off x="3041523" y="4132170"/>
              <a:ext cx="400050" cy="2279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300" spc="10" dirty="0">
                  <a:latin typeface="Arial MT"/>
                  <a:cs typeface="Arial MT"/>
                </a:rPr>
                <a:t>Error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03" name="object 103"/>
            <p:cNvSpPr txBox="1"/>
            <p:nvPr/>
          </p:nvSpPr>
          <p:spPr>
            <a:xfrm>
              <a:off x="3565937" y="3689656"/>
              <a:ext cx="2929890" cy="67056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  <a:tabLst>
                  <a:tab pos="425450" algn="l"/>
                  <a:tab pos="882015" algn="l"/>
                  <a:tab pos="1299845" algn="l"/>
                  <a:tab pos="1732280" algn="l"/>
                  <a:tab pos="2188845" algn="l"/>
                  <a:tab pos="2606675" algn="l"/>
                </a:tabLst>
              </a:pPr>
              <a:r>
                <a:rPr sz="1300" spc="15" dirty="0">
                  <a:latin typeface="Arial MT"/>
                  <a:cs typeface="Arial MT"/>
                </a:rPr>
                <a:t>E	D	D	D	D	D	D</a:t>
              </a:r>
              <a:endParaRPr sz="1300" dirty="0">
                <a:latin typeface="Arial MT"/>
                <a:cs typeface="Arial MT"/>
              </a:endParaRPr>
            </a:p>
            <a:p>
              <a:pPr>
                <a:lnSpc>
                  <a:spcPct val="100000"/>
                </a:lnSpc>
                <a:spcBef>
                  <a:spcPts val="25"/>
                </a:spcBef>
              </a:pPr>
              <a:endParaRPr sz="1650" dirty="0">
                <a:latin typeface="Arial MT"/>
                <a:cs typeface="Arial MT"/>
              </a:endParaRPr>
            </a:p>
            <a:p>
              <a:pPr marL="255270">
                <a:lnSpc>
                  <a:spcPct val="100000"/>
                </a:lnSpc>
                <a:spcBef>
                  <a:spcPts val="5"/>
                </a:spcBef>
              </a:pPr>
              <a:r>
                <a:rPr sz="1300" spc="15" dirty="0">
                  <a:latin typeface="Arial MT"/>
                  <a:cs typeface="Arial MT"/>
                </a:rPr>
                <a:t>Frames</a:t>
              </a:r>
              <a:r>
                <a:rPr sz="1300" spc="-5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discarded</a:t>
              </a:r>
              <a:r>
                <a:rPr sz="1300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by</a:t>
              </a:r>
              <a:r>
                <a:rPr sz="1300" spc="-5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data</a:t>
              </a:r>
              <a:r>
                <a:rPr sz="1300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link</a:t>
              </a:r>
              <a:r>
                <a:rPr sz="1300" dirty="0">
                  <a:latin typeface="Arial MT"/>
                  <a:cs typeface="Arial MT"/>
                </a:rPr>
                <a:t> </a:t>
              </a:r>
              <a:r>
                <a:rPr sz="1300" spc="10" dirty="0">
                  <a:latin typeface="Arial MT"/>
                  <a:cs typeface="Arial MT"/>
                </a:rPr>
                <a:t>layer</a:t>
              </a:r>
              <a:endParaRPr sz="1300" dirty="0">
                <a:latin typeface="Arial MT"/>
                <a:cs typeface="Arial MT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03144" y="2937065"/>
              <a:ext cx="405130" cy="498475"/>
            </a:xfrm>
            <a:custGeom>
              <a:avLst/>
              <a:gdLst/>
              <a:ahLst/>
              <a:cxnLst/>
              <a:rect l="l" t="t" r="r" b="b"/>
              <a:pathLst>
                <a:path w="405130" h="498475">
                  <a:moveTo>
                    <a:pt x="404837" y="91592"/>
                  </a:moveTo>
                  <a:lnTo>
                    <a:pt x="263309" y="0"/>
                  </a:lnTo>
                  <a:lnTo>
                    <a:pt x="0" y="406895"/>
                  </a:lnTo>
                  <a:lnTo>
                    <a:pt x="141528" y="498475"/>
                  </a:lnTo>
                  <a:lnTo>
                    <a:pt x="404837" y="91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 txBox="1"/>
            <p:nvPr/>
          </p:nvSpPr>
          <p:spPr>
            <a:xfrm rot="18180000">
              <a:off x="2684253" y="3102011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0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06" name="object 106"/>
            <p:cNvGrpSpPr/>
            <p:nvPr/>
          </p:nvGrpSpPr>
          <p:grpSpPr>
            <a:xfrm>
              <a:off x="3136430" y="2714739"/>
              <a:ext cx="651510" cy="988694"/>
              <a:chOff x="3136430" y="2714739"/>
              <a:chExt cx="651510" cy="988694"/>
            </a:xfrm>
          </p:grpSpPr>
          <p:sp>
            <p:nvSpPr>
              <p:cNvPr id="107" name="object 107"/>
              <p:cNvSpPr/>
              <p:nvPr/>
            </p:nvSpPr>
            <p:spPr>
              <a:xfrm>
                <a:off x="3136430" y="2937065"/>
                <a:ext cx="405130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405129" h="498475">
                    <a:moveTo>
                      <a:pt x="404837" y="91592"/>
                    </a:moveTo>
                    <a:lnTo>
                      <a:pt x="263309" y="0"/>
                    </a:lnTo>
                    <a:lnTo>
                      <a:pt x="0" y="406895"/>
                    </a:lnTo>
                    <a:lnTo>
                      <a:pt x="141528" y="498475"/>
                    </a:lnTo>
                    <a:lnTo>
                      <a:pt x="404837" y="915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108"/>
              <p:cNvSpPr/>
              <p:nvPr/>
            </p:nvSpPr>
            <p:spPr>
              <a:xfrm>
                <a:off x="3159315" y="2756204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4" h="938529">
                    <a:moveTo>
                      <a:pt x="602475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9" name="object 109"/>
              <p:cNvSpPr/>
              <p:nvPr/>
            </p:nvSpPr>
            <p:spPr>
              <a:xfrm>
                <a:off x="3705059" y="2714739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61" y="0"/>
                    </a:moveTo>
                    <a:lnTo>
                      <a:pt x="0" y="76441"/>
                    </a:lnTo>
                    <a:lnTo>
                      <a:pt x="49263" y="107467"/>
                    </a:lnTo>
                    <a:lnTo>
                      <a:pt x="8246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0" name="object 110"/>
              <p:cNvSpPr/>
              <p:nvPr/>
            </p:nvSpPr>
            <p:spPr>
              <a:xfrm>
                <a:off x="3733114" y="2751823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4" h="49530">
                    <a:moveTo>
                      <a:pt x="0" y="49237"/>
                    </a:moveTo>
                    <a:lnTo>
                      <a:pt x="31013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1" name="object 111"/>
            <p:cNvSpPr txBox="1"/>
            <p:nvPr/>
          </p:nvSpPr>
          <p:spPr>
            <a:xfrm rot="18180000">
              <a:off x="3117539" y="3102011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1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31602" y="4020947"/>
              <a:ext cx="2423795" cy="92710"/>
            </a:xfrm>
            <a:custGeom>
              <a:avLst/>
              <a:gdLst/>
              <a:ahLst/>
              <a:cxnLst/>
              <a:rect l="l" t="t" r="r" b="b"/>
              <a:pathLst>
                <a:path w="2423795" h="92710">
                  <a:moveTo>
                    <a:pt x="0" y="0"/>
                  </a:moveTo>
                  <a:lnTo>
                    <a:pt x="3728" y="18259"/>
                  </a:lnTo>
                  <a:lnTo>
                    <a:pt x="13893" y="32896"/>
                  </a:lnTo>
                  <a:lnTo>
                    <a:pt x="28964" y="42623"/>
                  </a:lnTo>
                  <a:lnTo>
                    <a:pt x="47409" y="46151"/>
                  </a:lnTo>
                  <a:lnTo>
                    <a:pt x="1165974" y="46151"/>
                  </a:lnTo>
                  <a:lnTo>
                    <a:pt x="1184429" y="49682"/>
                  </a:lnTo>
                  <a:lnTo>
                    <a:pt x="1199499" y="59413"/>
                  </a:lnTo>
                  <a:lnTo>
                    <a:pt x="1209658" y="74055"/>
                  </a:lnTo>
                  <a:lnTo>
                    <a:pt x="1213383" y="92316"/>
                  </a:lnTo>
                  <a:lnTo>
                    <a:pt x="1217110" y="74055"/>
                  </a:lnTo>
                  <a:lnTo>
                    <a:pt x="1227272" y="59413"/>
                  </a:lnTo>
                  <a:lnTo>
                    <a:pt x="1242342" y="49682"/>
                  </a:lnTo>
                  <a:lnTo>
                    <a:pt x="1260792" y="46151"/>
                  </a:lnTo>
                  <a:lnTo>
                    <a:pt x="2375852" y="46151"/>
                  </a:lnTo>
                  <a:lnTo>
                    <a:pt x="2394302" y="42623"/>
                  </a:lnTo>
                  <a:lnTo>
                    <a:pt x="2409372" y="32896"/>
                  </a:lnTo>
                  <a:lnTo>
                    <a:pt x="2419534" y="18259"/>
                  </a:lnTo>
                  <a:lnTo>
                    <a:pt x="2423261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 txBox="1"/>
            <p:nvPr/>
          </p:nvSpPr>
          <p:spPr>
            <a:xfrm>
              <a:off x="5089956" y="4606282"/>
              <a:ext cx="400050" cy="22796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300" spc="15" dirty="0">
                  <a:latin typeface="Arial MT"/>
                  <a:cs typeface="Arial MT"/>
                </a:rPr>
                <a:t>Time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14" name="object 114"/>
            <p:cNvGrpSpPr/>
            <p:nvPr/>
          </p:nvGrpSpPr>
          <p:grpSpPr>
            <a:xfrm>
              <a:off x="6592290" y="2699461"/>
              <a:ext cx="2933700" cy="996315"/>
              <a:chOff x="6592290" y="2699461"/>
              <a:chExt cx="2933700" cy="996315"/>
            </a:xfrm>
          </p:grpSpPr>
          <p:sp>
            <p:nvSpPr>
              <p:cNvPr id="115" name="object 115"/>
              <p:cNvSpPr/>
              <p:nvPr/>
            </p:nvSpPr>
            <p:spPr>
              <a:xfrm>
                <a:off x="8956814" y="2708033"/>
                <a:ext cx="553720" cy="885190"/>
              </a:xfrm>
              <a:custGeom>
                <a:avLst/>
                <a:gdLst/>
                <a:ahLst/>
                <a:cxnLst/>
                <a:rect l="l" t="t" r="r" b="b"/>
                <a:pathLst>
                  <a:path w="553720" h="885189">
                    <a:moveTo>
                      <a:pt x="553110" y="885012"/>
                    </a:moveTo>
                    <a:lnTo>
                      <a:pt x="0" y="0"/>
                    </a:lnTo>
                  </a:path>
                </a:pathLst>
              </a:custGeom>
              <a:ln w="1685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6" name="object 116"/>
              <p:cNvSpPr/>
              <p:nvPr/>
            </p:nvSpPr>
            <p:spPr>
              <a:xfrm>
                <a:off x="9440481" y="3497821"/>
                <a:ext cx="85725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06679">
                    <a:moveTo>
                      <a:pt x="85255" y="106159"/>
                    </a:moveTo>
                    <a:lnTo>
                      <a:pt x="48056" y="0"/>
                    </a:lnTo>
                    <a:lnTo>
                      <a:pt x="0" y="32854"/>
                    </a:lnTo>
                    <a:lnTo>
                      <a:pt x="85255" y="1061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7" name="object 117"/>
              <p:cNvSpPr/>
              <p:nvPr/>
            </p:nvSpPr>
            <p:spPr>
              <a:xfrm>
                <a:off x="9468142" y="3519741"/>
                <a:ext cx="33020" cy="48260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48260">
                    <a:moveTo>
                      <a:pt x="0" y="0"/>
                    </a:moveTo>
                    <a:lnTo>
                      <a:pt x="32829" y="48044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8" name="object 118"/>
              <p:cNvSpPr/>
              <p:nvPr/>
            </p:nvSpPr>
            <p:spPr>
              <a:xfrm>
                <a:off x="6659968" y="3176879"/>
                <a:ext cx="200660" cy="216535"/>
              </a:xfrm>
              <a:custGeom>
                <a:avLst/>
                <a:gdLst/>
                <a:ahLst/>
                <a:cxnLst/>
                <a:rect l="l" t="t" r="r" b="b"/>
                <a:pathLst>
                  <a:path w="200659" h="216535">
                    <a:moveTo>
                      <a:pt x="200182" y="215986"/>
                    </a:moveTo>
                    <a:lnTo>
                      <a:pt x="200182" y="0"/>
                    </a:lnTo>
                    <a:lnTo>
                      <a:pt x="0" y="0"/>
                    </a:lnTo>
                    <a:lnTo>
                      <a:pt x="0" y="215986"/>
                    </a:lnTo>
                    <a:lnTo>
                      <a:pt x="200182" y="21598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9" name="object 119"/>
              <p:cNvSpPr/>
              <p:nvPr/>
            </p:nvSpPr>
            <p:spPr>
              <a:xfrm>
                <a:off x="6600863" y="2748508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0" name="object 120"/>
              <p:cNvSpPr/>
              <p:nvPr/>
            </p:nvSpPr>
            <p:spPr>
              <a:xfrm>
                <a:off x="7146594" y="2707017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61" y="0"/>
                    </a:moveTo>
                    <a:lnTo>
                      <a:pt x="0" y="76454"/>
                    </a:lnTo>
                    <a:lnTo>
                      <a:pt x="49263" y="107492"/>
                    </a:lnTo>
                    <a:lnTo>
                      <a:pt x="8246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1" name="object 121"/>
              <p:cNvSpPr/>
              <p:nvPr/>
            </p:nvSpPr>
            <p:spPr>
              <a:xfrm>
                <a:off x="7174661" y="2744127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50"/>
                    </a:moveTo>
                    <a:lnTo>
                      <a:pt x="31026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2" name="object 122"/>
            <p:cNvSpPr txBox="1"/>
            <p:nvPr/>
          </p:nvSpPr>
          <p:spPr>
            <a:xfrm rot="18180000">
              <a:off x="6559074" y="3094330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2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23" name="object 123"/>
            <p:cNvGrpSpPr/>
            <p:nvPr/>
          </p:nvGrpSpPr>
          <p:grpSpPr>
            <a:xfrm>
              <a:off x="7034796" y="2712288"/>
              <a:ext cx="636905" cy="988694"/>
              <a:chOff x="7034796" y="2712288"/>
              <a:chExt cx="636905" cy="988694"/>
            </a:xfrm>
          </p:grpSpPr>
          <p:sp>
            <p:nvSpPr>
              <p:cNvPr id="124" name="object 124"/>
              <p:cNvSpPr/>
              <p:nvPr/>
            </p:nvSpPr>
            <p:spPr>
              <a:xfrm>
                <a:off x="7091934" y="3192678"/>
                <a:ext cx="153035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153034" h="153035">
                    <a:moveTo>
                      <a:pt x="152770" y="152770"/>
                    </a:moveTo>
                    <a:lnTo>
                      <a:pt x="152770" y="0"/>
                    </a:lnTo>
                    <a:lnTo>
                      <a:pt x="0" y="0"/>
                    </a:lnTo>
                    <a:lnTo>
                      <a:pt x="0" y="152770"/>
                    </a:lnTo>
                    <a:lnTo>
                      <a:pt x="152770" y="1527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5" name="object 125"/>
              <p:cNvSpPr/>
              <p:nvPr/>
            </p:nvSpPr>
            <p:spPr>
              <a:xfrm>
                <a:off x="7043369" y="2753779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6" name="object 126"/>
              <p:cNvSpPr/>
              <p:nvPr/>
            </p:nvSpPr>
            <p:spPr>
              <a:xfrm>
                <a:off x="7589101" y="2712288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61" y="0"/>
                    </a:moveTo>
                    <a:lnTo>
                      <a:pt x="0" y="76454"/>
                    </a:lnTo>
                    <a:lnTo>
                      <a:pt x="49276" y="107492"/>
                    </a:lnTo>
                    <a:lnTo>
                      <a:pt x="8246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7" name="object 127"/>
              <p:cNvSpPr/>
              <p:nvPr/>
            </p:nvSpPr>
            <p:spPr>
              <a:xfrm>
                <a:off x="7617168" y="2749397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50"/>
                    </a:moveTo>
                    <a:lnTo>
                      <a:pt x="31026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8" name="object 128"/>
            <p:cNvSpPr txBox="1"/>
            <p:nvPr/>
          </p:nvSpPr>
          <p:spPr>
            <a:xfrm rot="18180000">
              <a:off x="7001581" y="3099600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3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29" name="object 129"/>
            <p:cNvGrpSpPr/>
            <p:nvPr/>
          </p:nvGrpSpPr>
          <p:grpSpPr>
            <a:xfrm>
              <a:off x="7472032" y="2707017"/>
              <a:ext cx="1042669" cy="993775"/>
              <a:chOff x="7472032" y="2707017"/>
              <a:chExt cx="1042669" cy="993775"/>
            </a:xfrm>
          </p:grpSpPr>
          <p:sp>
            <p:nvSpPr>
              <p:cNvPr id="130" name="object 130"/>
              <p:cNvSpPr/>
              <p:nvPr/>
            </p:nvSpPr>
            <p:spPr>
              <a:xfrm>
                <a:off x="7529182" y="3200590"/>
                <a:ext cx="153035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153034" h="153035">
                    <a:moveTo>
                      <a:pt x="152770" y="152770"/>
                    </a:moveTo>
                    <a:lnTo>
                      <a:pt x="152770" y="0"/>
                    </a:lnTo>
                    <a:lnTo>
                      <a:pt x="0" y="0"/>
                    </a:lnTo>
                    <a:lnTo>
                      <a:pt x="0" y="152770"/>
                    </a:lnTo>
                    <a:lnTo>
                      <a:pt x="152770" y="1527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1" name="object 131"/>
              <p:cNvSpPr/>
              <p:nvPr/>
            </p:nvSpPr>
            <p:spPr>
              <a:xfrm>
                <a:off x="7480604" y="2748508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2" name="object 132"/>
              <p:cNvSpPr/>
              <p:nvPr/>
            </p:nvSpPr>
            <p:spPr>
              <a:xfrm>
                <a:off x="8026349" y="2707017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48" y="0"/>
                    </a:moveTo>
                    <a:lnTo>
                      <a:pt x="0" y="76454"/>
                    </a:lnTo>
                    <a:lnTo>
                      <a:pt x="49263" y="107492"/>
                    </a:lnTo>
                    <a:lnTo>
                      <a:pt x="824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3" name="object 133"/>
              <p:cNvSpPr/>
              <p:nvPr/>
            </p:nvSpPr>
            <p:spPr>
              <a:xfrm>
                <a:off x="8054416" y="2744127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50"/>
                    </a:moveTo>
                    <a:lnTo>
                      <a:pt x="31013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4" name="object 134"/>
              <p:cNvSpPr/>
              <p:nvPr/>
            </p:nvSpPr>
            <p:spPr>
              <a:xfrm>
                <a:off x="7966417" y="3147910"/>
                <a:ext cx="153035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153034" h="153035">
                    <a:moveTo>
                      <a:pt x="152770" y="152770"/>
                    </a:moveTo>
                    <a:lnTo>
                      <a:pt x="152770" y="0"/>
                    </a:lnTo>
                    <a:lnTo>
                      <a:pt x="0" y="0"/>
                    </a:lnTo>
                    <a:lnTo>
                      <a:pt x="0" y="152770"/>
                    </a:lnTo>
                    <a:lnTo>
                      <a:pt x="152770" y="1527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5" name="object 135"/>
              <p:cNvSpPr/>
              <p:nvPr/>
            </p:nvSpPr>
            <p:spPr>
              <a:xfrm>
                <a:off x="7886242" y="2753779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6" name="object 136"/>
              <p:cNvSpPr/>
              <p:nvPr/>
            </p:nvSpPr>
            <p:spPr>
              <a:xfrm>
                <a:off x="8431974" y="2712288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61" y="0"/>
                    </a:moveTo>
                    <a:lnTo>
                      <a:pt x="0" y="76454"/>
                    </a:lnTo>
                    <a:lnTo>
                      <a:pt x="49276" y="107492"/>
                    </a:lnTo>
                    <a:lnTo>
                      <a:pt x="8246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7" name="object 137"/>
              <p:cNvSpPr/>
              <p:nvPr/>
            </p:nvSpPr>
            <p:spPr>
              <a:xfrm>
                <a:off x="8460041" y="2749397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50"/>
                    </a:moveTo>
                    <a:lnTo>
                      <a:pt x="31026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38" name="object 138"/>
            <p:cNvSpPr txBox="1"/>
            <p:nvPr/>
          </p:nvSpPr>
          <p:spPr>
            <a:xfrm rot="18180000">
              <a:off x="7438829" y="3094330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4</a:t>
              </a:r>
              <a:endParaRPr sz="1300">
                <a:latin typeface="Arial MT"/>
                <a:cs typeface="Arial MT"/>
              </a:endParaRPr>
            </a:p>
          </p:txBody>
        </p:sp>
        <p:sp>
          <p:nvSpPr>
            <p:cNvPr id="139" name="object 139"/>
            <p:cNvSpPr txBox="1"/>
            <p:nvPr/>
          </p:nvSpPr>
          <p:spPr>
            <a:xfrm rot="18180000">
              <a:off x="7844454" y="3099600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5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40" name="object 140"/>
            <p:cNvGrpSpPr/>
            <p:nvPr/>
          </p:nvGrpSpPr>
          <p:grpSpPr>
            <a:xfrm>
              <a:off x="8341245" y="2722829"/>
              <a:ext cx="636905" cy="988694"/>
              <a:chOff x="8341245" y="2722829"/>
              <a:chExt cx="636905" cy="988694"/>
            </a:xfrm>
          </p:grpSpPr>
          <p:sp>
            <p:nvSpPr>
              <p:cNvPr id="141" name="object 141"/>
              <p:cNvSpPr/>
              <p:nvPr/>
            </p:nvSpPr>
            <p:spPr>
              <a:xfrm>
                <a:off x="8403653" y="3190049"/>
                <a:ext cx="153035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153034" h="153035">
                    <a:moveTo>
                      <a:pt x="152770" y="152770"/>
                    </a:moveTo>
                    <a:lnTo>
                      <a:pt x="152770" y="0"/>
                    </a:lnTo>
                    <a:lnTo>
                      <a:pt x="0" y="0"/>
                    </a:lnTo>
                    <a:lnTo>
                      <a:pt x="0" y="152770"/>
                    </a:lnTo>
                    <a:lnTo>
                      <a:pt x="152770" y="1527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2" name="object 142"/>
              <p:cNvSpPr/>
              <p:nvPr/>
            </p:nvSpPr>
            <p:spPr>
              <a:xfrm>
                <a:off x="8349818" y="2764320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3" name="object 143"/>
              <p:cNvSpPr/>
              <p:nvPr/>
            </p:nvSpPr>
            <p:spPr>
              <a:xfrm>
                <a:off x="8895562" y="2722829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48" y="0"/>
                    </a:moveTo>
                    <a:lnTo>
                      <a:pt x="0" y="76441"/>
                    </a:lnTo>
                    <a:lnTo>
                      <a:pt x="49263" y="107480"/>
                    </a:lnTo>
                    <a:lnTo>
                      <a:pt x="824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4" name="object 144"/>
              <p:cNvSpPr/>
              <p:nvPr/>
            </p:nvSpPr>
            <p:spPr>
              <a:xfrm>
                <a:off x="8923629" y="2759938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37"/>
                    </a:moveTo>
                    <a:lnTo>
                      <a:pt x="31013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5" name="object 145"/>
            <p:cNvSpPr txBox="1"/>
            <p:nvPr/>
          </p:nvSpPr>
          <p:spPr>
            <a:xfrm rot="18180000">
              <a:off x="8308043" y="3110128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6</a:t>
              </a:r>
              <a:endParaRPr sz="1300">
                <a:latin typeface="Arial MT"/>
                <a:cs typeface="Arial MT"/>
              </a:endParaRPr>
            </a:p>
          </p:txBody>
        </p:sp>
        <p:grpSp>
          <p:nvGrpSpPr>
            <p:cNvPr id="146" name="object 146"/>
            <p:cNvGrpSpPr/>
            <p:nvPr/>
          </p:nvGrpSpPr>
          <p:grpSpPr>
            <a:xfrm>
              <a:off x="8789165" y="2701759"/>
              <a:ext cx="636905" cy="988694"/>
              <a:chOff x="8789165" y="2701759"/>
              <a:chExt cx="636905" cy="988694"/>
            </a:xfrm>
          </p:grpSpPr>
          <p:sp>
            <p:nvSpPr>
              <p:cNvPr id="147" name="object 147"/>
              <p:cNvSpPr/>
              <p:nvPr/>
            </p:nvSpPr>
            <p:spPr>
              <a:xfrm>
                <a:off x="8830360" y="3205848"/>
                <a:ext cx="153035" cy="153035"/>
              </a:xfrm>
              <a:custGeom>
                <a:avLst/>
                <a:gdLst/>
                <a:ahLst/>
                <a:cxnLst/>
                <a:rect l="l" t="t" r="r" b="b"/>
                <a:pathLst>
                  <a:path w="153034" h="153035">
                    <a:moveTo>
                      <a:pt x="152770" y="152770"/>
                    </a:moveTo>
                    <a:lnTo>
                      <a:pt x="152770" y="0"/>
                    </a:lnTo>
                    <a:lnTo>
                      <a:pt x="0" y="0"/>
                    </a:lnTo>
                    <a:lnTo>
                      <a:pt x="0" y="152770"/>
                    </a:lnTo>
                    <a:lnTo>
                      <a:pt x="152770" y="1527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8" name="object 148"/>
              <p:cNvSpPr/>
              <p:nvPr/>
            </p:nvSpPr>
            <p:spPr>
              <a:xfrm>
                <a:off x="8797594" y="2743250"/>
                <a:ext cx="602615" cy="938530"/>
              </a:xfrm>
              <a:custGeom>
                <a:avLst/>
                <a:gdLst/>
                <a:ahLst/>
                <a:cxnLst/>
                <a:rect l="l" t="t" r="r" b="b"/>
                <a:pathLst>
                  <a:path w="602615" h="938529">
                    <a:moveTo>
                      <a:pt x="602462" y="0"/>
                    </a:moveTo>
                    <a:lnTo>
                      <a:pt x="0" y="938237"/>
                    </a:lnTo>
                  </a:path>
                </a:pathLst>
              </a:custGeom>
              <a:ln w="16857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9" name="object 149"/>
              <p:cNvSpPr/>
              <p:nvPr/>
            </p:nvSpPr>
            <p:spPr>
              <a:xfrm>
                <a:off x="9343338" y="2701759"/>
                <a:ext cx="825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07950">
                    <a:moveTo>
                      <a:pt x="82448" y="0"/>
                    </a:moveTo>
                    <a:lnTo>
                      <a:pt x="0" y="76441"/>
                    </a:lnTo>
                    <a:lnTo>
                      <a:pt x="49263" y="107480"/>
                    </a:lnTo>
                    <a:lnTo>
                      <a:pt x="824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" name="object 150"/>
              <p:cNvSpPr/>
              <p:nvPr/>
            </p:nvSpPr>
            <p:spPr>
              <a:xfrm>
                <a:off x="9371405" y="2738856"/>
                <a:ext cx="31115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31115" h="49530">
                    <a:moveTo>
                      <a:pt x="0" y="49250"/>
                    </a:moveTo>
                    <a:lnTo>
                      <a:pt x="31013" y="0"/>
                    </a:lnTo>
                  </a:path>
                </a:pathLst>
              </a:custGeom>
              <a:ln w="1053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1" name="object 151"/>
            <p:cNvSpPr txBox="1"/>
            <p:nvPr/>
          </p:nvSpPr>
          <p:spPr>
            <a:xfrm rot="18180000">
              <a:off x="8755819" y="3089059"/>
              <a:ext cx="454804" cy="1682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325"/>
                </a:lnSpc>
              </a:pPr>
              <a:r>
                <a:rPr sz="1300" spc="15" dirty="0">
                  <a:latin typeface="Arial MT"/>
                  <a:cs typeface="Arial MT"/>
                </a:rPr>
                <a:t>Ack</a:t>
              </a:r>
              <a:r>
                <a:rPr sz="1300" spc="5" dirty="0">
                  <a:latin typeface="Arial MT"/>
                  <a:cs typeface="Arial MT"/>
                </a:rPr>
                <a:t> </a:t>
              </a:r>
              <a:r>
                <a:rPr sz="1300" spc="15" dirty="0">
                  <a:latin typeface="Arial MT"/>
                  <a:cs typeface="Arial MT"/>
                </a:rPr>
                <a:t>7</a:t>
              </a:r>
              <a:endParaRPr sz="1300">
                <a:latin typeface="Arial MT"/>
                <a:cs typeface="Arial MT"/>
              </a:endParaRPr>
            </a:p>
          </p:txBody>
        </p:sp>
      </p:grpSp>
      <p:sp>
        <p:nvSpPr>
          <p:cNvPr id="152" name="object 152"/>
          <p:cNvSpPr txBox="1"/>
          <p:nvPr/>
        </p:nvSpPr>
        <p:spPr>
          <a:xfrm>
            <a:off x="1371600" y="6605388"/>
            <a:ext cx="298323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Leads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Go-back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950" i="1" spc="10" dirty="0">
                <a:solidFill>
                  <a:srgbClr val="9B0707"/>
                </a:solidFill>
                <a:latin typeface="Times New Roman"/>
                <a:cs typeface="Times New Roman"/>
              </a:rPr>
              <a:t>n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C9FD652-F4D9-1F8E-4DC3-E6ABCC71125E}"/>
              </a:ext>
            </a:extLst>
          </p:cNvPr>
          <p:cNvSpPr txBox="1"/>
          <p:nvPr/>
        </p:nvSpPr>
        <p:spPr>
          <a:xfrm>
            <a:off x="762007" y="521456"/>
            <a:ext cx="92201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Times-Roman"/>
              </a:rPr>
              <a:t>Pipelining frames over an unreliable communication channel raises some serious issues.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-Roman"/>
              </a:rPr>
              <a:t>First, what happens if a frame in the middle of a long stream is damaged or lost?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-Roman"/>
              </a:rPr>
              <a:t>Large numbers of succeeding frames will arrive at the receiver before the sender even finds out that anything is wrong.</a:t>
            </a:r>
            <a:endParaRPr lang="en-US" sz="2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46889E9-A49D-113C-0433-36373A284C7B}"/>
              </a:ext>
            </a:extLst>
          </p:cNvPr>
          <p:cNvSpPr txBox="1"/>
          <p:nvPr/>
        </p:nvSpPr>
        <p:spPr>
          <a:xfrm>
            <a:off x="380506" y="3815557"/>
            <a:ext cx="461665" cy="18625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vert270" wrap="square" rtlCol="0">
            <a:spAutoFit/>
          </a:bodyPr>
          <a:lstStyle/>
          <a:p>
            <a:r>
              <a:rPr lang="en-US" dirty="0"/>
              <a:t>Dealing with Error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601599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Receiver’s</a:t>
            </a:r>
            <a:r>
              <a:rPr spc="-35" dirty="0"/>
              <a:t> </a:t>
            </a:r>
            <a:r>
              <a:rPr spc="-15" dirty="0"/>
              <a:t>Window</a:t>
            </a:r>
            <a:r>
              <a:rPr spc="-25" dirty="0"/>
              <a:t>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spc="-5" dirty="0"/>
              <a:t>Large</a:t>
            </a:r>
          </a:p>
        </p:txBody>
      </p:sp>
      <p:sp>
        <p:nvSpPr>
          <p:cNvPr id="182" name="object 18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46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8169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9525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2382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83725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8640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9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0008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1337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42681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4024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05366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14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9059" y="3910268"/>
            <a:ext cx="138430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highlight>
                  <a:srgbClr val="00FFFF"/>
                </a:highlight>
                <a:latin typeface="Arial MT"/>
                <a:cs typeface="Arial MT"/>
              </a:rPr>
              <a:t>E</a:t>
            </a:r>
            <a:endParaRPr sz="1300" dirty="0">
              <a:highlight>
                <a:srgbClr val="00FFFF"/>
              </a:highlight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0868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2210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3553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4896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6252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7594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18950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50394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8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1737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9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3105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44436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75778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07121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38489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69819" y="2679725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35"/>
              </a:spcBef>
            </a:pPr>
            <a:r>
              <a:rPr sz="1300" spc="15" dirty="0">
                <a:latin typeface="Arial MT"/>
                <a:cs typeface="Arial MT"/>
              </a:rPr>
              <a:t>15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17297" y="3912438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8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402078" y="4140746"/>
            <a:ext cx="234315" cy="267335"/>
            <a:chOff x="3402078" y="4140746"/>
            <a:chExt cx="234315" cy="267335"/>
          </a:xfrm>
        </p:grpSpPr>
        <p:sp>
          <p:nvSpPr>
            <p:cNvPr id="31" name="object 31"/>
            <p:cNvSpPr/>
            <p:nvPr/>
          </p:nvSpPr>
          <p:spPr>
            <a:xfrm>
              <a:off x="3407346" y="4177017"/>
              <a:ext cx="196850" cy="226060"/>
            </a:xfrm>
            <a:custGeom>
              <a:avLst/>
              <a:gdLst/>
              <a:ahLst/>
              <a:cxnLst/>
              <a:rect l="l" t="t" r="r" b="b"/>
              <a:pathLst>
                <a:path w="196850" h="226060">
                  <a:moveTo>
                    <a:pt x="196316" y="0"/>
                  </a:moveTo>
                  <a:lnTo>
                    <a:pt x="0" y="22552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42462" y="4140746"/>
              <a:ext cx="93980" cy="100965"/>
            </a:xfrm>
            <a:custGeom>
              <a:avLst/>
              <a:gdLst/>
              <a:ahLst/>
              <a:cxnLst/>
              <a:rect l="l" t="t" r="r" b="b"/>
              <a:pathLst>
                <a:path w="93979" h="100964">
                  <a:moveTo>
                    <a:pt x="93903" y="0"/>
                  </a:moveTo>
                  <a:lnTo>
                    <a:pt x="0" y="61937"/>
                  </a:lnTo>
                  <a:lnTo>
                    <a:pt x="43573" y="100545"/>
                  </a:lnTo>
                  <a:lnTo>
                    <a:pt x="939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68687" y="4173562"/>
              <a:ext cx="38735" cy="43815"/>
            </a:xfrm>
            <a:custGeom>
              <a:avLst/>
              <a:gdLst/>
              <a:ahLst/>
              <a:cxnLst/>
              <a:rect l="l" t="t" r="r" b="b"/>
              <a:pathLst>
                <a:path w="38735" h="43814">
                  <a:moveTo>
                    <a:pt x="0" y="43561"/>
                  </a:moveTo>
                  <a:lnTo>
                    <a:pt x="38595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088743" y="2927350"/>
            <a:ext cx="7313930" cy="998855"/>
            <a:chOff x="2088743" y="2927350"/>
            <a:chExt cx="7313930" cy="998855"/>
          </a:xfrm>
        </p:grpSpPr>
        <p:sp>
          <p:nvSpPr>
            <p:cNvPr id="35" name="object 35"/>
            <p:cNvSpPr/>
            <p:nvPr/>
          </p:nvSpPr>
          <p:spPr>
            <a:xfrm>
              <a:off x="2097316" y="2935960"/>
              <a:ext cx="636270" cy="932180"/>
            </a:xfrm>
            <a:custGeom>
              <a:avLst/>
              <a:gdLst/>
              <a:ahLst/>
              <a:cxnLst/>
              <a:rect l="l" t="t" r="r" b="b"/>
              <a:pathLst>
                <a:path w="636269" h="932179">
                  <a:moveTo>
                    <a:pt x="635698" y="931595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75356" y="3801783"/>
              <a:ext cx="85090" cy="106680"/>
            </a:xfrm>
            <a:custGeom>
              <a:avLst/>
              <a:gdLst/>
              <a:ahLst/>
              <a:cxnLst/>
              <a:rect l="l" t="t" r="r" b="b"/>
              <a:pathLst>
                <a:path w="85089" h="106679">
                  <a:moveTo>
                    <a:pt x="84543" y="106514"/>
                  </a:moveTo>
                  <a:lnTo>
                    <a:pt x="48374" y="0"/>
                  </a:lnTo>
                  <a:lnTo>
                    <a:pt x="0" y="32385"/>
                  </a:lnTo>
                  <a:lnTo>
                    <a:pt x="84543" y="106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03118" y="3823512"/>
              <a:ext cx="32384" cy="48895"/>
            </a:xfrm>
            <a:custGeom>
              <a:avLst/>
              <a:gdLst/>
              <a:ahLst/>
              <a:cxnLst/>
              <a:rect l="l" t="t" r="r" b="b"/>
              <a:pathLst>
                <a:path w="32385" h="48895">
                  <a:moveTo>
                    <a:pt x="0" y="0"/>
                  </a:moveTo>
                  <a:lnTo>
                    <a:pt x="32372" y="4833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18816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05416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56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33077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19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60370" y="2978975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88" y="0"/>
                  </a:moveTo>
                  <a:lnTo>
                    <a:pt x="0" y="938276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06140" y="2937484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48" y="0"/>
                  </a:moveTo>
                  <a:lnTo>
                    <a:pt x="0" y="76441"/>
                  </a:lnTo>
                  <a:lnTo>
                    <a:pt x="49250" y="107480"/>
                  </a:lnTo>
                  <a:lnTo>
                    <a:pt x="82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34194" y="2974594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37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27488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56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55149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40888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75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27488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56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55149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91941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75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78541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06202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29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14013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75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00613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28261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249420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75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836020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42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42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63668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71491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58092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69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285752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29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116004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702604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29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29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252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538076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60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24663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67" y="106159"/>
                  </a:moveTo>
                  <a:lnTo>
                    <a:pt x="48069" y="0"/>
                  </a:lnTo>
                  <a:lnTo>
                    <a:pt x="0" y="32854"/>
                  </a:lnTo>
                  <a:lnTo>
                    <a:pt x="85267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52337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29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9947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66547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29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29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594195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402019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988619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56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16280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29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34670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75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421257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69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448931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254036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840611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69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868285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710602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97176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69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324837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127631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714232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55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55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741880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42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554783" y="2935922"/>
              <a:ext cx="645160" cy="925830"/>
            </a:xfrm>
            <a:custGeom>
              <a:avLst/>
              <a:gdLst/>
              <a:ahLst/>
              <a:cxnLst/>
              <a:rect l="l" t="t" r="r" b="b"/>
              <a:pathLst>
                <a:path w="645159" h="925829">
                  <a:moveTo>
                    <a:pt x="644563" y="925474"/>
                  </a:moveTo>
                  <a:lnTo>
                    <a:pt x="0" y="0"/>
                  </a:lnTo>
                </a:path>
              </a:pathLst>
            </a:custGeom>
            <a:ln w="16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141371" y="3795737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67" y="106159"/>
                  </a:moveTo>
                  <a:lnTo>
                    <a:pt x="48044" y="0"/>
                  </a:lnTo>
                  <a:lnTo>
                    <a:pt x="0" y="32854"/>
                  </a:lnTo>
                  <a:lnTo>
                    <a:pt x="85267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169019" y="3817645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977502" y="2938487"/>
              <a:ext cx="398145" cy="571500"/>
            </a:xfrm>
            <a:custGeom>
              <a:avLst/>
              <a:gdLst/>
              <a:ahLst/>
              <a:cxnLst/>
              <a:rect l="l" t="t" r="r" b="b"/>
              <a:pathLst>
                <a:path w="398145" h="571500">
                  <a:moveTo>
                    <a:pt x="397878" y="571271"/>
                  </a:moveTo>
                  <a:lnTo>
                    <a:pt x="0" y="0"/>
                  </a:lnTo>
                </a:path>
              </a:pathLst>
            </a:custGeom>
            <a:ln w="210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317406" y="344410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79">
                  <a:moveTo>
                    <a:pt x="85267" y="106159"/>
                  </a:moveTo>
                  <a:lnTo>
                    <a:pt x="48044" y="0"/>
                  </a:lnTo>
                  <a:lnTo>
                    <a:pt x="0" y="32867"/>
                  </a:lnTo>
                  <a:lnTo>
                    <a:pt x="85267" y="106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345054" y="3466007"/>
              <a:ext cx="33020" cy="48260"/>
            </a:xfrm>
            <a:custGeom>
              <a:avLst/>
              <a:gdLst/>
              <a:ahLst/>
              <a:cxnLst/>
              <a:rect l="l" t="t" r="r" b="b"/>
              <a:pathLst>
                <a:path w="33020" h="48260">
                  <a:moveTo>
                    <a:pt x="0" y="0"/>
                  </a:moveTo>
                  <a:lnTo>
                    <a:pt x="32854" y="48056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736265" y="3157677"/>
              <a:ext cx="405130" cy="498475"/>
            </a:xfrm>
            <a:custGeom>
              <a:avLst/>
              <a:gdLst/>
              <a:ahLst/>
              <a:cxnLst/>
              <a:rect l="l" t="t" r="r" b="b"/>
              <a:pathLst>
                <a:path w="405130" h="498475">
                  <a:moveTo>
                    <a:pt x="404837" y="91592"/>
                  </a:moveTo>
                  <a:lnTo>
                    <a:pt x="263309" y="0"/>
                  </a:lnTo>
                  <a:lnTo>
                    <a:pt x="0" y="406882"/>
                  </a:lnTo>
                  <a:lnTo>
                    <a:pt x="141528" y="498475"/>
                  </a:lnTo>
                  <a:lnTo>
                    <a:pt x="404837" y="91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074644" y="4352777"/>
            <a:ext cx="40005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Error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750764" y="4352777"/>
            <a:ext cx="2574290" cy="216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highlight>
                  <a:srgbClr val="FFFF00"/>
                </a:highlight>
                <a:latin typeface="Arial MT"/>
                <a:cs typeface="Arial MT"/>
              </a:rPr>
              <a:t>Frames</a:t>
            </a:r>
            <a:r>
              <a:rPr sz="13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1300" spc="10" dirty="0">
                <a:highlight>
                  <a:srgbClr val="FFFF00"/>
                </a:highlight>
                <a:latin typeface="Arial MT"/>
                <a:cs typeface="Arial MT"/>
              </a:rPr>
              <a:t>buffered</a:t>
            </a:r>
            <a:r>
              <a:rPr sz="13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1300" spc="10" dirty="0">
                <a:highlight>
                  <a:srgbClr val="FFFF00"/>
                </a:highlight>
                <a:latin typeface="Arial MT"/>
                <a:cs typeface="Arial MT"/>
              </a:rPr>
              <a:t>by</a:t>
            </a:r>
            <a:r>
              <a:rPr sz="1300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1300" spc="10" dirty="0">
                <a:highlight>
                  <a:srgbClr val="FFFF00"/>
                </a:highlight>
                <a:latin typeface="Arial MT"/>
                <a:cs typeface="Arial MT"/>
              </a:rPr>
              <a:t>data</a:t>
            </a:r>
            <a:r>
              <a:rPr sz="13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1300" spc="10" dirty="0">
                <a:highlight>
                  <a:srgbClr val="FFFF00"/>
                </a:highlight>
                <a:latin typeface="Arial MT"/>
                <a:cs typeface="Arial MT"/>
              </a:rPr>
              <a:t>link</a:t>
            </a:r>
            <a:r>
              <a:rPr sz="1300" spc="-5" dirty="0">
                <a:highlight>
                  <a:srgbClr val="FFFF00"/>
                </a:highlight>
                <a:latin typeface="Arial MT"/>
                <a:cs typeface="Arial MT"/>
              </a:rPr>
              <a:t> </a:t>
            </a:r>
            <a:r>
              <a:rPr sz="1300" spc="10" dirty="0">
                <a:highlight>
                  <a:srgbClr val="FFFF00"/>
                </a:highlight>
                <a:latin typeface="Arial MT"/>
                <a:cs typeface="Arial MT"/>
              </a:rPr>
              <a:t>layer</a:t>
            </a:r>
            <a:endParaRPr sz="1300" dirty="0">
              <a:highlight>
                <a:srgbClr val="FFFF00"/>
              </a:highlight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 rot="18180000">
            <a:off x="2717376" y="3322637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0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3169551" y="2935338"/>
            <a:ext cx="651510" cy="988694"/>
            <a:chOff x="3169551" y="2935338"/>
            <a:chExt cx="651510" cy="988694"/>
          </a:xfrm>
        </p:grpSpPr>
        <p:sp>
          <p:nvSpPr>
            <p:cNvPr id="96" name="object 96"/>
            <p:cNvSpPr/>
            <p:nvPr/>
          </p:nvSpPr>
          <p:spPr>
            <a:xfrm>
              <a:off x="3169551" y="3157677"/>
              <a:ext cx="405130" cy="498475"/>
            </a:xfrm>
            <a:custGeom>
              <a:avLst/>
              <a:gdLst/>
              <a:ahLst/>
              <a:cxnLst/>
              <a:rect l="l" t="t" r="r" b="b"/>
              <a:pathLst>
                <a:path w="405129" h="498475">
                  <a:moveTo>
                    <a:pt x="404837" y="91592"/>
                  </a:moveTo>
                  <a:lnTo>
                    <a:pt x="263309" y="0"/>
                  </a:lnTo>
                  <a:lnTo>
                    <a:pt x="0" y="406882"/>
                  </a:lnTo>
                  <a:lnTo>
                    <a:pt x="141528" y="498475"/>
                  </a:lnTo>
                  <a:lnTo>
                    <a:pt x="404837" y="915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192437" y="2976816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738181" y="2935338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48" y="0"/>
                  </a:moveTo>
                  <a:lnTo>
                    <a:pt x="0" y="76441"/>
                  </a:lnTo>
                  <a:lnTo>
                    <a:pt x="49263" y="107454"/>
                  </a:lnTo>
                  <a:lnTo>
                    <a:pt x="82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766235" y="2972434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25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 rot="18180000">
            <a:off x="3150674" y="3322637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941533" y="4275899"/>
            <a:ext cx="1153795" cy="87630"/>
          </a:xfrm>
          <a:custGeom>
            <a:avLst/>
            <a:gdLst/>
            <a:ahLst/>
            <a:cxnLst/>
            <a:rect l="l" t="t" r="r" b="b"/>
            <a:pathLst>
              <a:path w="1153795" h="87629">
                <a:moveTo>
                  <a:pt x="0" y="0"/>
                </a:moveTo>
                <a:lnTo>
                  <a:pt x="1772" y="17216"/>
                </a:lnTo>
                <a:lnTo>
                  <a:pt x="6605" y="31019"/>
                </a:lnTo>
                <a:lnTo>
                  <a:pt x="13774" y="40194"/>
                </a:lnTo>
                <a:lnTo>
                  <a:pt x="22555" y="43522"/>
                </a:lnTo>
                <a:lnTo>
                  <a:pt x="555104" y="43522"/>
                </a:lnTo>
                <a:lnTo>
                  <a:pt x="563886" y="46849"/>
                </a:lnTo>
                <a:lnTo>
                  <a:pt x="571060" y="56021"/>
                </a:lnTo>
                <a:lnTo>
                  <a:pt x="575897" y="69824"/>
                </a:lnTo>
                <a:lnTo>
                  <a:pt x="577672" y="87045"/>
                </a:lnTo>
                <a:lnTo>
                  <a:pt x="579444" y="69824"/>
                </a:lnTo>
                <a:lnTo>
                  <a:pt x="584279" y="56021"/>
                </a:lnTo>
                <a:lnTo>
                  <a:pt x="591452" y="46849"/>
                </a:lnTo>
                <a:lnTo>
                  <a:pt x="600240" y="43522"/>
                </a:lnTo>
                <a:lnTo>
                  <a:pt x="1131100" y="43522"/>
                </a:lnTo>
                <a:lnTo>
                  <a:pt x="1139882" y="40194"/>
                </a:lnTo>
                <a:lnTo>
                  <a:pt x="1147056" y="31019"/>
                </a:lnTo>
                <a:lnTo>
                  <a:pt x="1151893" y="17216"/>
                </a:lnTo>
                <a:lnTo>
                  <a:pt x="1153668" y="0"/>
                </a:lnTo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2" name="object 102"/>
          <p:cNvGrpSpPr/>
          <p:nvPr/>
        </p:nvGrpSpPr>
        <p:grpSpPr>
          <a:xfrm>
            <a:off x="4044378" y="2941205"/>
            <a:ext cx="630555" cy="996315"/>
            <a:chOff x="4044378" y="2941205"/>
            <a:chExt cx="630555" cy="996315"/>
          </a:xfrm>
        </p:grpSpPr>
        <p:sp>
          <p:nvSpPr>
            <p:cNvPr id="103" name="object 103"/>
            <p:cNvSpPr/>
            <p:nvPr/>
          </p:nvSpPr>
          <p:spPr>
            <a:xfrm>
              <a:off x="4052951" y="299024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37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592434" y="2941205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48" y="0"/>
                  </a:moveTo>
                  <a:lnTo>
                    <a:pt x="0" y="76454"/>
                  </a:lnTo>
                  <a:lnTo>
                    <a:pt x="49263" y="107492"/>
                  </a:lnTo>
                  <a:lnTo>
                    <a:pt x="82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620501" y="2978315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50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4427258" y="3903934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4358004" y="3906101"/>
            <a:ext cx="253365" cy="253365"/>
          </a:xfrm>
          <a:custGeom>
            <a:avLst/>
            <a:gdLst/>
            <a:ahLst/>
            <a:cxnLst/>
            <a:rect l="l" t="t" r="r" b="b"/>
            <a:pathLst>
              <a:path w="253364" h="253364">
                <a:moveTo>
                  <a:pt x="0" y="0"/>
                </a:moveTo>
                <a:lnTo>
                  <a:pt x="0" y="252862"/>
                </a:lnTo>
                <a:lnTo>
                  <a:pt x="252862" y="252862"/>
                </a:lnTo>
                <a:lnTo>
                  <a:pt x="252862" y="0"/>
                </a:lnTo>
                <a:lnTo>
                  <a:pt x="0" y="0"/>
                </a:lnTo>
                <a:close/>
              </a:path>
            </a:pathLst>
          </a:custGeom>
          <a:ln w="105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4793500" y="3890264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214937" y="3884993"/>
            <a:ext cx="253365" cy="214161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highlight>
                  <a:srgbClr val="00FFFF"/>
                </a:highlight>
                <a:latin typeface="Arial MT"/>
                <a:cs typeface="Arial MT"/>
              </a:rPr>
              <a:t>2</a:t>
            </a:r>
            <a:endParaRPr sz="1300" dirty="0">
              <a:highlight>
                <a:srgbClr val="00FFFF"/>
              </a:highlight>
              <a:latin typeface="Arial MT"/>
              <a:cs typeface="Arial MT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966438" y="3911333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657443" y="3884993"/>
            <a:ext cx="253365" cy="253365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110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4484928" y="2923679"/>
            <a:ext cx="636905" cy="988694"/>
            <a:chOff x="4484928" y="2923679"/>
            <a:chExt cx="636905" cy="988694"/>
          </a:xfrm>
        </p:grpSpPr>
        <p:sp>
          <p:nvSpPr>
            <p:cNvPr id="113" name="object 113"/>
            <p:cNvSpPr/>
            <p:nvPr/>
          </p:nvSpPr>
          <p:spPr>
            <a:xfrm>
              <a:off x="4578947" y="3364547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5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493501" y="296517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039258" y="2923679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54"/>
                  </a:lnTo>
                  <a:lnTo>
                    <a:pt x="49250" y="107492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067300" y="2960789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37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 rot="18180000">
            <a:off x="4112964" y="3163966"/>
            <a:ext cx="516103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Nak 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8" name="object 118"/>
          <p:cNvSpPr txBox="1"/>
          <p:nvPr/>
        </p:nvSpPr>
        <p:spPr>
          <a:xfrm rot="18180000">
            <a:off x="4451738" y="3310979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4911636" y="2923679"/>
            <a:ext cx="636905" cy="988694"/>
            <a:chOff x="4911636" y="2923679"/>
            <a:chExt cx="636905" cy="988694"/>
          </a:xfrm>
        </p:grpSpPr>
        <p:sp>
          <p:nvSpPr>
            <p:cNvPr id="120" name="object 120"/>
            <p:cNvSpPr/>
            <p:nvPr/>
          </p:nvSpPr>
          <p:spPr>
            <a:xfrm>
              <a:off x="5005654" y="3364547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5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920208" y="296517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465965" y="2923679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54"/>
                  </a:lnTo>
                  <a:lnTo>
                    <a:pt x="49237" y="107492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494007" y="2960789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37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 rot="18180000">
            <a:off x="4878446" y="3310979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5343601" y="2918409"/>
            <a:ext cx="636905" cy="988694"/>
            <a:chOff x="5343601" y="2918409"/>
            <a:chExt cx="636905" cy="988694"/>
          </a:xfrm>
        </p:grpSpPr>
        <p:sp>
          <p:nvSpPr>
            <p:cNvPr id="126" name="object 126"/>
            <p:cNvSpPr/>
            <p:nvPr/>
          </p:nvSpPr>
          <p:spPr>
            <a:xfrm>
              <a:off x="5437619" y="3359277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5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352173" y="295990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37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897930" y="2918409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54"/>
                  </a:lnTo>
                  <a:lnTo>
                    <a:pt x="49250" y="107492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925985" y="2955518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50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 rot="18180000">
            <a:off x="5310411" y="3305721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5770308" y="2923679"/>
            <a:ext cx="636905" cy="988694"/>
            <a:chOff x="5770308" y="2923679"/>
            <a:chExt cx="636905" cy="988694"/>
          </a:xfrm>
        </p:grpSpPr>
        <p:sp>
          <p:nvSpPr>
            <p:cNvPr id="132" name="object 132"/>
            <p:cNvSpPr/>
            <p:nvPr/>
          </p:nvSpPr>
          <p:spPr>
            <a:xfrm>
              <a:off x="5864326" y="3364547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5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778881" y="296517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4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24638" y="2923679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54"/>
                  </a:lnTo>
                  <a:lnTo>
                    <a:pt x="49250" y="107492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352692" y="2960789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4" h="49530">
                  <a:moveTo>
                    <a:pt x="0" y="49237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/>
          <p:nvPr/>
        </p:nvSpPr>
        <p:spPr>
          <a:xfrm>
            <a:off x="6163957" y="388811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6089281" y="2923679"/>
            <a:ext cx="755650" cy="1224915"/>
            <a:chOff x="6089281" y="2923679"/>
            <a:chExt cx="755650" cy="1224915"/>
          </a:xfrm>
        </p:grpSpPr>
        <p:sp>
          <p:nvSpPr>
            <p:cNvPr id="138" name="object 138"/>
            <p:cNvSpPr/>
            <p:nvPr/>
          </p:nvSpPr>
          <p:spPr>
            <a:xfrm>
              <a:off x="6094679" y="3890263"/>
              <a:ext cx="253365" cy="253365"/>
            </a:xfrm>
            <a:custGeom>
              <a:avLst/>
              <a:gdLst/>
              <a:ahLst/>
              <a:cxnLst/>
              <a:rect l="l" t="t" r="r" b="b"/>
              <a:pathLst>
                <a:path w="253364" h="253364">
                  <a:moveTo>
                    <a:pt x="0" y="0"/>
                  </a:moveTo>
                  <a:lnTo>
                    <a:pt x="0" y="252862"/>
                  </a:lnTo>
                  <a:lnTo>
                    <a:pt x="252862" y="252862"/>
                  </a:lnTo>
                  <a:lnTo>
                    <a:pt x="252862" y="0"/>
                  </a:lnTo>
                  <a:lnTo>
                    <a:pt x="0" y="0"/>
                  </a:lnTo>
                  <a:close/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301562" y="3364547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5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761886" y="2923679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23" y="0"/>
                  </a:moveTo>
                  <a:lnTo>
                    <a:pt x="0" y="76454"/>
                  </a:lnTo>
                  <a:lnTo>
                    <a:pt x="49237" y="107492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789928" y="2960789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37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216116" y="2965170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75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 rot="18180000">
            <a:off x="5737118" y="3310979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4" name="object 144"/>
          <p:cNvSpPr txBox="1"/>
          <p:nvPr/>
        </p:nvSpPr>
        <p:spPr>
          <a:xfrm rot="18180000">
            <a:off x="6153284" y="3310979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6628980" y="2939478"/>
            <a:ext cx="636905" cy="988694"/>
            <a:chOff x="6628980" y="2939478"/>
            <a:chExt cx="636905" cy="988694"/>
          </a:xfrm>
        </p:grpSpPr>
        <p:sp>
          <p:nvSpPr>
            <p:cNvPr id="146" name="object 146"/>
            <p:cNvSpPr/>
            <p:nvPr/>
          </p:nvSpPr>
          <p:spPr>
            <a:xfrm>
              <a:off x="6722998" y="3380346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4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637553" y="2980969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75" y="0"/>
                  </a:moveTo>
                  <a:lnTo>
                    <a:pt x="0" y="938237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183322" y="2939478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23" y="0"/>
                  </a:moveTo>
                  <a:lnTo>
                    <a:pt x="0" y="76454"/>
                  </a:lnTo>
                  <a:lnTo>
                    <a:pt x="49237" y="107492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211364" y="2976587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50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/>
          <p:nvPr/>
        </p:nvSpPr>
        <p:spPr>
          <a:xfrm rot="18180000">
            <a:off x="6595803" y="3326790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8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7071500" y="2939478"/>
            <a:ext cx="689610" cy="988694"/>
            <a:chOff x="7071500" y="2939478"/>
            <a:chExt cx="689610" cy="988694"/>
          </a:xfrm>
        </p:grpSpPr>
        <p:sp>
          <p:nvSpPr>
            <p:cNvPr id="152" name="object 152"/>
            <p:cNvSpPr/>
            <p:nvPr/>
          </p:nvSpPr>
          <p:spPr>
            <a:xfrm>
              <a:off x="7165518" y="3375075"/>
              <a:ext cx="595630" cy="168910"/>
            </a:xfrm>
            <a:custGeom>
              <a:avLst/>
              <a:gdLst/>
              <a:ahLst/>
              <a:cxnLst/>
              <a:rect l="l" t="t" r="r" b="b"/>
              <a:pathLst>
                <a:path w="595629" h="168910">
                  <a:moveTo>
                    <a:pt x="152768" y="5270"/>
                  </a:moveTo>
                  <a:lnTo>
                    <a:pt x="0" y="5270"/>
                  </a:lnTo>
                  <a:lnTo>
                    <a:pt x="0" y="168579"/>
                  </a:lnTo>
                  <a:lnTo>
                    <a:pt x="152768" y="168579"/>
                  </a:lnTo>
                  <a:lnTo>
                    <a:pt x="152768" y="5270"/>
                  </a:lnTo>
                  <a:close/>
                </a:path>
                <a:path w="595629" h="168910">
                  <a:moveTo>
                    <a:pt x="595274" y="0"/>
                  </a:moveTo>
                  <a:lnTo>
                    <a:pt x="442506" y="0"/>
                  </a:lnTo>
                  <a:lnTo>
                    <a:pt x="442506" y="163309"/>
                  </a:lnTo>
                  <a:lnTo>
                    <a:pt x="595274" y="163309"/>
                  </a:lnTo>
                  <a:lnTo>
                    <a:pt x="595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080072" y="2980969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62" y="0"/>
                  </a:moveTo>
                  <a:lnTo>
                    <a:pt x="0" y="938237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625829" y="2939478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54"/>
                  </a:lnTo>
                  <a:lnTo>
                    <a:pt x="49237" y="107492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653871" y="2976587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50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6" name="object 156"/>
          <p:cNvSpPr txBox="1"/>
          <p:nvPr/>
        </p:nvSpPr>
        <p:spPr>
          <a:xfrm rot="18180000">
            <a:off x="7038309" y="3326790"/>
            <a:ext cx="454804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9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7914373" y="2934220"/>
            <a:ext cx="1063625" cy="993775"/>
            <a:chOff x="7914373" y="2934220"/>
            <a:chExt cx="1063625" cy="993775"/>
          </a:xfrm>
        </p:grpSpPr>
        <p:sp>
          <p:nvSpPr>
            <p:cNvPr id="158" name="object 158"/>
            <p:cNvSpPr/>
            <p:nvPr/>
          </p:nvSpPr>
          <p:spPr>
            <a:xfrm>
              <a:off x="8008391" y="3375075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4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922946" y="2975711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468703" y="2934220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41"/>
                  </a:lnTo>
                  <a:lnTo>
                    <a:pt x="49237" y="107480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496744" y="2971317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50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435086" y="3380346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4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349640" y="2980969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75" y="0"/>
                  </a:moveTo>
                  <a:lnTo>
                    <a:pt x="0" y="938237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895410" y="2939478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23" y="0"/>
                  </a:moveTo>
                  <a:lnTo>
                    <a:pt x="0" y="76454"/>
                  </a:lnTo>
                  <a:lnTo>
                    <a:pt x="49237" y="107492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923452" y="2976587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50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 rot="18180000">
            <a:off x="8263992" y="3326570"/>
            <a:ext cx="542581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12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8799233" y="2928950"/>
            <a:ext cx="636905" cy="988694"/>
            <a:chOff x="8799233" y="2928950"/>
            <a:chExt cx="636905" cy="988694"/>
          </a:xfrm>
        </p:grpSpPr>
        <p:sp>
          <p:nvSpPr>
            <p:cNvPr id="168" name="object 168"/>
            <p:cNvSpPr/>
            <p:nvPr/>
          </p:nvSpPr>
          <p:spPr>
            <a:xfrm>
              <a:off x="8893276" y="3369818"/>
              <a:ext cx="153035" cy="163830"/>
            </a:xfrm>
            <a:custGeom>
              <a:avLst/>
              <a:gdLst/>
              <a:ahLst/>
              <a:cxnLst/>
              <a:rect l="l" t="t" r="r" b="b"/>
              <a:pathLst>
                <a:path w="153034" h="163829">
                  <a:moveTo>
                    <a:pt x="152770" y="163306"/>
                  </a:moveTo>
                  <a:lnTo>
                    <a:pt x="152770" y="0"/>
                  </a:lnTo>
                  <a:lnTo>
                    <a:pt x="0" y="0"/>
                  </a:lnTo>
                  <a:lnTo>
                    <a:pt x="0" y="163306"/>
                  </a:lnTo>
                  <a:lnTo>
                    <a:pt x="152770" y="1633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8807805" y="2970441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75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9353575" y="2928950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23" y="0"/>
                  </a:moveTo>
                  <a:lnTo>
                    <a:pt x="0" y="76441"/>
                  </a:lnTo>
                  <a:lnTo>
                    <a:pt x="49237" y="107480"/>
                  </a:lnTo>
                  <a:lnTo>
                    <a:pt x="824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9381617" y="2966059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37"/>
                  </a:moveTo>
                  <a:lnTo>
                    <a:pt x="31013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 rot="18180000">
            <a:off x="8680032" y="3358180"/>
            <a:ext cx="542581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13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7514149" y="2934220"/>
            <a:ext cx="636905" cy="988694"/>
            <a:chOff x="7514149" y="2934220"/>
            <a:chExt cx="636905" cy="988694"/>
          </a:xfrm>
        </p:grpSpPr>
        <p:sp>
          <p:nvSpPr>
            <p:cNvPr id="174" name="object 174"/>
            <p:cNvSpPr/>
            <p:nvPr/>
          </p:nvSpPr>
          <p:spPr>
            <a:xfrm>
              <a:off x="7560615" y="3427755"/>
              <a:ext cx="173990" cy="158115"/>
            </a:xfrm>
            <a:custGeom>
              <a:avLst/>
              <a:gdLst/>
              <a:ahLst/>
              <a:cxnLst/>
              <a:rect l="l" t="t" r="r" b="b"/>
              <a:pathLst>
                <a:path w="173990" h="158114">
                  <a:moveTo>
                    <a:pt x="173842" y="158038"/>
                  </a:moveTo>
                  <a:lnTo>
                    <a:pt x="173842" y="0"/>
                  </a:lnTo>
                  <a:lnTo>
                    <a:pt x="0" y="0"/>
                  </a:lnTo>
                  <a:lnTo>
                    <a:pt x="0" y="158038"/>
                  </a:lnTo>
                  <a:lnTo>
                    <a:pt x="173842" y="158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522578" y="2975711"/>
              <a:ext cx="602615" cy="938530"/>
            </a:xfrm>
            <a:custGeom>
              <a:avLst/>
              <a:gdLst/>
              <a:ahLst/>
              <a:cxnLst/>
              <a:rect l="l" t="t" r="r" b="b"/>
              <a:pathLst>
                <a:path w="602615" h="938529">
                  <a:moveTo>
                    <a:pt x="602462" y="0"/>
                  </a:moveTo>
                  <a:lnTo>
                    <a:pt x="0" y="938225"/>
                  </a:lnTo>
                </a:path>
              </a:pathLst>
            </a:custGeom>
            <a:ln w="16857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8068335" y="2934220"/>
              <a:ext cx="82550" cy="107950"/>
            </a:xfrm>
            <a:custGeom>
              <a:avLst/>
              <a:gdLst/>
              <a:ahLst/>
              <a:cxnLst/>
              <a:rect l="l" t="t" r="r" b="b"/>
              <a:pathLst>
                <a:path w="82550" h="107950">
                  <a:moveTo>
                    <a:pt x="82435" y="0"/>
                  </a:moveTo>
                  <a:lnTo>
                    <a:pt x="0" y="76441"/>
                  </a:lnTo>
                  <a:lnTo>
                    <a:pt x="49250" y="107480"/>
                  </a:lnTo>
                  <a:lnTo>
                    <a:pt x="82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8096377" y="2971317"/>
              <a:ext cx="31115" cy="49530"/>
            </a:xfrm>
            <a:custGeom>
              <a:avLst/>
              <a:gdLst/>
              <a:ahLst/>
              <a:cxnLst/>
              <a:rect l="l" t="t" r="r" b="b"/>
              <a:pathLst>
                <a:path w="31115" h="49530">
                  <a:moveTo>
                    <a:pt x="0" y="49250"/>
                  </a:moveTo>
                  <a:lnTo>
                    <a:pt x="31026" y="0"/>
                  </a:lnTo>
                </a:path>
              </a:pathLst>
            </a:custGeom>
            <a:ln w="105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 rot="18180000">
            <a:off x="7424192" y="3340984"/>
            <a:ext cx="542581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10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9" name="object 179"/>
          <p:cNvSpPr txBox="1"/>
          <p:nvPr/>
        </p:nvSpPr>
        <p:spPr>
          <a:xfrm rot="18180000">
            <a:off x="7837285" y="3321312"/>
            <a:ext cx="542581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300" spc="15" dirty="0">
                <a:latin typeface="Arial MT"/>
                <a:cs typeface="Arial MT"/>
              </a:rPr>
              <a:t>Ack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11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1616049" y="6191110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 txBox="1"/>
          <p:nvPr/>
        </p:nvSpPr>
        <p:spPr>
          <a:xfrm>
            <a:off x="1592072" y="4941590"/>
            <a:ext cx="8085328" cy="14702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spc="10" dirty="0">
                <a:solidFill>
                  <a:srgbClr val="9B0707"/>
                </a:solidFill>
                <a:cs typeface="Arial MT"/>
              </a:rPr>
              <a:t>Leads</a:t>
            </a:r>
            <a:r>
              <a:rPr sz="2650" spc="-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to</a:t>
            </a:r>
            <a:r>
              <a:rPr sz="2650" spc="-1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selective</a:t>
            </a:r>
            <a:r>
              <a:rPr sz="2650" spc="-30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cs typeface="Arial MT"/>
              </a:rPr>
              <a:t>repeat</a:t>
            </a:r>
            <a:r>
              <a:rPr lang="en-US" sz="2650" dirty="0">
                <a:solidFill>
                  <a:srgbClr val="9B0707"/>
                </a:solidFill>
                <a:cs typeface="Arial MT"/>
              </a:rPr>
              <a:t> (So in Selective Repeat Receiver window is larger than one)</a:t>
            </a:r>
            <a:endParaRPr sz="2650" dirty="0">
              <a:cs typeface="Arial MT"/>
            </a:endParaRPr>
          </a:p>
          <a:p>
            <a:pPr marL="390525">
              <a:lnSpc>
                <a:spcPct val="100000"/>
              </a:lnSpc>
              <a:spcBef>
                <a:spcPts val="1820"/>
              </a:spcBef>
            </a:pPr>
            <a:r>
              <a:rPr sz="2650" dirty="0">
                <a:solidFill>
                  <a:srgbClr val="9B0707"/>
                </a:solidFill>
                <a:cs typeface="Arial MT"/>
              </a:rPr>
              <a:t>tradeoff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 bandwidth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 and</a:t>
            </a:r>
            <a:r>
              <a:rPr sz="2650" spc="1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-15" dirty="0">
                <a:solidFill>
                  <a:srgbClr val="9B0707"/>
                </a:solidFill>
                <a:cs typeface="Arial MT"/>
              </a:rPr>
              <a:t>buffer</a:t>
            </a:r>
            <a:r>
              <a:rPr sz="2650" spc="5" dirty="0">
                <a:solidFill>
                  <a:srgbClr val="9B0707"/>
                </a:solidFill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cs typeface="Arial MT"/>
              </a:rPr>
              <a:t>capacity</a:t>
            </a:r>
            <a:endParaRPr sz="2650" dirty="0">
              <a:cs typeface="Arial MT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DC3B4DF-0E75-6A4B-34E5-FBAB4A5218DA}"/>
              </a:ext>
            </a:extLst>
          </p:cNvPr>
          <p:cNvSpPr txBox="1"/>
          <p:nvPr/>
        </p:nvSpPr>
        <p:spPr>
          <a:xfrm>
            <a:off x="709774" y="2558840"/>
            <a:ext cx="461665" cy="186259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vert270" wrap="square" rtlCol="0">
            <a:spAutoFit/>
          </a:bodyPr>
          <a:lstStyle/>
          <a:p>
            <a:r>
              <a:rPr lang="en-US" dirty="0"/>
              <a:t>Dealing with Error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7" y="352942"/>
            <a:ext cx="4985513" cy="586507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 marR="5080">
              <a:lnSpc>
                <a:spcPct val="74000"/>
              </a:lnSpc>
              <a:spcBef>
                <a:spcPts val="1305"/>
              </a:spcBef>
            </a:pPr>
            <a:r>
              <a:rPr dirty="0"/>
              <a:t>Go</a:t>
            </a:r>
            <a:r>
              <a:rPr spc="-50" dirty="0"/>
              <a:t> </a:t>
            </a:r>
            <a:r>
              <a:rPr spc="-20" dirty="0"/>
              <a:t>Back</a:t>
            </a:r>
            <a:r>
              <a:rPr spc="-55" dirty="0"/>
              <a:t> </a:t>
            </a:r>
            <a:r>
              <a:rPr dirty="0"/>
              <a:t>n </a:t>
            </a:r>
            <a:r>
              <a:rPr spc="-1055" dirty="0"/>
              <a:t> </a:t>
            </a:r>
            <a:r>
              <a:rPr spc="-5" dirty="0"/>
              <a:t>Off</a:t>
            </a:r>
            <a:r>
              <a:rPr spc="-40" dirty="0"/>
              <a:t> </a:t>
            </a:r>
            <a:r>
              <a:rPr spc="-35" dirty="0"/>
              <a:t>by</a:t>
            </a:r>
            <a:r>
              <a:rPr spc="-45" dirty="0"/>
              <a:t> </a:t>
            </a:r>
            <a:r>
              <a:rPr spc="-5" dirty="0"/>
              <a:t>one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47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16049" y="20930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6049" y="303033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9B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55901" y="352258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5901" y="401331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55901" y="450556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5901" y="5445874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55901" y="5938126"/>
            <a:ext cx="165735" cy="158750"/>
          </a:xfrm>
          <a:custGeom>
            <a:avLst/>
            <a:gdLst/>
            <a:ahLst/>
            <a:cxnLst/>
            <a:rect l="l" t="t" r="r" b="b"/>
            <a:pathLst>
              <a:path w="165735" h="158750">
                <a:moveTo>
                  <a:pt x="165671" y="158203"/>
                </a:moveTo>
                <a:lnTo>
                  <a:pt x="165671" y="0"/>
                </a:lnTo>
                <a:lnTo>
                  <a:pt x="0" y="0"/>
                </a:lnTo>
                <a:lnTo>
                  <a:pt x="0" y="79095"/>
                </a:lnTo>
                <a:lnTo>
                  <a:pt x="0" y="158203"/>
                </a:lnTo>
                <a:lnTo>
                  <a:pt x="165671" y="158203"/>
                </a:lnTo>
                <a:close/>
              </a:path>
            </a:pathLst>
          </a:custGeom>
          <a:solidFill>
            <a:srgbClr val="00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70023" y="1916450"/>
            <a:ext cx="7666990" cy="471741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677545">
              <a:lnSpc>
                <a:spcPts val="3170"/>
              </a:lnSpc>
              <a:spcBef>
                <a:spcPts val="240"/>
              </a:spcBef>
            </a:pP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Can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only 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have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MAX_SEQ 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Frames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flight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(not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MAX_SEQ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+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1)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Consider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MAX_SEQ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=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7</a:t>
            </a:r>
            <a:endParaRPr sz="2650">
              <a:latin typeface="Arial MT"/>
              <a:cs typeface="Arial MT"/>
            </a:endParaRPr>
          </a:p>
          <a:p>
            <a:pPr marL="352425" marR="3108960">
              <a:lnSpc>
                <a:spcPts val="3860"/>
              </a:lnSpc>
              <a:spcBef>
                <a:spcPts val="260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Sender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sends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frames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0</a:t>
            </a:r>
            <a:r>
              <a:rPr sz="2200" spc="-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through</a:t>
            </a:r>
            <a:r>
              <a:rPr sz="2200" spc="-3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7 </a:t>
            </a:r>
            <a:r>
              <a:rPr sz="2200" spc="-6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Receiver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acknowledges</a:t>
            </a:r>
            <a:r>
              <a:rPr sz="2200" spc="5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frame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352425" marR="5080" indent="-635">
              <a:lnSpc>
                <a:spcPct val="134100"/>
              </a:lnSpc>
              <a:spcBef>
                <a:spcPts val="5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Sender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sends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the </a:t>
            </a:r>
            <a:r>
              <a:rPr sz="2200" spc="-10" dirty="0">
                <a:solidFill>
                  <a:srgbClr val="006699"/>
                </a:solidFill>
                <a:latin typeface="Arial MT"/>
                <a:cs typeface="Arial MT"/>
              </a:rPr>
              <a:t>next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8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frames </a:t>
            </a: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with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sequence 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numbers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0 </a:t>
            </a:r>
            <a:r>
              <a:rPr sz="2200" spc="-60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though</a:t>
            </a:r>
            <a:r>
              <a:rPr sz="2200" spc="-3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7</a:t>
            </a:r>
            <a:endParaRPr sz="2200">
              <a:latin typeface="Arial MT"/>
              <a:cs typeface="Arial MT"/>
            </a:endParaRPr>
          </a:p>
          <a:p>
            <a:pPr marL="352425">
              <a:lnSpc>
                <a:spcPct val="100000"/>
              </a:lnSpc>
              <a:spcBef>
                <a:spcPts val="1225"/>
              </a:spcBef>
            </a:pPr>
            <a:r>
              <a:rPr sz="2200" spc="10" dirty="0">
                <a:solidFill>
                  <a:srgbClr val="006699"/>
                </a:solidFill>
                <a:latin typeface="Arial MT"/>
                <a:cs typeface="Arial MT"/>
              </a:rPr>
              <a:t>Another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acknowledgement</a:t>
            </a:r>
            <a:r>
              <a:rPr sz="2200" spc="50" dirty="0">
                <a:solidFill>
                  <a:srgbClr val="006699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006699"/>
                </a:solidFill>
                <a:latin typeface="Arial MT"/>
                <a:cs typeface="Arial MT"/>
              </a:rPr>
              <a:t>for</a:t>
            </a:r>
            <a:r>
              <a:rPr sz="2200" spc="5" dirty="0">
                <a:solidFill>
                  <a:srgbClr val="006699"/>
                </a:solidFill>
                <a:latin typeface="Arial MT"/>
                <a:cs typeface="Arial MT"/>
              </a:rPr>
              <a:t> frame </a:t>
            </a:r>
            <a:r>
              <a:rPr sz="2200" spc="15" dirty="0">
                <a:solidFill>
                  <a:srgbClr val="006699"/>
                </a:solidFill>
                <a:latin typeface="Arial MT"/>
                <a:cs typeface="Arial MT"/>
              </a:rPr>
              <a:t>7</a:t>
            </a:r>
            <a:r>
              <a:rPr sz="2200" dirty="0">
                <a:solidFill>
                  <a:srgbClr val="006699"/>
                </a:solidFill>
                <a:latin typeface="Arial MT"/>
                <a:cs typeface="Arial MT"/>
              </a:rPr>
              <a:t> arrives</a:t>
            </a:r>
            <a:endParaRPr sz="2200">
              <a:latin typeface="Arial MT"/>
              <a:cs typeface="Arial MT"/>
            </a:endParaRPr>
          </a:p>
          <a:p>
            <a:pPr marL="352425" marR="813435">
              <a:lnSpc>
                <a:spcPct val="134100"/>
              </a:lnSpc>
              <a:spcBef>
                <a:spcPts val="335"/>
              </a:spcBef>
            </a:pP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Is</a:t>
            </a:r>
            <a:r>
              <a:rPr sz="2200" spc="-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this</a:t>
            </a:r>
            <a:r>
              <a:rPr sz="2200" spc="-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an</a:t>
            </a:r>
            <a:r>
              <a:rPr sz="2200" spc="1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BE2525"/>
                </a:solidFill>
                <a:latin typeface="Arial MT"/>
                <a:cs typeface="Arial MT"/>
              </a:rPr>
              <a:t>acknowledgement</a:t>
            </a:r>
            <a:r>
              <a:rPr sz="2200" spc="5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BE2525"/>
                </a:solidFill>
                <a:latin typeface="Arial MT"/>
                <a:cs typeface="Arial MT"/>
              </a:rPr>
              <a:t>for</a:t>
            </a: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 the</a:t>
            </a:r>
            <a:r>
              <a:rPr sz="2200" spc="-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first</a:t>
            </a:r>
            <a:r>
              <a:rPr sz="2200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BE2525"/>
                </a:solidFill>
                <a:latin typeface="Arial MT"/>
                <a:cs typeface="Arial MT"/>
              </a:rPr>
              <a:t>group</a:t>
            </a:r>
            <a:r>
              <a:rPr sz="2200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5" dirty="0">
                <a:solidFill>
                  <a:srgbClr val="BE2525"/>
                </a:solidFill>
                <a:latin typeface="Arial MT"/>
                <a:cs typeface="Arial MT"/>
              </a:rPr>
              <a:t>or</a:t>
            </a:r>
            <a:r>
              <a:rPr sz="2200" spc="10" dirty="0">
                <a:solidFill>
                  <a:srgbClr val="BE2525"/>
                </a:solidFill>
                <a:latin typeface="Arial MT"/>
                <a:cs typeface="Arial MT"/>
              </a:rPr>
              <a:t> the </a:t>
            </a:r>
            <a:r>
              <a:rPr sz="2200" spc="-595" dirty="0">
                <a:solidFill>
                  <a:srgbClr val="BE2525"/>
                </a:solidFill>
                <a:latin typeface="Arial MT"/>
                <a:cs typeface="Arial MT"/>
              </a:rPr>
              <a:t> </a:t>
            </a:r>
            <a:r>
              <a:rPr sz="2200" spc="15" dirty="0">
                <a:solidFill>
                  <a:srgbClr val="BE2525"/>
                </a:solidFill>
                <a:latin typeface="Arial MT"/>
                <a:cs typeface="Arial MT"/>
              </a:rPr>
              <a:t>second?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29585"/>
            <a:ext cx="5619750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Managing</a:t>
            </a:r>
            <a:r>
              <a:rPr spc="-55" dirty="0"/>
              <a:t> </a:t>
            </a:r>
            <a:r>
              <a:rPr dirty="0"/>
              <a:t>Multiple</a:t>
            </a:r>
            <a:r>
              <a:rPr spc="-40" dirty="0"/>
              <a:t> </a:t>
            </a:r>
            <a:r>
              <a:rPr spc="-10" dirty="0"/>
              <a:t>Timers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48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/>
          <p:nvPr/>
        </p:nvSpPr>
        <p:spPr>
          <a:xfrm>
            <a:off x="1674545" y="2583649"/>
            <a:ext cx="1791335" cy="269240"/>
          </a:xfrm>
          <a:custGeom>
            <a:avLst/>
            <a:gdLst/>
            <a:ahLst/>
            <a:cxnLst/>
            <a:rect l="l" t="t" r="r" b="b"/>
            <a:pathLst>
              <a:path w="1791335" h="269239">
                <a:moveTo>
                  <a:pt x="0" y="0"/>
                </a:moveTo>
                <a:lnTo>
                  <a:pt x="0" y="268665"/>
                </a:lnTo>
                <a:lnTo>
                  <a:pt x="1791106" y="268665"/>
                </a:lnTo>
                <a:lnTo>
                  <a:pt x="1791106" y="0"/>
                </a:lnTo>
                <a:lnTo>
                  <a:pt x="0" y="0"/>
                </a:lnTo>
                <a:close/>
              </a:path>
              <a:path w="1791335" h="269239">
                <a:moveTo>
                  <a:pt x="358228" y="0"/>
                </a:moveTo>
                <a:lnTo>
                  <a:pt x="358228" y="268668"/>
                </a:lnTo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00088" y="2583649"/>
            <a:ext cx="1791335" cy="269240"/>
          </a:xfrm>
          <a:custGeom>
            <a:avLst/>
            <a:gdLst/>
            <a:ahLst/>
            <a:cxnLst/>
            <a:rect l="l" t="t" r="r" b="b"/>
            <a:pathLst>
              <a:path w="1791334" h="269239">
                <a:moveTo>
                  <a:pt x="0" y="0"/>
                </a:moveTo>
                <a:lnTo>
                  <a:pt x="0" y="268665"/>
                </a:lnTo>
                <a:lnTo>
                  <a:pt x="1791106" y="268665"/>
                </a:lnTo>
                <a:lnTo>
                  <a:pt x="1791106" y="0"/>
                </a:lnTo>
                <a:lnTo>
                  <a:pt x="0" y="0"/>
                </a:lnTo>
                <a:close/>
              </a:path>
              <a:path w="1791334" h="269239">
                <a:moveTo>
                  <a:pt x="358216" y="0"/>
                </a:moveTo>
                <a:lnTo>
                  <a:pt x="358216" y="268668"/>
                </a:lnTo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80551" y="3423234"/>
            <a:ext cx="2374900" cy="269240"/>
          </a:xfrm>
          <a:custGeom>
            <a:avLst/>
            <a:gdLst/>
            <a:ahLst/>
            <a:cxnLst/>
            <a:rect l="l" t="t" r="r" b="b"/>
            <a:pathLst>
              <a:path w="2374900" h="269239">
                <a:moveTo>
                  <a:pt x="0" y="0"/>
                </a:moveTo>
                <a:lnTo>
                  <a:pt x="0" y="268665"/>
                </a:lnTo>
                <a:lnTo>
                  <a:pt x="1074663" y="268665"/>
                </a:lnTo>
                <a:lnTo>
                  <a:pt x="1074663" y="0"/>
                </a:lnTo>
                <a:lnTo>
                  <a:pt x="0" y="0"/>
                </a:lnTo>
                <a:close/>
              </a:path>
              <a:path w="2374900" h="269239">
                <a:moveTo>
                  <a:pt x="1299946" y="0"/>
                </a:moveTo>
                <a:lnTo>
                  <a:pt x="1299946" y="268665"/>
                </a:lnTo>
                <a:lnTo>
                  <a:pt x="2374610" y="268665"/>
                </a:lnTo>
                <a:lnTo>
                  <a:pt x="2374610" y="0"/>
                </a:lnTo>
                <a:lnTo>
                  <a:pt x="1299946" y="0"/>
                </a:lnTo>
                <a:close/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94892" y="3423234"/>
            <a:ext cx="1075055" cy="269240"/>
          </a:xfrm>
          <a:custGeom>
            <a:avLst/>
            <a:gdLst/>
            <a:ahLst/>
            <a:cxnLst/>
            <a:rect l="l" t="t" r="r" b="b"/>
            <a:pathLst>
              <a:path w="1075054" h="269239">
                <a:moveTo>
                  <a:pt x="0" y="0"/>
                </a:moveTo>
                <a:lnTo>
                  <a:pt x="0" y="268665"/>
                </a:lnTo>
                <a:lnTo>
                  <a:pt x="1074663" y="268665"/>
                </a:lnTo>
                <a:lnTo>
                  <a:pt x="1074663" y="0"/>
                </a:lnTo>
                <a:lnTo>
                  <a:pt x="0" y="0"/>
                </a:lnTo>
                <a:close/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2774" y="2583649"/>
            <a:ext cx="143319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3429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10:00:00.0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8304" y="2583649"/>
            <a:ext cx="143319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latin typeface="Arial MT"/>
                <a:cs typeface="Arial MT"/>
              </a:rPr>
              <a:t>10:00:00.5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0551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8767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0497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8714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074847" y="3417637"/>
          <a:ext cx="1074419" cy="26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8676656" y="3417637"/>
          <a:ext cx="1074419" cy="26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6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394892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53108" y="3423234"/>
            <a:ext cx="358775" cy="269240"/>
          </a:xfrm>
          <a:prstGeom prst="rect">
            <a:avLst/>
          </a:prstGeom>
          <a:ln w="1119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55"/>
              </a:spcBef>
            </a:pPr>
            <a:r>
              <a:rPr sz="1400" spc="5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82682" y="2373722"/>
            <a:ext cx="431800" cy="348615"/>
            <a:chOff x="3482682" y="2373722"/>
            <a:chExt cx="431800" cy="348615"/>
          </a:xfrm>
        </p:grpSpPr>
        <p:sp>
          <p:nvSpPr>
            <p:cNvPr id="18" name="object 18"/>
            <p:cNvSpPr/>
            <p:nvPr/>
          </p:nvSpPr>
          <p:spPr>
            <a:xfrm>
              <a:off x="3519373" y="2379319"/>
              <a:ext cx="389890" cy="311150"/>
            </a:xfrm>
            <a:custGeom>
              <a:avLst/>
              <a:gdLst/>
              <a:ahLst/>
              <a:cxnLst/>
              <a:rect l="l" t="t" r="r" b="b"/>
              <a:pathLst>
                <a:path w="389889" h="311150">
                  <a:moveTo>
                    <a:pt x="0" y="310959"/>
                  </a:moveTo>
                  <a:lnTo>
                    <a:pt x="389305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82682" y="2625724"/>
              <a:ext cx="109855" cy="96520"/>
            </a:xfrm>
            <a:custGeom>
              <a:avLst/>
              <a:gdLst/>
              <a:ahLst/>
              <a:cxnLst/>
              <a:rect l="l" t="t" r="r" b="b"/>
              <a:pathLst>
                <a:path w="109854" h="96519">
                  <a:moveTo>
                    <a:pt x="109550" y="48323"/>
                  </a:moveTo>
                  <a:lnTo>
                    <a:pt x="70942" y="0"/>
                  </a:lnTo>
                  <a:lnTo>
                    <a:pt x="0" y="96113"/>
                  </a:lnTo>
                  <a:lnTo>
                    <a:pt x="109550" y="48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19093" y="2654172"/>
              <a:ext cx="48895" cy="38735"/>
            </a:xfrm>
            <a:custGeom>
              <a:avLst/>
              <a:gdLst/>
              <a:ahLst/>
              <a:cxnLst/>
              <a:rect l="l" t="t" r="r" b="b"/>
              <a:pathLst>
                <a:path w="48895" h="38735">
                  <a:moveTo>
                    <a:pt x="48298" y="0"/>
                  </a:moveTo>
                  <a:lnTo>
                    <a:pt x="0" y="38582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346210" y="3512502"/>
            <a:ext cx="2723515" cy="1118235"/>
            <a:chOff x="2346210" y="3512502"/>
            <a:chExt cx="2723515" cy="1118235"/>
          </a:xfrm>
        </p:grpSpPr>
        <p:sp>
          <p:nvSpPr>
            <p:cNvPr id="22" name="object 22"/>
            <p:cNvSpPr/>
            <p:nvPr/>
          </p:nvSpPr>
          <p:spPr>
            <a:xfrm>
              <a:off x="3344379" y="3549281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365328" y="0"/>
                  </a:moveTo>
                  <a:lnTo>
                    <a:pt x="0" y="0"/>
                  </a:lnTo>
                </a:path>
              </a:pathLst>
            </a:custGeom>
            <a:ln w="22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90633" y="3731691"/>
              <a:ext cx="389890" cy="311150"/>
            </a:xfrm>
            <a:custGeom>
              <a:avLst/>
              <a:gdLst/>
              <a:ahLst/>
              <a:cxnLst/>
              <a:rect l="l" t="t" r="r" b="b"/>
              <a:pathLst>
                <a:path w="389889" h="311150">
                  <a:moveTo>
                    <a:pt x="0" y="0"/>
                  </a:moveTo>
                  <a:lnTo>
                    <a:pt x="389318" y="310959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3942" y="3700132"/>
              <a:ext cx="109855" cy="96520"/>
            </a:xfrm>
            <a:custGeom>
              <a:avLst/>
              <a:gdLst/>
              <a:ahLst/>
              <a:cxnLst/>
              <a:rect l="l" t="t" r="r" b="b"/>
              <a:pathLst>
                <a:path w="109854" h="96520">
                  <a:moveTo>
                    <a:pt x="109550" y="47790"/>
                  </a:moveTo>
                  <a:lnTo>
                    <a:pt x="0" y="0"/>
                  </a:lnTo>
                  <a:lnTo>
                    <a:pt x="70954" y="96113"/>
                  </a:lnTo>
                  <a:lnTo>
                    <a:pt x="109550" y="47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90353" y="3729215"/>
              <a:ext cx="48895" cy="38735"/>
            </a:xfrm>
            <a:custGeom>
              <a:avLst/>
              <a:gdLst/>
              <a:ahLst/>
              <a:cxnLst/>
              <a:rect l="l" t="t" r="r" b="b"/>
              <a:pathLst>
                <a:path w="48895" h="38735">
                  <a:moveTo>
                    <a:pt x="48310" y="38582"/>
                  </a:moveTo>
                  <a:lnTo>
                    <a:pt x="0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2208" y="3731691"/>
              <a:ext cx="725805" cy="593090"/>
            </a:xfrm>
            <a:custGeom>
              <a:avLst/>
              <a:gdLst/>
              <a:ahLst/>
              <a:cxnLst/>
              <a:rect l="l" t="t" r="r" b="b"/>
              <a:pathLst>
                <a:path w="725804" h="593089">
                  <a:moveTo>
                    <a:pt x="0" y="0"/>
                  </a:moveTo>
                  <a:lnTo>
                    <a:pt x="725703" y="592683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05518" y="3700132"/>
              <a:ext cx="109855" cy="96520"/>
            </a:xfrm>
            <a:custGeom>
              <a:avLst/>
              <a:gdLst/>
              <a:ahLst/>
              <a:cxnLst/>
              <a:rect l="l" t="t" r="r" b="b"/>
              <a:pathLst>
                <a:path w="109855" h="96520">
                  <a:moveTo>
                    <a:pt x="109550" y="47790"/>
                  </a:moveTo>
                  <a:lnTo>
                    <a:pt x="0" y="0"/>
                  </a:lnTo>
                  <a:lnTo>
                    <a:pt x="70942" y="96113"/>
                  </a:lnTo>
                  <a:lnTo>
                    <a:pt x="109550" y="47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1929" y="3729215"/>
              <a:ext cx="48895" cy="38735"/>
            </a:xfrm>
            <a:custGeom>
              <a:avLst/>
              <a:gdLst/>
              <a:ahLst/>
              <a:cxnLst/>
              <a:rect l="l" t="t" r="r" b="b"/>
              <a:pathLst>
                <a:path w="48894" h="38735">
                  <a:moveTo>
                    <a:pt x="48310" y="38582"/>
                  </a:moveTo>
                  <a:lnTo>
                    <a:pt x="0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83992" y="3731691"/>
              <a:ext cx="1110615" cy="893444"/>
            </a:xfrm>
            <a:custGeom>
              <a:avLst/>
              <a:gdLst/>
              <a:ahLst/>
              <a:cxnLst/>
              <a:rect l="l" t="t" r="r" b="b"/>
              <a:pathLst>
                <a:path w="1110614" h="893445">
                  <a:moveTo>
                    <a:pt x="0" y="0"/>
                  </a:moveTo>
                  <a:lnTo>
                    <a:pt x="1110030" y="893076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7302" y="3700132"/>
              <a:ext cx="109855" cy="96520"/>
            </a:xfrm>
            <a:custGeom>
              <a:avLst/>
              <a:gdLst/>
              <a:ahLst/>
              <a:cxnLst/>
              <a:rect l="l" t="t" r="r" b="b"/>
              <a:pathLst>
                <a:path w="109855" h="96520">
                  <a:moveTo>
                    <a:pt x="109550" y="47790"/>
                  </a:moveTo>
                  <a:lnTo>
                    <a:pt x="0" y="0"/>
                  </a:lnTo>
                  <a:lnTo>
                    <a:pt x="70942" y="96113"/>
                  </a:lnTo>
                  <a:lnTo>
                    <a:pt x="109550" y="47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83700" y="3729215"/>
              <a:ext cx="48895" cy="38735"/>
            </a:xfrm>
            <a:custGeom>
              <a:avLst/>
              <a:gdLst/>
              <a:ahLst/>
              <a:cxnLst/>
              <a:rect l="l" t="t" r="r" b="b"/>
              <a:pathLst>
                <a:path w="48894" h="38735">
                  <a:moveTo>
                    <a:pt x="48310" y="38582"/>
                  </a:moveTo>
                  <a:lnTo>
                    <a:pt x="0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46169" y="3518103"/>
              <a:ext cx="115570" cy="62230"/>
            </a:xfrm>
            <a:custGeom>
              <a:avLst/>
              <a:gdLst/>
              <a:ahLst/>
              <a:cxnLst/>
              <a:rect l="l" t="t" r="r" b="b"/>
              <a:pathLst>
                <a:path w="115570" h="62229">
                  <a:moveTo>
                    <a:pt x="115417" y="30810"/>
                  </a:moveTo>
                  <a:lnTo>
                    <a:pt x="0" y="0"/>
                  </a:lnTo>
                  <a:lnTo>
                    <a:pt x="0" y="61849"/>
                  </a:lnTo>
                  <a:lnTo>
                    <a:pt x="115417" y="3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53167" y="3548913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1823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52264" y="3549281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365315" y="0"/>
                  </a:moveTo>
                  <a:lnTo>
                    <a:pt x="0" y="0"/>
                  </a:lnTo>
                </a:path>
              </a:pathLst>
            </a:custGeom>
            <a:ln w="22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54041" y="3518103"/>
              <a:ext cx="115570" cy="62230"/>
            </a:xfrm>
            <a:custGeom>
              <a:avLst/>
              <a:gdLst/>
              <a:ahLst/>
              <a:cxnLst/>
              <a:rect l="l" t="t" r="r" b="b"/>
              <a:pathLst>
                <a:path w="115570" h="62229">
                  <a:moveTo>
                    <a:pt x="115417" y="30810"/>
                  </a:moveTo>
                  <a:lnTo>
                    <a:pt x="0" y="0"/>
                  </a:lnTo>
                  <a:lnTo>
                    <a:pt x="0" y="61849"/>
                  </a:lnTo>
                  <a:lnTo>
                    <a:pt x="115417" y="3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61039" y="3548913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1823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46210" y="3512502"/>
              <a:ext cx="115570" cy="62230"/>
            </a:xfrm>
            <a:custGeom>
              <a:avLst/>
              <a:gdLst/>
              <a:ahLst/>
              <a:cxnLst/>
              <a:rect l="l" t="t" r="r" b="b"/>
              <a:pathLst>
                <a:path w="115569" h="62229">
                  <a:moveTo>
                    <a:pt x="115430" y="30822"/>
                  </a:moveTo>
                  <a:lnTo>
                    <a:pt x="0" y="0"/>
                  </a:lnTo>
                  <a:lnTo>
                    <a:pt x="0" y="61849"/>
                  </a:lnTo>
                  <a:lnTo>
                    <a:pt x="115430" y="30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1856155" y="2751569"/>
            <a:ext cx="557530" cy="792480"/>
          </a:xfrm>
          <a:custGeom>
            <a:avLst/>
            <a:gdLst/>
            <a:ahLst/>
            <a:cxnLst/>
            <a:rect l="l" t="t" r="r" b="b"/>
            <a:pathLst>
              <a:path w="557530" h="792479">
                <a:moveTo>
                  <a:pt x="0" y="0"/>
                </a:moveTo>
                <a:lnTo>
                  <a:pt x="0" y="428180"/>
                </a:lnTo>
                <a:lnTo>
                  <a:pt x="3324" y="477588"/>
                </a:lnTo>
                <a:lnTo>
                  <a:pt x="13007" y="524976"/>
                </a:lnTo>
                <a:lnTo>
                  <a:pt x="28615" y="569910"/>
                </a:lnTo>
                <a:lnTo>
                  <a:pt x="49714" y="611956"/>
                </a:lnTo>
                <a:lnTo>
                  <a:pt x="75871" y="650681"/>
                </a:lnTo>
                <a:lnTo>
                  <a:pt x="106651" y="685650"/>
                </a:lnTo>
                <a:lnTo>
                  <a:pt x="141620" y="716430"/>
                </a:lnTo>
                <a:lnTo>
                  <a:pt x="180345" y="742587"/>
                </a:lnTo>
                <a:lnTo>
                  <a:pt x="222392" y="763686"/>
                </a:lnTo>
                <a:lnTo>
                  <a:pt x="267326" y="779294"/>
                </a:lnTo>
                <a:lnTo>
                  <a:pt x="314714" y="788978"/>
                </a:lnTo>
                <a:lnTo>
                  <a:pt x="364121" y="792302"/>
                </a:lnTo>
                <a:lnTo>
                  <a:pt x="557225" y="792302"/>
                </a:lnTo>
              </a:path>
            </a:pathLst>
          </a:custGeom>
          <a:ln w="22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7259625" y="3512502"/>
            <a:ext cx="1405255" cy="67945"/>
            <a:chOff x="7259625" y="3512502"/>
            <a:chExt cx="1405255" cy="67945"/>
          </a:xfrm>
        </p:grpSpPr>
        <p:sp>
          <p:nvSpPr>
            <p:cNvPr id="40" name="object 40"/>
            <p:cNvSpPr/>
            <p:nvPr/>
          </p:nvSpPr>
          <p:spPr>
            <a:xfrm>
              <a:off x="8259661" y="3549281"/>
              <a:ext cx="353060" cy="0"/>
            </a:xfrm>
            <a:custGeom>
              <a:avLst/>
              <a:gdLst/>
              <a:ahLst/>
              <a:cxnLst/>
              <a:rect l="l" t="t" r="r" b="b"/>
              <a:pathLst>
                <a:path w="353059">
                  <a:moveTo>
                    <a:pt x="352742" y="0"/>
                  </a:moveTo>
                  <a:lnTo>
                    <a:pt x="0" y="0"/>
                  </a:lnTo>
                </a:path>
              </a:pathLst>
            </a:custGeom>
            <a:ln w="223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48852" y="3518103"/>
              <a:ext cx="115570" cy="62230"/>
            </a:xfrm>
            <a:custGeom>
              <a:avLst/>
              <a:gdLst/>
              <a:ahLst/>
              <a:cxnLst/>
              <a:rect l="l" t="t" r="r" b="b"/>
              <a:pathLst>
                <a:path w="115570" h="62229">
                  <a:moveTo>
                    <a:pt x="115417" y="30810"/>
                  </a:moveTo>
                  <a:lnTo>
                    <a:pt x="0" y="0"/>
                  </a:lnTo>
                  <a:lnTo>
                    <a:pt x="0" y="61849"/>
                  </a:lnTo>
                  <a:lnTo>
                    <a:pt x="115417" y="308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55850" y="3548913"/>
              <a:ext cx="62230" cy="0"/>
            </a:xfrm>
            <a:custGeom>
              <a:avLst/>
              <a:gdLst/>
              <a:ahLst/>
              <a:cxnLst/>
              <a:rect l="l" t="t" r="r" b="b"/>
              <a:pathLst>
                <a:path w="62229">
                  <a:moveTo>
                    <a:pt x="0" y="0"/>
                  </a:moveTo>
                  <a:lnTo>
                    <a:pt x="61823" y="0"/>
                  </a:lnTo>
                </a:path>
              </a:pathLst>
            </a:custGeom>
            <a:ln w="111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59625" y="3512502"/>
              <a:ext cx="115570" cy="62230"/>
            </a:xfrm>
            <a:custGeom>
              <a:avLst/>
              <a:gdLst/>
              <a:ahLst/>
              <a:cxnLst/>
              <a:rect l="l" t="t" r="r" b="b"/>
              <a:pathLst>
                <a:path w="115570" h="62229">
                  <a:moveTo>
                    <a:pt x="115417" y="30822"/>
                  </a:moveTo>
                  <a:lnTo>
                    <a:pt x="0" y="0"/>
                  </a:lnTo>
                  <a:lnTo>
                    <a:pt x="0" y="61849"/>
                  </a:lnTo>
                  <a:lnTo>
                    <a:pt x="115417" y="308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6769569" y="2751569"/>
            <a:ext cx="557530" cy="792480"/>
          </a:xfrm>
          <a:custGeom>
            <a:avLst/>
            <a:gdLst/>
            <a:ahLst/>
            <a:cxnLst/>
            <a:rect l="l" t="t" r="r" b="b"/>
            <a:pathLst>
              <a:path w="557529" h="792479">
                <a:moveTo>
                  <a:pt x="0" y="0"/>
                </a:moveTo>
                <a:lnTo>
                  <a:pt x="0" y="428180"/>
                </a:lnTo>
                <a:lnTo>
                  <a:pt x="3324" y="477588"/>
                </a:lnTo>
                <a:lnTo>
                  <a:pt x="13007" y="524976"/>
                </a:lnTo>
                <a:lnTo>
                  <a:pt x="28615" y="569910"/>
                </a:lnTo>
                <a:lnTo>
                  <a:pt x="49714" y="611956"/>
                </a:lnTo>
                <a:lnTo>
                  <a:pt x="75871" y="650681"/>
                </a:lnTo>
                <a:lnTo>
                  <a:pt x="106651" y="685650"/>
                </a:lnTo>
                <a:lnTo>
                  <a:pt x="141620" y="716430"/>
                </a:lnTo>
                <a:lnTo>
                  <a:pt x="180345" y="742587"/>
                </a:lnTo>
                <a:lnTo>
                  <a:pt x="222392" y="763686"/>
                </a:lnTo>
                <a:lnTo>
                  <a:pt x="267326" y="779294"/>
                </a:lnTo>
                <a:lnTo>
                  <a:pt x="314714" y="788978"/>
                </a:lnTo>
                <a:lnTo>
                  <a:pt x="364121" y="792302"/>
                </a:lnTo>
                <a:lnTo>
                  <a:pt x="557225" y="792302"/>
                </a:lnTo>
              </a:path>
            </a:pathLst>
          </a:custGeom>
          <a:ln w="223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96889" y="3421837"/>
            <a:ext cx="356870" cy="267335"/>
          </a:xfrm>
          <a:custGeom>
            <a:avLst/>
            <a:gdLst/>
            <a:ahLst/>
            <a:cxnLst/>
            <a:rect l="l" t="t" r="r" b="b"/>
            <a:pathLst>
              <a:path w="356870" h="267335">
                <a:moveTo>
                  <a:pt x="0" y="267258"/>
                </a:moveTo>
                <a:lnTo>
                  <a:pt x="356819" y="0"/>
                </a:lnTo>
              </a:path>
              <a:path w="356870" h="267335">
                <a:moveTo>
                  <a:pt x="356819" y="267258"/>
                </a:moveTo>
                <a:lnTo>
                  <a:pt x="0" y="0"/>
                </a:lnTo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405684" y="3421837"/>
            <a:ext cx="356870" cy="267335"/>
          </a:xfrm>
          <a:custGeom>
            <a:avLst/>
            <a:gdLst/>
            <a:ahLst/>
            <a:cxnLst/>
            <a:rect l="l" t="t" r="r" b="b"/>
            <a:pathLst>
              <a:path w="356870" h="267335">
                <a:moveTo>
                  <a:pt x="0" y="267258"/>
                </a:moveTo>
                <a:lnTo>
                  <a:pt x="356819" y="0"/>
                </a:lnTo>
              </a:path>
              <a:path w="356870" h="267335">
                <a:moveTo>
                  <a:pt x="356819" y="267258"/>
                </a:moveTo>
                <a:lnTo>
                  <a:pt x="0" y="0"/>
                </a:lnTo>
              </a:path>
            </a:pathLst>
          </a:custGeom>
          <a:ln w="11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923119" y="2089592"/>
            <a:ext cx="393700" cy="453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400" spc="-5" dirty="0">
                <a:latin typeface="Arial MT"/>
                <a:cs typeface="Arial MT"/>
              </a:rPr>
              <a:t>Real  </a:t>
            </a:r>
            <a:r>
              <a:rPr sz="1400" dirty="0">
                <a:latin typeface="Arial MT"/>
                <a:cs typeface="Arial MT"/>
              </a:rPr>
              <a:t>time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91345" y="3888534"/>
            <a:ext cx="1866264" cy="1165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 marR="5080">
              <a:lnSpc>
                <a:spcPct val="125899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Pointer to next timeout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5" dirty="0">
                <a:latin typeface="Arial MT"/>
                <a:cs typeface="Arial MT"/>
              </a:rPr>
              <a:t>Frame </a:t>
            </a:r>
            <a:r>
              <a:rPr sz="1400" dirty="0">
                <a:latin typeface="Arial MT"/>
                <a:cs typeface="Arial MT"/>
              </a:rPr>
              <a:t>being </a:t>
            </a:r>
            <a:r>
              <a:rPr sz="1400" spc="5" dirty="0">
                <a:latin typeface="Arial MT"/>
                <a:cs typeface="Arial MT"/>
              </a:rPr>
              <a:t>timed 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Ticks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go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dirty="0">
                <a:latin typeface="Arial MT"/>
                <a:cs typeface="Arial MT"/>
              </a:rPr>
              <a:t>(a)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56417" y="4813567"/>
            <a:ext cx="24447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Arial MT"/>
                <a:cs typeface="Arial MT"/>
              </a:rPr>
              <a:t>(b)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6288" y="338729"/>
            <a:ext cx="634682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Problem</a:t>
            </a:r>
            <a:r>
              <a:rPr spc="-25" dirty="0"/>
              <a:t> </a:t>
            </a:r>
            <a:r>
              <a:rPr spc="-45" dirty="0"/>
              <a:t>for</a:t>
            </a:r>
            <a:r>
              <a:rPr spc="-5" dirty="0"/>
              <a:t> </a:t>
            </a:r>
            <a:r>
              <a:rPr spc="-15" dirty="0"/>
              <a:t>Selective</a:t>
            </a:r>
            <a:r>
              <a:rPr spc="-20" dirty="0"/>
              <a:t> </a:t>
            </a:r>
            <a:r>
              <a:rPr spc="-5" dirty="0"/>
              <a:t>Repeat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5" dirty="0"/>
              <a:t>Chapter</a:t>
            </a:r>
            <a:r>
              <a:rPr spc="10" dirty="0"/>
              <a:t> </a:t>
            </a:r>
            <a:r>
              <a:rPr spc="15" dirty="0"/>
              <a:t>3</a:t>
            </a:r>
            <a:r>
              <a:rPr spc="-15" dirty="0"/>
              <a:t> </a:t>
            </a:r>
            <a:r>
              <a:rPr spc="15" dirty="0"/>
              <a:t>–</a:t>
            </a:r>
            <a:r>
              <a:rPr spc="-10" dirty="0"/>
              <a:t> </a:t>
            </a:r>
            <a:r>
              <a:rPr spc="10" dirty="0"/>
              <a:t>p.</a:t>
            </a:r>
            <a:fld id="{81D60167-4931-47E6-BA6A-407CBD079E47}" type="slidenum">
              <a:rPr spc="10" dirty="0"/>
              <a:t>49</a:t>
            </a:fld>
            <a:r>
              <a:rPr spc="10" dirty="0"/>
              <a:t>/69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92072" y="1908830"/>
            <a:ext cx="7939405" cy="83629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-635">
              <a:lnSpc>
                <a:spcPts val="3170"/>
              </a:lnSpc>
              <a:spcBef>
                <a:spcPts val="240"/>
              </a:spcBef>
            </a:pP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Do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not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allow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sender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to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overlap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sequence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numbers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in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consecutive</a:t>
            </a:r>
            <a:r>
              <a:rPr sz="2650" spc="-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windows</a:t>
            </a:r>
            <a:endParaRPr sz="2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0481" y="2882917"/>
            <a:ext cx="56959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 MT"/>
                <a:cs typeface="Arial MT"/>
              </a:rPr>
              <a:t>Sender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0481" y="4049596"/>
            <a:ext cx="6908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5" dirty="0">
                <a:latin typeface="Arial MT"/>
                <a:cs typeface="Arial MT"/>
              </a:rPr>
              <a:t>Receiver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89224" y="2795524"/>
            <a:ext cx="136334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81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6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93890" y="288291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87354" y="2795524"/>
            <a:ext cx="136334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81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6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1588" y="2882917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80226" y="2795524"/>
            <a:ext cx="80708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81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5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1721" y="2882917"/>
            <a:ext cx="6819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4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2991" y="2795524"/>
            <a:ext cx="80708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815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5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24059" y="2882917"/>
            <a:ext cx="68199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4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89224" y="3965016"/>
            <a:ext cx="136334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90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6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93889" y="404959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7354" y="3965016"/>
            <a:ext cx="1181100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790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5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5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6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4158" y="4049590"/>
            <a:ext cx="119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 MT"/>
                <a:cs typeface="Arial MT"/>
              </a:rPr>
              <a:t>6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51321" y="3965016"/>
            <a:ext cx="20383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790"/>
              </a:spcBef>
            </a:pP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0226" y="3965016"/>
            <a:ext cx="807085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790"/>
              </a:spcBef>
            </a:pPr>
            <a:r>
              <a:rPr sz="1300" spc="15" dirty="0">
                <a:latin typeface="Arial MT"/>
                <a:cs typeface="Arial MT"/>
              </a:rPr>
              <a:t>0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5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21720" y="4049590"/>
            <a:ext cx="153416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64869" algn="l"/>
              </a:tabLst>
            </a:pP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7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7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r>
              <a:rPr sz="1300" spc="37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7	0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1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2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98217" y="3965016"/>
            <a:ext cx="730250" cy="421640"/>
          </a:xfrm>
          <a:prstGeom prst="rect">
            <a:avLst/>
          </a:prstGeom>
          <a:ln w="1053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1300" spc="15" dirty="0">
                <a:latin typeface="Arial MT"/>
                <a:cs typeface="Arial MT"/>
              </a:rPr>
              <a:t>4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5</a:t>
            </a:r>
            <a:r>
              <a:rPr sz="1300" spc="345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6</a:t>
            </a:r>
            <a:r>
              <a:rPr sz="1300" spc="350" dirty="0">
                <a:latin typeface="Arial MT"/>
                <a:cs typeface="Arial MT"/>
              </a:rPr>
              <a:t> </a:t>
            </a:r>
            <a:r>
              <a:rPr sz="1300" spc="15" dirty="0">
                <a:latin typeface="Arial MT"/>
                <a:cs typeface="Arial MT"/>
              </a:rPr>
              <a:t>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92066" y="4507687"/>
            <a:ext cx="8093075" cy="2085339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839595">
              <a:lnSpc>
                <a:spcPct val="100000"/>
              </a:lnSpc>
              <a:spcBef>
                <a:spcPts val="760"/>
              </a:spcBef>
              <a:tabLst>
                <a:tab pos="3665220" algn="l"/>
                <a:tab pos="5341620" algn="l"/>
                <a:tab pos="7051040" algn="l"/>
              </a:tabLst>
            </a:pPr>
            <a:r>
              <a:rPr sz="1300" spc="10" dirty="0">
                <a:latin typeface="Arial MT"/>
                <a:cs typeface="Arial MT"/>
              </a:rPr>
              <a:t>(a)	(b)	(c)	(d)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 MT"/>
              <a:cs typeface="Arial MT"/>
            </a:endParaRPr>
          </a:p>
          <a:p>
            <a:pPr marL="12700" marR="41275">
              <a:lnSpc>
                <a:spcPts val="3170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(a)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initial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situation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window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size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is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7;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(b) 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7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frames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sent, </a:t>
            </a:r>
            <a:r>
              <a:rPr sz="2650" spc="-72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received,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but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not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acknowledged;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ts val="3055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(c)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initial</a:t>
            </a:r>
            <a:r>
              <a:rPr sz="2650" spc="-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situation,</a:t>
            </a:r>
            <a:r>
              <a:rPr sz="2650" spc="-3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widow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size</a:t>
            </a:r>
            <a:r>
              <a:rPr sz="2650" spc="-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is</a:t>
            </a:r>
            <a:r>
              <a:rPr sz="2650" spc="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4;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(d)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all</a:t>
            </a:r>
            <a:r>
              <a:rPr sz="2650" spc="2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frames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10" dirty="0">
                <a:solidFill>
                  <a:srgbClr val="9B0707"/>
                </a:solidFill>
                <a:latin typeface="Arial MT"/>
                <a:cs typeface="Arial MT"/>
              </a:rPr>
              <a:t>sent,</a:t>
            </a:r>
            <a:endParaRPr sz="2650">
              <a:latin typeface="Arial MT"/>
              <a:cs typeface="Arial MT"/>
            </a:endParaRPr>
          </a:p>
          <a:p>
            <a:pPr marL="12700">
              <a:lnSpc>
                <a:spcPts val="3175"/>
              </a:lnSpc>
            </a:pP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received,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-10" dirty="0">
                <a:solidFill>
                  <a:srgbClr val="9B0707"/>
                </a:solidFill>
                <a:latin typeface="Arial MT"/>
                <a:cs typeface="Arial MT"/>
              </a:rPr>
              <a:t>but</a:t>
            </a:r>
            <a:r>
              <a:rPr sz="2650" spc="-1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spc="5" dirty="0">
                <a:solidFill>
                  <a:srgbClr val="9B0707"/>
                </a:solidFill>
                <a:latin typeface="Arial MT"/>
                <a:cs typeface="Arial MT"/>
              </a:rPr>
              <a:t>not</a:t>
            </a:r>
            <a:r>
              <a:rPr sz="2650" spc="-5" dirty="0">
                <a:solidFill>
                  <a:srgbClr val="9B0707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9B0707"/>
                </a:solidFill>
                <a:latin typeface="Arial MT"/>
                <a:cs typeface="Arial MT"/>
              </a:rPr>
              <a:t>acknowledged</a:t>
            </a:r>
            <a:endParaRPr sz="26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2603</TotalTime>
  <Words>4220</Words>
  <Application>Microsoft Office PowerPoint</Application>
  <PresentationFormat>Custom</PresentationFormat>
  <Paragraphs>897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MT</vt:lpstr>
      <vt:lpstr>Calibri</vt:lpstr>
      <vt:lpstr>Cambria Math</vt:lpstr>
      <vt:lpstr>Symbol</vt:lpstr>
      <vt:lpstr>Times New Roman</vt:lpstr>
      <vt:lpstr>Times-Bold</vt:lpstr>
      <vt:lpstr>Times-Roman</vt:lpstr>
      <vt:lpstr>Wingdings</vt:lpstr>
      <vt:lpstr>Office Theme</vt:lpstr>
      <vt:lpstr>Chapter 3: The Data Link Layer</vt:lpstr>
      <vt:lpstr>Data Link Layer</vt:lpstr>
      <vt:lpstr>Design Issues</vt:lpstr>
      <vt:lpstr>Terminology: Packets and Frames</vt:lpstr>
      <vt:lpstr>Layered Communication</vt:lpstr>
      <vt:lpstr>Kinds of Services</vt:lpstr>
      <vt:lpstr>The Data Link Layer in</vt:lpstr>
      <vt:lpstr>Framing (1 of 3)</vt:lpstr>
      <vt:lpstr>Framing (2 of 3)</vt:lpstr>
      <vt:lpstr>Framing (Byte Stuffing)</vt:lpstr>
      <vt:lpstr>Framing (3 of 3)</vt:lpstr>
      <vt:lpstr>Error Control</vt:lpstr>
      <vt:lpstr>Flow Control</vt:lpstr>
      <vt:lpstr>Data Link Layer</vt:lpstr>
      <vt:lpstr>3.2 Error Detection and Correction</vt:lpstr>
      <vt:lpstr>3.2 Error Detection and Correction</vt:lpstr>
      <vt:lpstr>3.2 Error Detection and Correction</vt:lpstr>
      <vt:lpstr>3.2 Error Detection and Correction</vt:lpstr>
      <vt:lpstr>PowerPoint Presentation</vt:lpstr>
      <vt:lpstr>Cyclic redundancy check (CRC) </vt:lpstr>
      <vt:lpstr>PowerPoint Presentation</vt:lpstr>
      <vt:lpstr>Hamming Codes, 1950</vt:lpstr>
      <vt:lpstr>Hamming Codes Definitions</vt:lpstr>
      <vt:lpstr>Hamming Codes</vt:lpstr>
      <vt:lpstr>Hamming Codes</vt:lpstr>
      <vt:lpstr>Hamming Codes (5 of 8)</vt:lpstr>
      <vt:lpstr>Hamming Codes</vt:lpstr>
      <vt:lpstr>PowerPoint Presentation</vt:lpstr>
      <vt:lpstr>PowerPoint Presentation</vt:lpstr>
      <vt:lpstr>3.3 Elementary Protocols</vt:lpstr>
      <vt:lpstr>Utopia</vt:lpstr>
      <vt:lpstr>Stop-and-Wait</vt:lpstr>
      <vt:lpstr>Stop-and-Wait</vt:lpstr>
      <vt:lpstr>Stop-and-Wait Noisy Channel</vt:lpstr>
      <vt:lpstr>Positive Acknowledgement  with Retransmission</vt:lpstr>
      <vt:lpstr>**3.4 Sliding Window Protocols</vt:lpstr>
      <vt:lpstr>Piggybacking</vt:lpstr>
      <vt:lpstr>Piggybacking</vt:lpstr>
      <vt:lpstr>Sliding Window of Size 1</vt:lpstr>
      <vt:lpstr>One-Bit Sliding Window  Initialization</vt:lpstr>
      <vt:lpstr>One-Bit Sliding Window  Main Loop</vt:lpstr>
      <vt:lpstr>One-Bit Sliding Window  Normal Case</vt:lpstr>
      <vt:lpstr>One-Bit Sliding Window  Degenerate Case</vt:lpstr>
      <vt:lpstr>Pipelining</vt:lpstr>
      <vt:lpstr>Receiver Window Size is One</vt:lpstr>
      <vt:lpstr>Receiver’s Window is Large</vt:lpstr>
      <vt:lpstr>Go Back n  Off by one</vt:lpstr>
      <vt:lpstr>Managing Multiple Timers</vt:lpstr>
      <vt:lpstr>Problem for Selective Repeat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The Data Link Layer</dc:title>
  <dc:creator>Dell</dc:creator>
  <cp:lastModifiedBy>Tasmia Jannat</cp:lastModifiedBy>
  <cp:revision>45</cp:revision>
  <dcterms:created xsi:type="dcterms:W3CDTF">2022-12-05T18:07:54Z</dcterms:created>
  <dcterms:modified xsi:type="dcterms:W3CDTF">2023-03-27T14:41:28Z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LaTeX with hyperref package</vt:lpwstr>
  </property>
</Properties>
</file>